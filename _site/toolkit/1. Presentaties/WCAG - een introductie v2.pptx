
<file path=[Content_Types].xml><?xml version="1.0" encoding="utf-8"?>
<Types xmlns="http://schemas.openxmlformats.org/package/2006/content-types">
  <Default Extension="fntdata" ContentType="application/x-fontdata"/>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45"/>
  </p:notesMasterIdLst>
  <p:sldIdLst>
    <p:sldId id="364" r:id="rId5"/>
    <p:sldId id="257" r:id="rId6"/>
    <p:sldId id="361" r:id="rId7"/>
    <p:sldId id="282" r:id="rId8"/>
    <p:sldId id="312" r:id="rId9"/>
    <p:sldId id="315" r:id="rId10"/>
    <p:sldId id="316" r:id="rId11"/>
    <p:sldId id="317" r:id="rId12"/>
    <p:sldId id="323" r:id="rId13"/>
    <p:sldId id="324" r:id="rId14"/>
    <p:sldId id="325" r:id="rId15"/>
    <p:sldId id="367" r:id="rId16"/>
    <p:sldId id="328" r:id="rId17"/>
    <p:sldId id="329" r:id="rId18"/>
    <p:sldId id="330" r:id="rId19"/>
    <p:sldId id="355" r:id="rId20"/>
    <p:sldId id="356" r:id="rId21"/>
    <p:sldId id="334" r:id="rId22"/>
    <p:sldId id="363" r:id="rId23"/>
    <p:sldId id="362" r:id="rId24"/>
    <p:sldId id="336" r:id="rId25"/>
    <p:sldId id="337" r:id="rId26"/>
    <p:sldId id="338" r:id="rId27"/>
    <p:sldId id="339" r:id="rId28"/>
    <p:sldId id="340" r:id="rId29"/>
    <p:sldId id="341" r:id="rId30"/>
    <p:sldId id="342" r:id="rId31"/>
    <p:sldId id="343" r:id="rId32"/>
    <p:sldId id="344" r:id="rId33"/>
    <p:sldId id="345" r:id="rId34"/>
    <p:sldId id="368" r:id="rId35"/>
    <p:sldId id="346" r:id="rId36"/>
    <p:sldId id="347" r:id="rId37"/>
    <p:sldId id="348" r:id="rId38"/>
    <p:sldId id="369" r:id="rId39"/>
    <p:sldId id="350" r:id="rId40"/>
    <p:sldId id="351" r:id="rId41"/>
    <p:sldId id="352" r:id="rId42"/>
    <p:sldId id="353" r:id="rId43"/>
    <p:sldId id="305" r:id="rId44"/>
  </p:sldIdLst>
  <p:sldSz cx="12192000" cy="6858000"/>
  <p:notesSz cx="6797675" cy="9928225"/>
  <p:embeddedFontLst>
    <p:embeddedFont>
      <p:font typeface="Muli" panose="020B0604020202020204" charset="0"/>
      <p:regular r:id="rId46"/>
      <p:bold r:id="rId47"/>
      <p:italic r:id="rId48"/>
    </p:embeddedFont>
    <p:embeddedFont>
      <p:font typeface="Verdana" panose="020B0604030504040204" pitchFamily="34" charset="0"/>
      <p:regular r:id="rId49"/>
      <p:bold r:id="rId50"/>
      <p:italic r:id="rId51"/>
      <p:boldItalic r:id="rId5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ardsectie" id="{6D4C9405-E042-40F7-9C52-96CD69014399}">
          <p14:sldIdLst/>
        </p14:section>
        <p14:section name="Agenda" id="{AEC3A4C5-B97A-49CE-A7F6-E83381AEDE1B}">
          <p14:sldIdLst>
            <p14:sldId id="364"/>
            <p14:sldId id="257"/>
            <p14:sldId id="361"/>
          </p14:sldIdLst>
        </p14:section>
        <p14:section name="Wat is digitale toegankelijkheid?" id="{213FB0CE-DFEC-40A9-917B-46BD65BA84B1}">
          <p14:sldIdLst>
            <p14:sldId id="282"/>
          </p14:sldIdLst>
        </p14:section>
        <p14:section name="De Richtlijnen" id="{9CD31D98-5DEE-48CB-8D20-846884E9A9F9}">
          <p14:sldIdLst>
            <p14:sldId id="312"/>
            <p14:sldId id="315"/>
            <p14:sldId id="316"/>
            <p14:sldId id="317"/>
            <p14:sldId id="323"/>
            <p14:sldId id="324"/>
            <p14:sldId id="325"/>
            <p14:sldId id="367"/>
            <p14:sldId id="328"/>
          </p14:sldIdLst>
        </p14:section>
        <p14:section name="Ervaringsdeskundige" id="{2ACBFDAB-6DFC-4E66-AB02-35054597FA61}">
          <p14:sldIdLst>
            <p14:sldId id="329"/>
          </p14:sldIdLst>
        </p14:section>
        <p14:section name="Quick wins" id="{BFF65EFD-0F35-4DCA-BA98-B9359B5587BF}">
          <p14:sldIdLst>
            <p14:sldId id="330"/>
            <p14:sldId id="355"/>
            <p14:sldId id="356"/>
            <p14:sldId id="334"/>
            <p14:sldId id="363"/>
            <p14:sldId id="362"/>
            <p14:sldId id="336"/>
            <p14:sldId id="337"/>
            <p14:sldId id="338"/>
            <p14:sldId id="339"/>
            <p14:sldId id="340"/>
            <p14:sldId id="341"/>
            <p14:sldId id="342"/>
            <p14:sldId id="343"/>
            <p14:sldId id="344"/>
            <p14:sldId id="345"/>
          </p14:sldIdLst>
        </p14:section>
        <p14:section name="Tools" id="{643D741D-0245-49BF-A7D3-25A75FD87FC9}">
          <p14:sldIdLst>
            <p14:sldId id="368"/>
            <p14:sldId id="346"/>
            <p14:sldId id="347"/>
            <p14:sldId id="348"/>
          </p14:sldIdLst>
        </p14:section>
        <p14:section name="Javascript en WAI ARIA" id="{B4DB2D50-E881-41B4-ABD1-CFE92EFCD9F9}">
          <p14:sldIdLst>
            <p14:sldId id="369"/>
            <p14:sldId id="350"/>
            <p14:sldId id="351"/>
            <p14:sldId id="352"/>
            <p14:sldId id="353"/>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34CFCD-3FCE-2A93-C4DD-C838393F507F}" v="20" dt="2026-06-18T13:51:24.45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Stijl, gemiddeld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Stijl, licht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75486" autoAdjust="0"/>
  </p:normalViewPr>
  <p:slideViewPr>
    <p:cSldViewPr snapToGrid="0">
      <p:cViewPr varScale="1">
        <p:scale>
          <a:sx n="93" d="100"/>
          <a:sy n="93" d="100"/>
        </p:scale>
        <p:origin x="1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eno Hidalgo, Ana Julia" userId="86045df5-2826-4e0a-a611-ac63bd869f36" providerId="ADAL" clId="{8A9577EC-938E-40A6-8C5F-F44CA8D3340E}"/>
    <pc:docChg chg="undo custSel addSld delSld modSld sldOrd addSection delSection modSection">
      <pc:chgData name="Moreno Hidalgo, Ana Julia" userId="86045df5-2826-4e0a-a611-ac63bd869f36" providerId="ADAL" clId="{8A9577EC-938E-40A6-8C5F-F44CA8D3340E}" dt="2026-06-08T15:23:20.130" v="8018" actId="20577"/>
      <pc:docMkLst>
        <pc:docMk/>
      </pc:docMkLst>
      <pc:sldChg chg="ord">
        <pc:chgData name="Moreno Hidalgo, Ana Julia" userId="86045df5-2826-4e0a-a611-ac63bd869f36" providerId="ADAL" clId="{8A9577EC-938E-40A6-8C5F-F44CA8D3340E}" dt="2026-05-27T17:52:38.254" v="280" actId="20578"/>
        <pc:sldMkLst>
          <pc:docMk/>
          <pc:sldMk cId="957637140" sldId="282"/>
        </pc:sldMkLst>
      </pc:sldChg>
      <pc:sldChg chg="addSp modSp mod ord modNotesTx">
        <pc:chgData name="Moreno Hidalgo, Ana Julia" userId="86045df5-2826-4e0a-a611-ac63bd869f36" providerId="ADAL" clId="{8A9577EC-938E-40A6-8C5F-F44CA8D3340E}" dt="2026-06-01T15:13:57.920" v="5673" actId="13244"/>
        <pc:sldMkLst>
          <pc:docMk/>
          <pc:sldMk cId="2486788040" sldId="305"/>
        </pc:sldMkLst>
        <pc:spChg chg="add mod ord">
          <ac:chgData name="Moreno Hidalgo, Ana Julia" userId="86045df5-2826-4e0a-a611-ac63bd869f36" providerId="ADAL" clId="{8A9577EC-938E-40A6-8C5F-F44CA8D3340E}" dt="2026-06-01T15:13:57.920" v="5673" actId="13244"/>
          <ac:spMkLst>
            <pc:docMk/>
            <pc:sldMk cId="2486788040" sldId="305"/>
            <ac:spMk id="2" creationId="{F090997F-0435-37A4-BDAB-32FAC28A8BCA}"/>
          </ac:spMkLst>
        </pc:spChg>
      </pc:sldChg>
      <pc:sldChg chg="modNotesTx">
        <pc:chgData name="Moreno Hidalgo, Ana Julia" userId="86045df5-2826-4e0a-a611-ac63bd869f36" providerId="ADAL" clId="{8A9577EC-938E-40A6-8C5F-F44CA8D3340E}" dt="2026-05-27T14:30:19.117" v="279" actId="14"/>
        <pc:sldMkLst>
          <pc:docMk/>
          <pc:sldMk cId="3689361356" sldId="316"/>
        </pc:sldMkLst>
      </pc:sldChg>
      <pc:sldChg chg="modNotesTx">
        <pc:chgData name="Moreno Hidalgo, Ana Julia" userId="86045df5-2826-4e0a-a611-ac63bd869f36" providerId="ADAL" clId="{8A9577EC-938E-40A6-8C5F-F44CA8D3340E}" dt="2026-06-08T15:17:42.527" v="7997" actId="20577"/>
        <pc:sldMkLst>
          <pc:docMk/>
          <pc:sldMk cId="1956909593" sldId="317"/>
        </pc:sldMkLst>
      </pc:sldChg>
      <pc:sldChg chg="addSp modSp mod">
        <pc:chgData name="Moreno Hidalgo, Ana Julia" userId="86045df5-2826-4e0a-a611-ac63bd869f36" providerId="ADAL" clId="{8A9577EC-938E-40A6-8C5F-F44CA8D3340E}" dt="2026-05-27T19:08:30.856" v="585" actId="20577"/>
        <pc:sldMkLst>
          <pc:docMk/>
          <pc:sldMk cId="4099502662" sldId="323"/>
        </pc:sldMkLst>
        <pc:spChg chg="add mod ord">
          <ac:chgData name="Moreno Hidalgo, Ana Julia" userId="86045df5-2826-4e0a-a611-ac63bd869f36" providerId="ADAL" clId="{8A9577EC-938E-40A6-8C5F-F44CA8D3340E}" dt="2026-05-27T18:58:32.194" v="406" actId="13244"/>
          <ac:spMkLst>
            <pc:docMk/>
            <pc:sldMk cId="4099502662" sldId="323"/>
            <ac:spMk id="4" creationId="{00E6FB1F-3CFF-F12A-40F8-61A987E9E8FC}"/>
          </ac:spMkLst>
        </pc:spChg>
        <pc:spChg chg="add mod ord">
          <ac:chgData name="Moreno Hidalgo, Ana Julia" userId="86045df5-2826-4e0a-a611-ac63bd869f36" providerId="ADAL" clId="{8A9577EC-938E-40A6-8C5F-F44CA8D3340E}" dt="2026-05-27T19:08:30.856" v="585" actId="20577"/>
          <ac:spMkLst>
            <pc:docMk/>
            <pc:sldMk cId="4099502662" sldId="323"/>
            <ac:spMk id="6" creationId="{7AC8FAA8-EF9C-13E0-1C60-E46D4840144C}"/>
          </ac:spMkLst>
        </pc:spChg>
        <pc:spChg chg="add mod">
          <ac:chgData name="Moreno Hidalgo, Ana Julia" userId="86045df5-2826-4e0a-a611-ac63bd869f36" providerId="ADAL" clId="{8A9577EC-938E-40A6-8C5F-F44CA8D3340E}" dt="2026-05-27T18:58:55.106" v="409" actId="1076"/>
          <ac:spMkLst>
            <pc:docMk/>
            <pc:sldMk cId="4099502662" sldId="323"/>
            <ac:spMk id="9" creationId="{24F49AC6-EAD0-A1AE-5751-87835CA04822}"/>
          </ac:spMkLst>
        </pc:spChg>
        <pc:picChg chg="mod modCrop">
          <ac:chgData name="Moreno Hidalgo, Ana Julia" userId="86045df5-2826-4e0a-a611-ac63bd869f36" providerId="ADAL" clId="{8A9577EC-938E-40A6-8C5F-F44CA8D3340E}" dt="2026-05-27T19:00:56.341" v="422" actId="14100"/>
          <ac:picMkLst>
            <pc:docMk/>
            <pc:sldMk cId="4099502662" sldId="323"/>
            <ac:picMk id="8" creationId="{2E83424B-93AC-FF1A-7603-F6603D990C54}"/>
          </ac:picMkLst>
        </pc:picChg>
        <pc:picChg chg="mod modCrop">
          <ac:chgData name="Moreno Hidalgo, Ana Julia" userId="86045df5-2826-4e0a-a611-ac63bd869f36" providerId="ADAL" clId="{8A9577EC-938E-40A6-8C5F-F44CA8D3340E}" dt="2026-05-27T18:58:13.805" v="405" actId="1076"/>
          <ac:picMkLst>
            <pc:docMk/>
            <pc:sldMk cId="4099502662" sldId="323"/>
            <ac:picMk id="10" creationId="{7182D773-2176-C51B-0DE9-80C3386F37F3}"/>
          </ac:picMkLst>
        </pc:picChg>
        <pc:picChg chg="mod modCrop">
          <ac:chgData name="Moreno Hidalgo, Ana Julia" userId="86045df5-2826-4e0a-a611-ac63bd869f36" providerId="ADAL" clId="{8A9577EC-938E-40A6-8C5F-F44CA8D3340E}" dt="2026-05-27T18:59:09.403" v="413" actId="1076"/>
          <ac:picMkLst>
            <pc:docMk/>
            <pc:sldMk cId="4099502662" sldId="323"/>
            <ac:picMk id="12" creationId="{0A928500-2A61-BE47-36F3-5E7DB20695F4}"/>
          </ac:picMkLst>
        </pc:picChg>
      </pc:sldChg>
      <pc:sldChg chg="addSp delSp modSp mod modNotesTx">
        <pc:chgData name="Moreno Hidalgo, Ana Julia" userId="86045df5-2826-4e0a-a611-ac63bd869f36" providerId="ADAL" clId="{8A9577EC-938E-40A6-8C5F-F44CA8D3340E}" dt="2026-06-01T10:01:53.744" v="1528" actId="13244"/>
        <pc:sldMkLst>
          <pc:docMk/>
          <pc:sldMk cId="993069488" sldId="324"/>
        </pc:sldMkLst>
        <pc:spChg chg="add mod ord">
          <ac:chgData name="Moreno Hidalgo, Ana Julia" userId="86045df5-2826-4e0a-a611-ac63bd869f36" providerId="ADAL" clId="{8A9577EC-938E-40A6-8C5F-F44CA8D3340E}" dt="2026-06-01T10:01:47.074" v="1527" actId="13244"/>
          <ac:spMkLst>
            <pc:docMk/>
            <pc:sldMk cId="993069488" sldId="324"/>
            <ac:spMk id="4" creationId="{F2E95741-2D07-9C18-4398-29C91D024BB6}"/>
          </ac:spMkLst>
        </pc:spChg>
        <pc:spChg chg="add mod">
          <ac:chgData name="Moreno Hidalgo, Ana Julia" userId="86045df5-2826-4e0a-a611-ac63bd869f36" providerId="ADAL" clId="{8A9577EC-938E-40A6-8C5F-F44CA8D3340E}" dt="2026-06-01T09:39:06.975" v="1333" actId="14100"/>
          <ac:spMkLst>
            <pc:docMk/>
            <pc:sldMk cId="993069488" sldId="324"/>
            <ac:spMk id="5" creationId="{4EBE0D1F-5D44-CFC0-D552-24F716028A49}"/>
          </ac:spMkLst>
        </pc:spChg>
        <pc:spChg chg="add mod ord">
          <ac:chgData name="Moreno Hidalgo, Ana Julia" userId="86045df5-2826-4e0a-a611-ac63bd869f36" providerId="ADAL" clId="{8A9577EC-938E-40A6-8C5F-F44CA8D3340E}" dt="2026-06-01T10:01:53.744" v="1528" actId="13244"/>
          <ac:spMkLst>
            <pc:docMk/>
            <pc:sldMk cId="993069488" sldId="324"/>
            <ac:spMk id="6" creationId="{0AF7BFC3-BC01-314A-F0BC-F3518730C06C}"/>
          </ac:spMkLst>
        </pc:spChg>
        <pc:picChg chg="mod modCrop">
          <ac:chgData name="Moreno Hidalgo, Ana Julia" userId="86045df5-2826-4e0a-a611-ac63bd869f36" providerId="ADAL" clId="{8A9577EC-938E-40A6-8C5F-F44CA8D3340E}" dt="2026-06-01T09:40:32.625" v="1342" actId="1076"/>
          <ac:picMkLst>
            <pc:docMk/>
            <pc:sldMk cId="993069488" sldId="324"/>
            <ac:picMk id="8" creationId="{B53355C1-7EE9-91BC-8AF9-2A9971E3C785}"/>
          </ac:picMkLst>
        </pc:picChg>
        <pc:picChg chg="mod modCrop">
          <ac:chgData name="Moreno Hidalgo, Ana Julia" userId="86045df5-2826-4e0a-a611-ac63bd869f36" providerId="ADAL" clId="{8A9577EC-938E-40A6-8C5F-F44CA8D3340E}" dt="2026-06-01T09:40:35.839" v="1343" actId="1076"/>
          <ac:picMkLst>
            <pc:docMk/>
            <pc:sldMk cId="993069488" sldId="324"/>
            <ac:picMk id="10" creationId="{D8D66348-5C88-F13C-1680-29F5BEB420EC}"/>
          </ac:picMkLst>
        </pc:picChg>
        <pc:picChg chg="add mod ord modCrop">
          <ac:chgData name="Moreno Hidalgo, Ana Julia" userId="86045df5-2826-4e0a-a611-ac63bd869f36" providerId="ADAL" clId="{8A9577EC-938E-40A6-8C5F-F44CA8D3340E}" dt="2026-06-01T10:00:55.724" v="1526" actId="962"/>
          <ac:picMkLst>
            <pc:docMk/>
            <pc:sldMk cId="993069488" sldId="324"/>
            <ac:picMk id="11" creationId="{CD4483C0-A04A-8995-ACA3-F95686B23E46}"/>
          </ac:picMkLst>
        </pc:picChg>
      </pc:sldChg>
      <pc:sldChg chg="addSp modSp mod">
        <pc:chgData name="Moreno Hidalgo, Ana Julia" userId="86045df5-2826-4e0a-a611-ac63bd869f36" providerId="ADAL" clId="{8A9577EC-938E-40A6-8C5F-F44CA8D3340E}" dt="2026-06-01T10:02:40.792" v="1537" actId="962"/>
        <pc:sldMkLst>
          <pc:docMk/>
          <pc:sldMk cId="2350190369" sldId="325"/>
        </pc:sldMkLst>
        <pc:spChg chg="mod">
          <ac:chgData name="Moreno Hidalgo, Ana Julia" userId="86045df5-2826-4e0a-a611-ac63bd869f36" providerId="ADAL" clId="{8A9577EC-938E-40A6-8C5F-F44CA8D3340E}" dt="2026-06-01T10:02:05.664" v="1534" actId="1035"/>
          <ac:spMkLst>
            <pc:docMk/>
            <pc:sldMk cId="2350190369" sldId="325"/>
            <ac:spMk id="2" creationId="{292B5CEE-FCD4-B783-FD87-8D2941E4CE81}"/>
          </ac:spMkLst>
        </pc:spChg>
        <pc:spChg chg="add mod ord">
          <ac:chgData name="Moreno Hidalgo, Ana Julia" userId="86045df5-2826-4e0a-a611-ac63bd869f36" providerId="ADAL" clId="{8A9577EC-938E-40A6-8C5F-F44CA8D3340E}" dt="2026-06-01T10:02:10.327" v="1535" actId="13244"/>
          <ac:spMkLst>
            <pc:docMk/>
            <pc:sldMk cId="2350190369" sldId="325"/>
            <ac:spMk id="3" creationId="{A4877833-89B9-0827-A7F0-F240207C37A6}"/>
          </ac:spMkLst>
        </pc:spChg>
        <pc:spChg chg="add mod ord">
          <ac:chgData name="Moreno Hidalgo, Ana Julia" userId="86045df5-2826-4e0a-a611-ac63bd869f36" providerId="ADAL" clId="{8A9577EC-938E-40A6-8C5F-F44CA8D3340E}" dt="2026-06-01T10:02:15.781" v="1536" actId="13244"/>
          <ac:spMkLst>
            <pc:docMk/>
            <pc:sldMk cId="2350190369" sldId="325"/>
            <ac:spMk id="4" creationId="{94DDE32F-0481-625F-1851-F54D7FAFEC26}"/>
          </ac:spMkLst>
        </pc:spChg>
        <pc:spChg chg="add mod">
          <ac:chgData name="Moreno Hidalgo, Ana Julia" userId="86045df5-2826-4e0a-a611-ac63bd869f36" providerId="ADAL" clId="{8A9577EC-938E-40A6-8C5F-F44CA8D3340E}" dt="2026-06-01T09:56:13.427" v="1348" actId="1076"/>
          <ac:spMkLst>
            <pc:docMk/>
            <pc:sldMk cId="2350190369" sldId="325"/>
            <ac:spMk id="5" creationId="{F8335CFF-5252-5875-5ED3-6C8F9F62FACB}"/>
          </ac:spMkLst>
        </pc:spChg>
        <pc:picChg chg="mod modCrop">
          <ac:chgData name="Moreno Hidalgo, Ana Julia" userId="86045df5-2826-4e0a-a611-ac63bd869f36" providerId="ADAL" clId="{8A9577EC-938E-40A6-8C5F-F44CA8D3340E}" dt="2026-06-01T10:02:40.792" v="1537" actId="962"/>
          <ac:picMkLst>
            <pc:docMk/>
            <pc:sldMk cId="2350190369" sldId="325"/>
            <ac:picMk id="8" creationId="{F03B15CF-A307-D1D8-6AF6-957804CFD365}"/>
          </ac:picMkLst>
        </pc:picChg>
        <pc:picChg chg="mod modCrop">
          <ac:chgData name="Moreno Hidalgo, Ana Julia" userId="86045df5-2826-4e0a-a611-ac63bd869f36" providerId="ADAL" clId="{8A9577EC-938E-40A6-8C5F-F44CA8D3340E}" dt="2026-06-01T09:56:20.255" v="1370" actId="1038"/>
          <ac:picMkLst>
            <pc:docMk/>
            <pc:sldMk cId="2350190369" sldId="325"/>
            <ac:picMk id="10" creationId="{5FAF982D-46E1-EE3E-665E-B8EF8086FE9A}"/>
          </ac:picMkLst>
        </pc:picChg>
        <pc:picChg chg="mod modCrop">
          <ac:chgData name="Moreno Hidalgo, Ana Julia" userId="86045df5-2826-4e0a-a611-ac63bd869f36" providerId="ADAL" clId="{8A9577EC-938E-40A6-8C5F-F44CA8D3340E}" dt="2026-06-01T08:30:17.089" v="1074" actId="14100"/>
          <ac:picMkLst>
            <pc:docMk/>
            <pc:sldMk cId="2350190369" sldId="325"/>
            <ac:picMk id="12" creationId="{D0DABF46-5DAE-684F-DC9D-097B496CC389}"/>
          </ac:picMkLst>
        </pc:picChg>
      </pc:sldChg>
      <pc:sldChg chg="modSp mod">
        <pc:chgData name="Moreno Hidalgo, Ana Julia" userId="86045df5-2826-4e0a-a611-ac63bd869f36" providerId="ADAL" clId="{8A9577EC-938E-40A6-8C5F-F44CA8D3340E}" dt="2026-05-28T10:16:49.210" v="715" actId="20577"/>
        <pc:sldMkLst>
          <pc:docMk/>
          <pc:sldMk cId="2716087001" sldId="336"/>
        </pc:sldMkLst>
        <pc:spChg chg="mod">
          <ac:chgData name="Moreno Hidalgo, Ana Julia" userId="86045df5-2826-4e0a-a611-ac63bd869f36" providerId="ADAL" clId="{8A9577EC-938E-40A6-8C5F-F44CA8D3340E}" dt="2026-05-28T10:16:49.210" v="715" actId="20577"/>
          <ac:spMkLst>
            <pc:docMk/>
            <pc:sldMk cId="2716087001" sldId="336"/>
            <ac:spMk id="2" creationId="{9B366953-4695-01FB-AB74-2A9EF76BBE63}"/>
          </ac:spMkLst>
        </pc:spChg>
      </pc:sldChg>
      <pc:sldChg chg="addSp delSp modSp mod">
        <pc:chgData name="Moreno Hidalgo, Ana Julia" userId="86045df5-2826-4e0a-a611-ac63bd869f36" providerId="ADAL" clId="{8A9577EC-938E-40A6-8C5F-F44CA8D3340E}" dt="2026-06-01T13:57:06.940" v="5119" actId="962"/>
        <pc:sldMkLst>
          <pc:docMk/>
          <pc:sldMk cId="622046" sldId="338"/>
        </pc:sldMkLst>
        <pc:spChg chg="mod">
          <ac:chgData name="Moreno Hidalgo, Ana Julia" userId="86045df5-2826-4e0a-a611-ac63bd869f36" providerId="ADAL" clId="{8A9577EC-938E-40A6-8C5F-F44CA8D3340E}" dt="2026-05-28T11:21:38.585" v="868" actId="14100"/>
          <ac:spMkLst>
            <pc:docMk/>
            <pc:sldMk cId="622046" sldId="338"/>
            <ac:spMk id="3" creationId="{A03467A3-68BA-CEF4-7EC1-56B9BB08A7F9}"/>
          </ac:spMkLst>
        </pc:spChg>
        <pc:picChg chg="add mod ord modCrop">
          <ac:chgData name="Moreno Hidalgo, Ana Julia" userId="86045df5-2826-4e0a-a611-ac63bd869f36" providerId="ADAL" clId="{8A9577EC-938E-40A6-8C5F-F44CA8D3340E}" dt="2026-06-01T13:57:06.940" v="5119" actId="962"/>
          <ac:picMkLst>
            <pc:docMk/>
            <pc:sldMk cId="622046" sldId="338"/>
            <ac:picMk id="12" creationId="{7043AD00-0CD2-5070-1E01-8DAF53F6047E}"/>
          </ac:picMkLst>
        </pc:picChg>
      </pc:sldChg>
      <pc:sldChg chg="addSp modSp mod modNotesTx">
        <pc:chgData name="Moreno Hidalgo, Ana Julia" userId="86045df5-2826-4e0a-a611-ac63bd869f36" providerId="ADAL" clId="{8A9577EC-938E-40A6-8C5F-F44CA8D3340E}" dt="2026-06-01T15:08:45.960" v="5348" actId="962"/>
        <pc:sldMkLst>
          <pc:docMk/>
          <pc:sldMk cId="3396051662" sldId="340"/>
        </pc:sldMkLst>
        <pc:spChg chg="mod">
          <ac:chgData name="Moreno Hidalgo, Ana Julia" userId="86045df5-2826-4e0a-a611-ac63bd869f36" providerId="ADAL" clId="{8A9577EC-938E-40A6-8C5F-F44CA8D3340E}" dt="2026-06-01T15:01:19.275" v="5150" actId="962"/>
          <ac:spMkLst>
            <pc:docMk/>
            <pc:sldMk cId="3396051662" sldId="340"/>
            <ac:spMk id="3" creationId="{2A938CB7-A8AD-FE7E-C259-D912629E443A}"/>
          </ac:spMkLst>
        </pc:spChg>
        <pc:picChg chg="add mod modCrop">
          <ac:chgData name="Moreno Hidalgo, Ana Julia" userId="86045df5-2826-4e0a-a611-ac63bd869f36" providerId="ADAL" clId="{8A9577EC-938E-40A6-8C5F-F44CA8D3340E}" dt="2026-06-01T15:08:45.960" v="5348" actId="962"/>
          <ac:picMkLst>
            <pc:docMk/>
            <pc:sldMk cId="3396051662" sldId="340"/>
            <ac:picMk id="5" creationId="{9A0C2DE9-79FE-0D23-0F67-E8C94FC6C316}"/>
          </ac:picMkLst>
        </pc:picChg>
      </pc:sldChg>
      <pc:sldChg chg="modSp mod">
        <pc:chgData name="Moreno Hidalgo, Ana Julia" userId="86045df5-2826-4e0a-a611-ac63bd869f36" providerId="ADAL" clId="{8A9577EC-938E-40A6-8C5F-F44CA8D3340E}" dt="2026-06-08T13:58:58.932" v="7941" actId="20577"/>
        <pc:sldMkLst>
          <pc:docMk/>
          <pc:sldMk cId="3864982650" sldId="341"/>
        </pc:sldMkLst>
        <pc:spChg chg="mod">
          <ac:chgData name="Moreno Hidalgo, Ana Julia" userId="86045df5-2826-4e0a-a611-ac63bd869f36" providerId="ADAL" clId="{8A9577EC-938E-40A6-8C5F-F44CA8D3340E}" dt="2026-06-08T13:58:58.932" v="7941" actId="20577"/>
          <ac:spMkLst>
            <pc:docMk/>
            <pc:sldMk cId="3864982650" sldId="341"/>
            <ac:spMk id="3" creationId="{B75883BF-890E-23AA-DCAE-819C656FA78A}"/>
          </ac:spMkLst>
        </pc:spChg>
      </pc:sldChg>
      <pc:sldChg chg="modSp mod">
        <pc:chgData name="Moreno Hidalgo, Ana Julia" userId="86045df5-2826-4e0a-a611-ac63bd869f36" providerId="ADAL" clId="{8A9577EC-938E-40A6-8C5F-F44CA8D3340E}" dt="2026-06-01T15:11:35.411" v="5656" actId="962"/>
        <pc:sldMkLst>
          <pc:docMk/>
          <pc:sldMk cId="4117999356" sldId="343"/>
        </pc:sldMkLst>
        <pc:picChg chg="mod">
          <ac:chgData name="Moreno Hidalgo, Ana Julia" userId="86045df5-2826-4e0a-a611-ac63bd869f36" providerId="ADAL" clId="{8A9577EC-938E-40A6-8C5F-F44CA8D3340E}" dt="2026-06-01T15:11:35.411" v="5656" actId="962"/>
          <ac:picMkLst>
            <pc:docMk/>
            <pc:sldMk cId="4117999356" sldId="343"/>
            <ac:picMk id="4" creationId="{D798E19A-FC88-3061-A63E-2F155B88DB7B}"/>
          </ac:picMkLst>
        </pc:picChg>
      </pc:sldChg>
      <pc:sldChg chg="modSp mod modNotesTx">
        <pc:chgData name="Moreno Hidalgo, Ana Julia" userId="86045df5-2826-4e0a-a611-ac63bd869f36" providerId="ADAL" clId="{8A9577EC-938E-40A6-8C5F-F44CA8D3340E}" dt="2026-06-08T14:02:27.403" v="7987" actId="6549"/>
        <pc:sldMkLst>
          <pc:docMk/>
          <pc:sldMk cId="911122468" sldId="345"/>
        </pc:sldMkLst>
        <pc:spChg chg="mod">
          <ac:chgData name="Moreno Hidalgo, Ana Julia" userId="86045df5-2826-4e0a-a611-ac63bd869f36" providerId="ADAL" clId="{8A9577EC-938E-40A6-8C5F-F44CA8D3340E}" dt="2026-06-01T15:14:27.549" v="5695" actId="20577"/>
          <ac:spMkLst>
            <pc:docMk/>
            <pc:sldMk cId="911122468" sldId="345"/>
            <ac:spMk id="2" creationId="{2C7C5EC2-C8E5-61A1-CA4F-5DA8747ACF35}"/>
          </ac:spMkLst>
        </pc:spChg>
        <pc:spChg chg="mod">
          <ac:chgData name="Moreno Hidalgo, Ana Julia" userId="86045df5-2826-4e0a-a611-ac63bd869f36" providerId="ADAL" clId="{8A9577EC-938E-40A6-8C5F-F44CA8D3340E}" dt="2026-06-08T14:02:11.454" v="7982" actId="2710"/>
          <ac:spMkLst>
            <pc:docMk/>
            <pc:sldMk cId="911122468" sldId="345"/>
            <ac:spMk id="3" creationId="{D09680D8-A020-D08F-B72C-AF7AB8DB942F}"/>
          </ac:spMkLst>
        </pc:spChg>
      </pc:sldChg>
      <pc:sldChg chg="modSp mod">
        <pc:chgData name="Moreno Hidalgo, Ana Julia" userId="86045df5-2826-4e0a-a611-ac63bd869f36" providerId="ADAL" clId="{8A9577EC-938E-40A6-8C5F-F44CA8D3340E}" dt="2026-05-28T10:06:04.834" v="677" actId="20577"/>
        <pc:sldMkLst>
          <pc:docMk/>
          <pc:sldMk cId="2132511344" sldId="347"/>
        </pc:sldMkLst>
        <pc:spChg chg="mod">
          <ac:chgData name="Moreno Hidalgo, Ana Julia" userId="86045df5-2826-4e0a-a611-ac63bd869f36" providerId="ADAL" clId="{8A9577EC-938E-40A6-8C5F-F44CA8D3340E}" dt="2026-05-28T10:06:04.834" v="677" actId="20577"/>
          <ac:spMkLst>
            <pc:docMk/>
            <pc:sldMk cId="2132511344" sldId="347"/>
            <ac:spMk id="2" creationId="{B4360652-BB7E-B860-6AD2-C183663BD676}"/>
          </ac:spMkLst>
        </pc:spChg>
      </pc:sldChg>
      <pc:sldChg chg="modSp mod ord">
        <pc:chgData name="Moreno Hidalgo, Ana Julia" userId="86045df5-2826-4e0a-a611-ac63bd869f36" providerId="ADAL" clId="{8A9577EC-938E-40A6-8C5F-F44CA8D3340E}" dt="2026-05-28T10:06:18.903" v="679" actId="20577"/>
        <pc:sldMkLst>
          <pc:docMk/>
          <pc:sldMk cId="3108207028" sldId="348"/>
        </pc:sldMkLst>
        <pc:spChg chg="mod">
          <ac:chgData name="Moreno Hidalgo, Ana Julia" userId="86045df5-2826-4e0a-a611-ac63bd869f36" providerId="ADAL" clId="{8A9577EC-938E-40A6-8C5F-F44CA8D3340E}" dt="2026-05-28T10:06:15.443" v="678"/>
          <ac:spMkLst>
            <pc:docMk/>
            <pc:sldMk cId="3108207028" sldId="348"/>
            <ac:spMk id="2" creationId="{4B9541A3-7C0F-6D4B-C268-CF1B98A0AA7D}"/>
          </ac:spMkLst>
        </pc:spChg>
        <pc:spChg chg="mod">
          <ac:chgData name="Moreno Hidalgo, Ana Julia" userId="86045df5-2826-4e0a-a611-ac63bd869f36" providerId="ADAL" clId="{8A9577EC-938E-40A6-8C5F-F44CA8D3340E}" dt="2026-05-28T10:06:18.903" v="679" actId="20577"/>
          <ac:spMkLst>
            <pc:docMk/>
            <pc:sldMk cId="3108207028" sldId="348"/>
            <ac:spMk id="3" creationId="{5082BC81-D18B-1808-923D-3BAB848161D6}"/>
          </ac:spMkLst>
        </pc:spChg>
      </pc:sldChg>
      <pc:sldChg chg="modSp mod">
        <pc:chgData name="Moreno Hidalgo, Ana Julia" userId="86045df5-2826-4e0a-a611-ac63bd869f36" providerId="ADAL" clId="{8A9577EC-938E-40A6-8C5F-F44CA8D3340E}" dt="2026-05-27T10:25:26.364" v="216" actId="13244"/>
        <pc:sldMkLst>
          <pc:docMk/>
          <pc:sldMk cId="2433760237" sldId="356"/>
        </pc:sldMkLst>
        <pc:picChg chg="ord">
          <ac:chgData name="Moreno Hidalgo, Ana Julia" userId="86045df5-2826-4e0a-a611-ac63bd869f36" providerId="ADAL" clId="{8A9577EC-938E-40A6-8C5F-F44CA8D3340E}" dt="2026-05-27T10:25:26.364" v="216" actId="13244"/>
          <ac:picMkLst>
            <pc:docMk/>
            <pc:sldMk cId="2433760237" sldId="356"/>
            <ac:picMk id="23" creationId="{75857578-44C5-EE28-803B-8216939DE0FB}"/>
          </ac:picMkLst>
        </pc:picChg>
        <pc:picChg chg="mod">
          <ac:chgData name="Moreno Hidalgo, Ana Julia" userId="86045df5-2826-4e0a-a611-ac63bd869f36" providerId="ADAL" clId="{8A9577EC-938E-40A6-8C5F-F44CA8D3340E}" dt="2026-05-27T10:25:21.286" v="215" actId="962"/>
          <ac:picMkLst>
            <pc:docMk/>
            <pc:sldMk cId="2433760237" sldId="356"/>
            <ac:picMk id="25" creationId="{61615C17-76B9-BA26-A278-C714AC0AF622}"/>
          </ac:picMkLst>
        </pc:picChg>
        <pc:picChg chg="ord">
          <ac:chgData name="Moreno Hidalgo, Ana Julia" userId="86045df5-2826-4e0a-a611-ac63bd869f36" providerId="ADAL" clId="{8A9577EC-938E-40A6-8C5F-F44CA8D3340E}" dt="2026-05-27T10:24:46.755" v="214" actId="13244"/>
          <ac:picMkLst>
            <pc:docMk/>
            <pc:sldMk cId="2433760237" sldId="356"/>
            <ac:picMk id="27" creationId="{915D9138-7FA2-8245-0A59-B8250345CA54}"/>
          </ac:picMkLst>
        </pc:picChg>
      </pc:sldChg>
      <pc:sldChg chg="modSp add mod">
        <pc:chgData name="Moreno Hidalgo, Ana Julia" userId="86045df5-2826-4e0a-a611-ac63bd869f36" providerId="ADAL" clId="{8A9577EC-938E-40A6-8C5F-F44CA8D3340E}" dt="2026-06-01T08:27:36.294" v="1048" actId="20577"/>
        <pc:sldMkLst>
          <pc:docMk/>
          <pc:sldMk cId="1103385481" sldId="361"/>
        </pc:sldMkLst>
        <pc:spChg chg="mod">
          <ac:chgData name="Moreno Hidalgo, Ana Julia" userId="86045df5-2826-4e0a-a611-ac63bd869f36" providerId="ADAL" clId="{8A9577EC-938E-40A6-8C5F-F44CA8D3340E}" dt="2026-05-27T10:21:57.833" v="194" actId="20577"/>
          <ac:spMkLst>
            <pc:docMk/>
            <pc:sldMk cId="1103385481" sldId="361"/>
            <ac:spMk id="2" creationId="{CB22924F-1696-94DA-2E32-010E3F0C39D9}"/>
          </ac:spMkLst>
        </pc:spChg>
        <pc:spChg chg="mod">
          <ac:chgData name="Moreno Hidalgo, Ana Julia" userId="86045df5-2826-4e0a-a611-ac63bd869f36" providerId="ADAL" clId="{8A9577EC-938E-40A6-8C5F-F44CA8D3340E}" dt="2026-06-01T08:27:36.294" v="1048" actId="20577"/>
          <ac:spMkLst>
            <pc:docMk/>
            <pc:sldMk cId="1103385481" sldId="361"/>
            <ac:spMk id="3" creationId="{4A692477-A711-777E-2023-81840E2B702D}"/>
          </ac:spMkLst>
        </pc:spChg>
      </pc:sldChg>
      <pc:sldChg chg="addSp delSp modSp add mod ord modNotesTx">
        <pc:chgData name="Moreno Hidalgo, Ana Julia" userId="86045df5-2826-4e0a-a611-ac63bd869f36" providerId="ADAL" clId="{8A9577EC-938E-40A6-8C5F-F44CA8D3340E}" dt="2026-06-08T15:22:16.876" v="8014" actId="20577"/>
        <pc:sldMkLst>
          <pc:docMk/>
          <pc:sldMk cId="2727191082" sldId="362"/>
        </pc:sldMkLst>
        <pc:spChg chg="mod">
          <ac:chgData name="Moreno Hidalgo, Ana Julia" userId="86045df5-2826-4e0a-a611-ac63bd869f36" providerId="ADAL" clId="{8A9577EC-938E-40A6-8C5F-F44CA8D3340E}" dt="2026-05-28T10:16:42.884" v="703" actId="20577"/>
          <ac:spMkLst>
            <pc:docMk/>
            <pc:sldMk cId="2727191082" sldId="362"/>
            <ac:spMk id="2" creationId="{05968CA5-1F93-2745-285F-46C1C229E0B9}"/>
          </ac:spMkLst>
        </pc:spChg>
        <pc:spChg chg="mod">
          <ac:chgData name="Moreno Hidalgo, Ana Julia" userId="86045df5-2826-4e0a-a611-ac63bd869f36" providerId="ADAL" clId="{8A9577EC-938E-40A6-8C5F-F44CA8D3340E}" dt="2026-05-28T10:27:08.739" v="744" actId="14100"/>
          <ac:spMkLst>
            <pc:docMk/>
            <pc:sldMk cId="2727191082" sldId="362"/>
            <ac:spMk id="3" creationId="{079AE547-24F3-93C9-CDAF-439F4ADDA830}"/>
          </ac:spMkLst>
        </pc:spChg>
        <pc:picChg chg="add mod ord modCrop">
          <ac:chgData name="Moreno Hidalgo, Ana Julia" userId="86045df5-2826-4e0a-a611-ac63bd869f36" providerId="ADAL" clId="{8A9577EC-938E-40A6-8C5F-F44CA8D3340E}" dt="2026-06-08T15:22:10.894" v="8013" actId="14100"/>
          <ac:picMkLst>
            <pc:docMk/>
            <pc:sldMk cId="2727191082" sldId="362"/>
            <ac:picMk id="10" creationId="{A22F1F15-A60D-93B7-D956-5619791C1E98}"/>
          </ac:picMkLst>
        </pc:picChg>
      </pc:sldChg>
      <pc:sldChg chg="addSp delSp modSp add mod modClrScheme chgLayout modNotesTx">
        <pc:chgData name="Moreno Hidalgo, Ana Julia" userId="86045df5-2826-4e0a-a611-ac63bd869f36" providerId="ADAL" clId="{8A9577EC-938E-40A6-8C5F-F44CA8D3340E}" dt="2026-06-08T14:55:07.771" v="7995" actId="1076"/>
        <pc:sldMkLst>
          <pc:docMk/>
          <pc:sldMk cId="186127646" sldId="363"/>
        </pc:sldMkLst>
        <pc:spChg chg="mod">
          <ac:chgData name="Moreno Hidalgo, Ana Julia" userId="86045df5-2826-4e0a-a611-ac63bd869f36" providerId="ADAL" clId="{8A9577EC-938E-40A6-8C5F-F44CA8D3340E}" dt="2026-06-08T14:54:31.601" v="7990" actId="26606"/>
          <ac:spMkLst>
            <pc:docMk/>
            <pc:sldMk cId="186127646" sldId="363"/>
            <ac:spMk id="7" creationId="{B630C601-16C6-0D01-71F7-5B58E3972D77}"/>
          </ac:spMkLst>
        </pc:spChg>
        <pc:picChg chg="add mod modCrop">
          <ac:chgData name="Moreno Hidalgo, Ana Julia" userId="86045df5-2826-4e0a-a611-ac63bd869f36" providerId="ADAL" clId="{8A9577EC-938E-40A6-8C5F-F44CA8D3340E}" dt="2026-06-08T14:55:07.771" v="7995" actId="1076"/>
          <ac:picMkLst>
            <pc:docMk/>
            <pc:sldMk cId="186127646" sldId="363"/>
            <ac:picMk id="4" creationId="{AC17A47D-5A1C-5E45-16B5-67F79B5A5706}"/>
          </ac:picMkLst>
        </pc:picChg>
      </pc:sldChg>
      <pc:sldChg chg="addSp modSp new mod ord modShow modNotesTx">
        <pc:chgData name="Moreno Hidalgo, Ana Julia" userId="86045df5-2826-4e0a-a611-ac63bd869f36" providerId="ADAL" clId="{8A9577EC-938E-40A6-8C5F-F44CA8D3340E}" dt="2026-06-01T20:13:55.983" v="7728" actId="20577"/>
        <pc:sldMkLst>
          <pc:docMk/>
          <pc:sldMk cId="2689497488" sldId="364"/>
        </pc:sldMkLst>
        <pc:spChg chg="mod">
          <ac:chgData name="Moreno Hidalgo, Ana Julia" userId="86045df5-2826-4e0a-a611-ac63bd869f36" providerId="ADAL" clId="{8A9577EC-938E-40A6-8C5F-F44CA8D3340E}" dt="2026-06-01T10:13:39.929" v="1567" actId="20577"/>
          <ac:spMkLst>
            <pc:docMk/>
            <pc:sldMk cId="2689497488" sldId="364"/>
            <ac:spMk id="2" creationId="{38776DC3-8E5E-6385-66E9-A1EF943A0755}"/>
          </ac:spMkLst>
        </pc:spChg>
        <pc:spChg chg="mod">
          <ac:chgData name="Moreno Hidalgo, Ana Julia" userId="86045df5-2826-4e0a-a611-ac63bd869f36" providerId="ADAL" clId="{8A9577EC-938E-40A6-8C5F-F44CA8D3340E}" dt="2026-06-01T20:13:55.983" v="7728" actId="20577"/>
          <ac:spMkLst>
            <pc:docMk/>
            <pc:sldMk cId="2689497488" sldId="364"/>
            <ac:spMk id="3" creationId="{4CFC34A2-E0BF-9407-5849-2CDD48E6051A}"/>
          </ac:spMkLst>
        </pc:spChg>
        <pc:spChg chg="add mod">
          <ac:chgData name="Moreno Hidalgo, Ana Julia" userId="86045df5-2826-4e0a-a611-ac63bd869f36" providerId="ADAL" clId="{8A9577EC-938E-40A6-8C5F-F44CA8D3340E}" dt="2026-06-01T10:15:12.760" v="1629" actId="207"/>
          <ac:spMkLst>
            <pc:docMk/>
            <pc:sldMk cId="2689497488" sldId="364"/>
            <ac:spMk id="5" creationId="{D4B9A96D-7109-F607-B062-258C93EDB0ED}"/>
          </ac:spMkLst>
        </pc:spChg>
      </pc:sldChg>
      <pc:sldChg chg="addSp delSp modSp new mod modAnim modNotesTx">
        <pc:chgData name="Moreno Hidalgo, Ana Julia" userId="86045df5-2826-4e0a-a611-ac63bd869f36" providerId="ADAL" clId="{8A9577EC-938E-40A6-8C5F-F44CA8D3340E}" dt="2026-06-08T15:23:20.130" v="8018" actId="20577"/>
        <pc:sldMkLst>
          <pc:docMk/>
          <pc:sldMk cId="2886429739" sldId="367"/>
        </pc:sldMkLst>
        <pc:spChg chg="mod">
          <ac:chgData name="Moreno Hidalgo, Ana Julia" userId="86045df5-2826-4e0a-a611-ac63bd869f36" providerId="ADAL" clId="{8A9577EC-938E-40A6-8C5F-F44CA8D3340E}" dt="2026-06-01T19:50:44.751" v="6543" actId="5793"/>
          <ac:spMkLst>
            <pc:docMk/>
            <pc:sldMk cId="2886429739" sldId="367"/>
            <ac:spMk id="2" creationId="{2677F9C6-A244-60B5-B14E-E4FC999C5ECD}"/>
          </ac:spMkLst>
        </pc:spChg>
        <pc:spChg chg="add mod">
          <ac:chgData name="Moreno Hidalgo, Ana Julia" userId="86045df5-2826-4e0a-a611-ac63bd869f36" providerId="ADAL" clId="{8A9577EC-938E-40A6-8C5F-F44CA8D3340E}" dt="2026-06-01T20:08:39.438" v="7395" actId="14100"/>
          <ac:spMkLst>
            <pc:docMk/>
            <pc:sldMk cId="2886429739" sldId="367"/>
            <ac:spMk id="6" creationId="{55B21527-4856-95D2-EC67-96796C776008}"/>
          </ac:spMkLst>
        </pc:spChg>
        <pc:spChg chg="add mod">
          <ac:chgData name="Moreno Hidalgo, Ana Julia" userId="86045df5-2826-4e0a-a611-ac63bd869f36" providerId="ADAL" clId="{8A9577EC-938E-40A6-8C5F-F44CA8D3340E}" dt="2026-06-01T20:08:43.216" v="7397" actId="14100"/>
          <ac:spMkLst>
            <pc:docMk/>
            <pc:sldMk cId="2886429739" sldId="367"/>
            <ac:spMk id="7" creationId="{779436E6-A0A3-6E14-5DD8-74FC08868A72}"/>
          </ac:spMkLst>
        </pc:spChg>
        <pc:spChg chg="add mod">
          <ac:chgData name="Moreno Hidalgo, Ana Julia" userId="86045df5-2826-4e0a-a611-ac63bd869f36" providerId="ADAL" clId="{8A9577EC-938E-40A6-8C5F-F44CA8D3340E}" dt="2026-06-01T20:04:01.178" v="7130" actId="1076"/>
          <ac:spMkLst>
            <pc:docMk/>
            <pc:sldMk cId="2886429739" sldId="367"/>
            <ac:spMk id="10" creationId="{AF7F8EC2-5A33-F6AF-D521-DAD696284EC6}"/>
          </ac:spMkLst>
        </pc:spChg>
        <pc:spChg chg="add mod">
          <ac:chgData name="Moreno Hidalgo, Ana Julia" userId="86045df5-2826-4e0a-a611-ac63bd869f36" providerId="ADAL" clId="{8A9577EC-938E-40A6-8C5F-F44CA8D3340E}" dt="2026-06-01T20:08:47.702" v="7401" actId="1036"/>
          <ac:spMkLst>
            <pc:docMk/>
            <pc:sldMk cId="2886429739" sldId="367"/>
            <ac:spMk id="11" creationId="{1FB1F343-D2F9-0BC8-3775-3403D2D0DD00}"/>
          </ac:spMkLst>
        </pc:spChg>
        <pc:spChg chg="add mod">
          <ac:chgData name="Moreno Hidalgo, Ana Julia" userId="86045df5-2826-4e0a-a611-ac63bd869f36" providerId="ADAL" clId="{8A9577EC-938E-40A6-8C5F-F44CA8D3340E}" dt="2026-06-01T20:04:06.132" v="7131" actId="1076"/>
          <ac:spMkLst>
            <pc:docMk/>
            <pc:sldMk cId="2886429739" sldId="367"/>
            <ac:spMk id="12" creationId="{62A7E0BF-26D2-2E0A-C00C-C8C8BF372836}"/>
          </ac:spMkLst>
        </pc:spChg>
        <pc:spChg chg="add mod">
          <ac:chgData name="Moreno Hidalgo, Ana Julia" userId="86045df5-2826-4e0a-a611-ac63bd869f36" providerId="ADAL" clId="{8A9577EC-938E-40A6-8C5F-F44CA8D3340E}" dt="2026-06-01T20:04:15.559" v="7134" actId="1076"/>
          <ac:spMkLst>
            <pc:docMk/>
            <pc:sldMk cId="2886429739" sldId="367"/>
            <ac:spMk id="14" creationId="{04668EAB-0803-0D88-76CB-E1B927F397B7}"/>
          </ac:spMkLst>
        </pc:spChg>
        <pc:spChg chg="add mod">
          <ac:chgData name="Moreno Hidalgo, Ana Julia" userId="86045df5-2826-4e0a-a611-ac63bd869f36" providerId="ADAL" clId="{8A9577EC-938E-40A6-8C5F-F44CA8D3340E}" dt="2026-06-01T20:04:08.838" v="7132" actId="1076"/>
          <ac:spMkLst>
            <pc:docMk/>
            <pc:sldMk cId="2886429739" sldId="367"/>
            <ac:spMk id="15" creationId="{7F5B1EE3-77A5-D358-2EB1-8F0017EC6485}"/>
          </ac:spMkLst>
        </pc:spChg>
        <pc:spChg chg="add mod">
          <ac:chgData name="Moreno Hidalgo, Ana Julia" userId="86045df5-2826-4e0a-a611-ac63bd869f36" providerId="ADAL" clId="{8A9577EC-938E-40A6-8C5F-F44CA8D3340E}" dt="2026-06-01T20:05:27.425" v="7181"/>
          <ac:spMkLst>
            <pc:docMk/>
            <pc:sldMk cId="2886429739" sldId="367"/>
            <ac:spMk id="16" creationId="{9F19FFEB-D138-E2BB-CC38-288F45CB708E}"/>
          </ac:spMkLst>
        </pc:spChg>
        <pc:spChg chg="add mod">
          <ac:chgData name="Moreno Hidalgo, Ana Julia" userId="86045df5-2826-4e0a-a611-ac63bd869f36" providerId="ADAL" clId="{8A9577EC-938E-40A6-8C5F-F44CA8D3340E}" dt="2026-06-01T20:05:04.496" v="7179" actId="14100"/>
          <ac:spMkLst>
            <pc:docMk/>
            <pc:sldMk cId="2886429739" sldId="367"/>
            <ac:spMk id="19" creationId="{382B483C-4FC3-86F0-E5CD-42C9B8ABB416}"/>
          </ac:spMkLst>
        </pc:spChg>
        <pc:spChg chg="add mod">
          <ac:chgData name="Moreno Hidalgo, Ana Julia" userId="86045df5-2826-4e0a-a611-ac63bd869f36" providerId="ADAL" clId="{8A9577EC-938E-40A6-8C5F-F44CA8D3340E}" dt="2026-06-01T20:06:36.407" v="7388" actId="1076"/>
          <ac:spMkLst>
            <pc:docMk/>
            <pc:sldMk cId="2886429739" sldId="367"/>
            <ac:spMk id="20" creationId="{68A3971B-DFCC-BC9A-3AE5-5E036AF1462F}"/>
          </ac:spMkLst>
        </pc:spChg>
      </pc:sldChg>
    </pc:docChg>
  </pc:docChgLst>
  <pc:docChgLst>
    <pc:chgData name="Kerkmeijer, Sabine" userId="da67f59c-a5e7-4a03-b6ac-05ba48f259ea" providerId="ADAL" clId="{A33EF62F-C808-479B-A93D-C81E2786FF83}"/>
    <pc:docChg chg="undo custSel addSld delSld modSld addSection modSection">
      <pc:chgData name="Kerkmeijer, Sabine" userId="da67f59c-a5e7-4a03-b6ac-05ba48f259ea" providerId="ADAL" clId="{A33EF62F-C808-479B-A93D-C81E2786FF83}" dt="2026-06-08T09:31:55.194" v="1719" actId="5793"/>
      <pc:docMkLst>
        <pc:docMk/>
      </pc:docMkLst>
      <pc:sldChg chg="modNotesTx">
        <pc:chgData name="Kerkmeijer, Sabine" userId="da67f59c-a5e7-4a03-b6ac-05ba48f259ea" providerId="ADAL" clId="{A33EF62F-C808-479B-A93D-C81E2786FF83}" dt="2026-06-08T08:59:42.673" v="0" actId="6549"/>
        <pc:sldMkLst>
          <pc:docMk/>
          <pc:sldMk cId="3976433649" sldId="257"/>
        </pc:sldMkLst>
      </pc:sldChg>
      <pc:sldChg chg="modSp mod">
        <pc:chgData name="Kerkmeijer, Sabine" userId="da67f59c-a5e7-4a03-b6ac-05ba48f259ea" providerId="ADAL" clId="{A33EF62F-C808-479B-A93D-C81E2786FF83}" dt="2026-06-08T09:00:46.825" v="54" actId="20577"/>
        <pc:sldMkLst>
          <pc:docMk/>
          <pc:sldMk cId="957637140" sldId="282"/>
        </pc:sldMkLst>
        <pc:spChg chg="mod">
          <ac:chgData name="Kerkmeijer, Sabine" userId="da67f59c-a5e7-4a03-b6ac-05ba48f259ea" providerId="ADAL" clId="{A33EF62F-C808-479B-A93D-C81E2786FF83}" dt="2026-06-08T09:00:46.825" v="54" actId="20577"/>
          <ac:spMkLst>
            <pc:docMk/>
            <pc:sldMk cId="957637140" sldId="282"/>
            <ac:spMk id="3" creationId="{0862F81C-EA89-1A91-80E2-3FB334670CC1}"/>
          </ac:spMkLst>
        </pc:spChg>
      </pc:sldChg>
      <pc:sldChg chg="modSp mod">
        <pc:chgData name="Kerkmeijer, Sabine" userId="da67f59c-a5e7-4a03-b6ac-05ba48f259ea" providerId="ADAL" clId="{A33EF62F-C808-479B-A93D-C81E2786FF83}" dt="2026-06-08T09:31:55.194" v="1719" actId="5793"/>
        <pc:sldMkLst>
          <pc:docMk/>
          <pc:sldMk cId="2486788040" sldId="305"/>
        </pc:sldMkLst>
        <pc:spChg chg="mod">
          <ac:chgData name="Kerkmeijer, Sabine" userId="da67f59c-a5e7-4a03-b6ac-05ba48f259ea" providerId="ADAL" clId="{A33EF62F-C808-479B-A93D-C81E2786FF83}" dt="2026-06-08T09:31:55.194" v="1719" actId="5793"/>
          <ac:spMkLst>
            <pc:docMk/>
            <pc:sldMk cId="2486788040" sldId="305"/>
            <ac:spMk id="2" creationId="{F090997F-0435-37A4-BDAB-32FAC28A8BCA}"/>
          </ac:spMkLst>
        </pc:spChg>
      </pc:sldChg>
      <pc:sldChg chg="modSp mod modNotesTx">
        <pc:chgData name="Kerkmeijer, Sabine" userId="da67f59c-a5e7-4a03-b6ac-05ba48f259ea" providerId="ADAL" clId="{A33EF62F-C808-479B-A93D-C81E2786FF83}" dt="2026-06-08T09:02:43.435" v="163" actId="20577"/>
        <pc:sldMkLst>
          <pc:docMk/>
          <pc:sldMk cId="1510209980" sldId="312"/>
        </pc:sldMkLst>
        <pc:spChg chg="mod">
          <ac:chgData name="Kerkmeijer, Sabine" userId="da67f59c-a5e7-4a03-b6ac-05ba48f259ea" providerId="ADAL" clId="{A33EF62F-C808-479B-A93D-C81E2786FF83}" dt="2026-06-08T09:01:15.211" v="64" actId="20577"/>
          <ac:spMkLst>
            <pc:docMk/>
            <pc:sldMk cId="1510209980" sldId="312"/>
            <ac:spMk id="2" creationId="{419F7824-062A-8803-ECDD-154F95D6E9E5}"/>
          </ac:spMkLst>
        </pc:spChg>
      </pc:sldChg>
      <pc:sldChg chg="modNotesTx">
        <pc:chgData name="Kerkmeijer, Sabine" userId="da67f59c-a5e7-4a03-b6ac-05ba48f259ea" providerId="ADAL" clId="{A33EF62F-C808-479B-A93D-C81E2786FF83}" dt="2026-06-08T09:08:03.107" v="851" actId="20577"/>
        <pc:sldMkLst>
          <pc:docMk/>
          <pc:sldMk cId="4099502662" sldId="323"/>
        </pc:sldMkLst>
      </pc:sldChg>
      <pc:sldChg chg="modSp mod modNotesTx">
        <pc:chgData name="Kerkmeijer, Sabine" userId="da67f59c-a5e7-4a03-b6ac-05ba48f259ea" providerId="ADAL" clId="{A33EF62F-C808-479B-A93D-C81E2786FF83}" dt="2026-06-08T09:09:28.271" v="868" actId="6549"/>
        <pc:sldMkLst>
          <pc:docMk/>
          <pc:sldMk cId="2564027663" sldId="328"/>
        </pc:sldMkLst>
        <pc:spChg chg="mod">
          <ac:chgData name="Kerkmeijer, Sabine" userId="da67f59c-a5e7-4a03-b6ac-05ba48f259ea" providerId="ADAL" clId="{A33EF62F-C808-479B-A93D-C81E2786FF83}" dt="2026-06-08T09:09:09.854" v="866" actId="20577"/>
          <ac:spMkLst>
            <pc:docMk/>
            <pc:sldMk cId="2564027663" sldId="328"/>
            <ac:spMk id="3" creationId="{0EA17B3C-1752-BA76-E6CB-2AB83B69A34D}"/>
          </ac:spMkLst>
        </pc:spChg>
      </pc:sldChg>
      <pc:sldChg chg="modNotesTx">
        <pc:chgData name="Kerkmeijer, Sabine" userId="da67f59c-a5e7-4a03-b6ac-05ba48f259ea" providerId="ADAL" clId="{A33EF62F-C808-479B-A93D-C81E2786FF83}" dt="2026-06-08T09:09:24.297" v="867" actId="6549"/>
        <pc:sldMkLst>
          <pc:docMk/>
          <pc:sldMk cId="3895760719" sldId="329"/>
        </pc:sldMkLst>
      </pc:sldChg>
      <pc:sldChg chg="modSp mod">
        <pc:chgData name="Kerkmeijer, Sabine" userId="da67f59c-a5e7-4a03-b6ac-05ba48f259ea" providerId="ADAL" clId="{A33EF62F-C808-479B-A93D-C81E2786FF83}" dt="2026-06-08T09:12:49.621" v="1181" actId="6549"/>
        <pc:sldMkLst>
          <pc:docMk/>
          <pc:sldMk cId="2928132053" sldId="334"/>
        </pc:sldMkLst>
        <pc:spChg chg="mod">
          <ac:chgData name="Kerkmeijer, Sabine" userId="da67f59c-a5e7-4a03-b6ac-05ba48f259ea" providerId="ADAL" clId="{A33EF62F-C808-479B-A93D-C81E2786FF83}" dt="2026-06-08T09:12:49.621" v="1181" actId="6549"/>
          <ac:spMkLst>
            <pc:docMk/>
            <pc:sldMk cId="2928132053" sldId="334"/>
            <ac:spMk id="3" creationId="{BD42C43A-9674-0E3C-5286-D4DE0CAECE5D}"/>
          </ac:spMkLst>
        </pc:spChg>
      </pc:sldChg>
      <pc:sldChg chg="modSp mod">
        <pc:chgData name="Kerkmeijer, Sabine" userId="da67f59c-a5e7-4a03-b6ac-05ba48f259ea" providerId="ADAL" clId="{A33EF62F-C808-479B-A93D-C81E2786FF83}" dt="2026-06-08T09:14:51.170" v="1190" actId="20577"/>
        <pc:sldMkLst>
          <pc:docMk/>
          <pc:sldMk cId="3992910585" sldId="342"/>
        </pc:sldMkLst>
        <pc:spChg chg="mod">
          <ac:chgData name="Kerkmeijer, Sabine" userId="da67f59c-a5e7-4a03-b6ac-05ba48f259ea" providerId="ADAL" clId="{A33EF62F-C808-479B-A93D-C81E2786FF83}" dt="2026-06-08T09:14:51.170" v="1190" actId="20577"/>
          <ac:spMkLst>
            <pc:docMk/>
            <pc:sldMk cId="3992910585" sldId="342"/>
            <ac:spMk id="3" creationId="{596DEEC5-671B-8633-B750-FF9C653083B5}"/>
          </ac:spMkLst>
        </pc:spChg>
      </pc:sldChg>
      <pc:sldChg chg="modNotesTx">
        <pc:chgData name="Kerkmeijer, Sabine" userId="da67f59c-a5e7-4a03-b6ac-05ba48f259ea" providerId="ADAL" clId="{A33EF62F-C808-479B-A93D-C81E2786FF83}" dt="2026-06-08T09:16:34.219" v="1238" actId="6549"/>
        <pc:sldMkLst>
          <pc:docMk/>
          <pc:sldMk cId="4117999356" sldId="343"/>
        </pc:sldMkLst>
      </pc:sldChg>
      <pc:sldChg chg="modNotesTx">
        <pc:chgData name="Kerkmeijer, Sabine" userId="da67f59c-a5e7-4a03-b6ac-05ba48f259ea" providerId="ADAL" clId="{A33EF62F-C808-479B-A93D-C81E2786FF83}" dt="2026-06-08T09:17:27.623" v="1381" actId="20577"/>
        <pc:sldMkLst>
          <pc:docMk/>
          <pc:sldMk cId="607076231" sldId="344"/>
        </pc:sldMkLst>
      </pc:sldChg>
      <pc:sldChg chg="modSp mod modNotesTx">
        <pc:chgData name="Kerkmeijer, Sabine" userId="da67f59c-a5e7-4a03-b6ac-05ba48f259ea" providerId="ADAL" clId="{A33EF62F-C808-479B-A93D-C81E2786FF83}" dt="2026-06-08T09:20:21.846" v="1437" actId="20577"/>
        <pc:sldMkLst>
          <pc:docMk/>
          <pc:sldMk cId="911122468" sldId="345"/>
        </pc:sldMkLst>
        <pc:spChg chg="mod">
          <ac:chgData name="Kerkmeijer, Sabine" userId="da67f59c-a5e7-4a03-b6ac-05ba48f259ea" providerId="ADAL" clId="{A33EF62F-C808-479B-A93D-C81E2786FF83}" dt="2026-06-08T09:20:12.043" v="1429" actId="20577"/>
          <ac:spMkLst>
            <pc:docMk/>
            <pc:sldMk cId="911122468" sldId="345"/>
            <ac:spMk id="3" creationId="{D09680D8-A020-D08F-B72C-AF7AB8DB942F}"/>
          </ac:spMkLst>
        </pc:spChg>
      </pc:sldChg>
      <pc:sldChg chg="modSp mod">
        <pc:chgData name="Kerkmeijer, Sabine" userId="da67f59c-a5e7-4a03-b6ac-05ba48f259ea" providerId="ADAL" clId="{A33EF62F-C808-479B-A93D-C81E2786FF83}" dt="2026-06-08T09:22:58.392" v="1600" actId="20577"/>
        <pc:sldMkLst>
          <pc:docMk/>
          <pc:sldMk cId="2132511344" sldId="347"/>
        </pc:sldMkLst>
        <pc:spChg chg="mod">
          <ac:chgData name="Kerkmeijer, Sabine" userId="da67f59c-a5e7-4a03-b6ac-05ba48f259ea" providerId="ADAL" clId="{A33EF62F-C808-479B-A93D-C81E2786FF83}" dt="2026-06-08T09:22:58.392" v="1600" actId="20577"/>
          <ac:spMkLst>
            <pc:docMk/>
            <pc:sldMk cId="2132511344" sldId="347"/>
            <ac:spMk id="3" creationId="{DA74DBD6-A4D0-7402-A8CA-260BE70AE844}"/>
          </ac:spMkLst>
        </pc:spChg>
      </pc:sldChg>
      <pc:sldChg chg="modSp mod modNotesTx">
        <pc:chgData name="Kerkmeijer, Sabine" userId="da67f59c-a5e7-4a03-b6ac-05ba48f259ea" providerId="ADAL" clId="{A33EF62F-C808-479B-A93D-C81E2786FF83}" dt="2026-06-08T09:27:52.901" v="1650" actId="20577"/>
        <pc:sldMkLst>
          <pc:docMk/>
          <pc:sldMk cId="3307659446" sldId="350"/>
        </pc:sldMkLst>
        <pc:spChg chg="mod">
          <ac:chgData name="Kerkmeijer, Sabine" userId="da67f59c-a5e7-4a03-b6ac-05ba48f259ea" providerId="ADAL" clId="{A33EF62F-C808-479B-A93D-C81E2786FF83}" dt="2026-06-08T09:27:52.901" v="1650" actId="20577"/>
          <ac:spMkLst>
            <pc:docMk/>
            <pc:sldMk cId="3307659446" sldId="350"/>
            <ac:spMk id="3" creationId="{560EAB93-A5A4-FE19-C84A-4706BD5DCA4B}"/>
          </ac:spMkLst>
        </pc:spChg>
      </pc:sldChg>
      <pc:sldChg chg="modSp mod modNotesTx">
        <pc:chgData name="Kerkmeijer, Sabine" userId="da67f59c-a5e7-4a03-b6ac-05ba48f259ea" providerId="ADAL" clId="{A33EF62F-C808-479B-A93D-C81E2786FF83}" dt="2026-06-08T09:29:03.708" v="1664" actId="20577"/>
        <pc:sldMkLst>
          <pc:docMk/>
          <pc:sldMk cId="3849105542" sldId="351"/>
        </pc:sldMkLst>
        <pc:spChg chg="mod">
          <ac:chgData name="Kerkmeijer, Sabine" userId="da67f59c-a5e7-4a03-b6ac-05ba48f259ea" providerId="ADAL" clId="{A33EF62F-C808-479B-A93D-C81E2786FF83}" dt="2026-06-08T09:29:03.708" v="1664" actId="20577"/>
          <ac:spMkLst>
            <pc:docMk/>
            <pc:sldMk cId="3849105542" sldId="351"/>
            <ac:spMk id="3" creationId="{0B81F635-EF30-F932-E369-BA72ACCA489D}"/>
          </ac:spMkLst>
        </pc:spChg>
      </pc:sldChg>
      <pc:sldChg chg="modNotesTx">
        <pc:chgData name="Kerkmeijer, Sabine" userId="da67f59c-a5e7-4a03-b6ac-05ba48f259ea" providerId="ADAL" clId="{A33EF62F-C808-479B-A93D-C81E2786FF83}" dt="2026-06-08T09:30:46.410" v="1673" actId="12"/>
        <pc:sldMkLst>
          <pc:docMk/>
          <pc:sldMk cId="611607848" sldId="352"/>
        </pc:sldMkLst>
      </pc:sldChg>
      <pc:sldChg chg="modNotesTx">
        <pc:chgData name="Kerkmeijer, Sabine" userId="da67f59c-a5e7-4a03-b6ac-05ba48f259ea" providerId="ADAL" clId="{A33EF62F-C808-479B-A93D-C81E2786FF83}" dt="2026-06-08T09:31:39.517" v="1682" actId="20577"/>
        <pc:sldMkLst>
          <pc:docMk/>
          <pc:sldMk cId="2505350892" sldId="353"/>
        </pc:sldMkLst>
      </pc:sldChg>
      <pc:sldChg chg="modNotesTx">
        <pc:chgData name="Kerkmeijer, Sabine" userId="da67f59c-a5e7-4a03-b6ac-05ba48f259ea" providerId="ADAL" clId="{A33EF62F-C808-479B-A93D-C81E2786FF83}" dt="2026-06-08T09:10:40.183" v="1052" actId="20577"/>
        <pc:sldMkLst>
          <pc:docMk/>
          <pc:sldMk cId="4109794633" sldId="355"/>
        </pc:sldMkLst>
      </pc:sldChg>
      <pc:sldChg chg="modSp mod modNotesTx">
        <pc:chgData name="Kerkmeijer, Sabine" userId="da67f59c-a5e7-4a03-b6ac-05ba48f259ea" providerId="ADAL" clId="{A33EF62F-C808-479B-A93D-C81E2786FF83}" dt="2026-06-08T09:00:30.670" v="53" actId="20577"/>
        <pc:sldMkLst>
          <pc:docMk/>
          <pc:sldMk cId="1103385481" sldId="361"/>
        </pc:sldMkLst>
        <pc:spChg chg="mod">
          <ac:chgData name="Kerkmeijer, Sabine" userId="da67f59c-a5e7-4a03-b6ac-05ba48f259ea" providerId="ADAL" clId="{A33EF62F-C808-479B-A93D-C81E2786FF83}" dt="2026-06-08T08:59:50.780" v="9" actId="20577"/>
          <ac:spMkLst>
            <pc:docMk/>
            <pc:sldMk cId="1103385481" sldId="361"/>
            <ac:spMk id="2" creationId="{CB22924F-1696-94DA-2E32-010E3F0C39D9}"/>
          </ac:spMkLst>
        </pc:spChg>
        <pc:spChg chg="mod">
          <ac:chgData name="Kerkmeijer, Sabine" userId="da67f59c-a5e7-4a03-b6ac-05ba48f259ea" providerId="ADAL" clId="{A33EF62F-C808-479B-A93D-C81E2786FF83}" dt="2026-06-08T09:00:30.670" v="53" actId="20577"/>
          <ac:spMkLst>
            <pc:docMk/>
            <pc:sldMk cId="1103385481" sldId="361"/>
            <ac:spMk id="3" creationId="{4A692477-A711-777E-2023-81840E2B702D}"/>
          </ac:spMkLst>
        </pc:spChg>
      </pc:sldChg>
      <pc:sldChg chg="modSp add mod modNotesTx">
        <pc:chgData name="Kerkmeijer, Sabine" userId="da67f59c-a5e7-4a03-b6ac-05ba48f259ea" providerId="ADAL" clId="{A33EF62F-C808-479B-A93D-C81E2786FF83}" dt="2026-06-08T09:22:36.268" v="1599" actId="20577"/>
        <pc:sldMkLst>
          <pc:docMk/>
          <pc:sldMk cId="653435738" sldId="368"/>
        </pc:sldMkLst>
        <pc:spChg chg="mod">
          <ac:chgData name="Kerkmeijer, Sabine" userId="da67f59c-a5e7-4a03-b6ac-05ba48f259ea" providerId="ADAL" clId="{A33EF62F-C808-479B-A93D-C81E2786FF83}" dt="2026-06-08T09:22:01.975" v="1445" actId="20577"/>
          <ac:spMkLst>
            <pc:docMk/>
            <pc:sldMk cId="653435738" sldId="368"/>
            <ac:spMk id="2" creationId="{36D617BD-CC29-7C16-85B8-0D023C27631D}"/>
          </ac:spMkLst>
        </pc:spChg>
      </pc:sldChg>
      <pc:sldChg chg="modSp add mod">
        <pc:chgData name="Kerkmeijer, Sabine" userId="da67f59c-a5e7-4a03-b6ac-05ba48f259ea" providerId="ADAL" clId="{A33EF62F-C808-479B-A93D-C81E2786FF83}" dt="2026-06-08T09:24:39.643" v="1612"/>
        <pc:sldMkLst>
          <pc:docMk/>
          <pc:sldMk cId="2548452257" sldId="369"/>
        </pc:sldMkLst>
        <pc:spChg chg="mod">
          <ac:chgData name="Kerkmeijer, Sabine" userId="da67f59c-a5e7-4a03-b6ac-05ba48f259ea" providerId="ADAL" clId="{A33EF62F-C808-479B-A93D-C81E2786FF83}" dt="2026-06-08T09:24:39.643" v="1612"/>
          <ac:spMkLst>
            <pc:docMk/>
            <pc:sldMk cId="2548452257" sldId="369"/>
            <ac:spMk id="2" creationId="{36D617BD-CC29-7C16-85B8-0D023C27631D}"/>
          </ac:spMkLst>
        </pc:spChg>
      </pc:sldChg>
    </pc:docChg>
  </pc:docChgLst>
  <pc:docChgLst>
    <pc:chgData name="Kerkmeijer, Sabine" userId="S::skerkmeijer@accessibility.nl::da67f59c-a5e7-4a03-b6ac-05ba48f259ea" providerId="AD" clId="Web-{EF3D96BF-70A4-DC3D-96AC-1F52634C08CE}"/>
    <pc:docChg chg="modSld">
      <pc:chgData name="Kerkmeijer, Sabine" userId="S::skerkmeijer@accessibility.nl::da67f59c-a5e7-4a03-b6ac-05ba48f259ea" providerId="AD" clId="Web-{EF3D96BF-70A4-DC3D-96AC-1F52634C08CE}" dt="2026-06-08T14:07:14.661" v="88"/>
      <pc:docMkLst>
        <pc:docMk/>
      </pc:docMkLst>
      <pc:sldChg chg="modNotes">
        <pc:chgData name="Kerkmeijer, Sabine" userId="S::skerkmeijer@accessibility.nl::da67f59c-a5e7-4a03-b6ac-05ba48f259ea" providerId="AD" clId="Web-{EF3D96BF-70A4-DC3D-96AC-1F52634C08CE}" dt="2026-06-08T13:40:23.518" v="1"/>
        <pc:sldMkLst>
          <pc:docMk/>
          <pc:sldMk cId="1956909593" sldId="317"/>
        </pc:sldMkLst>
      </pc:sldChg>
      <pc:sldChg chg="modNotes">
        <pc:chgData name="Kerkmeijer, Sabine" userId="S::skerkmeijer@accessibility.nl::da67f59c-a5e7-4a03-b6ac-05ba48f259ea" providerId="AD" clId="Web-{EF3D96BF-70A4-DC3D-96AC-1F52634C08CE}" dt="2026-06-08T13:57:45.138" v="11"/>
        <pc:sldMkLst>
          <pc:docMk/>
          <pc:sldMk cId="622046" sldId="338"/>
        </pc:sldMkLst>
      </pc:sldChg>
      <pc:sldChg chg="modSp">
        <pc:chgData name="Kerkmeijer, Sabine" userId="S::skerkmeijer@accessibility.nl::da67f59c-a5e7-4a03-b6ac-05ba48f259ea" providerId="AD" clId="Web-{EF3D96BF-70A4-DC3D-96AC-1F52634C08CE}" dt="2026-06-08T14:00:41.676" v="12" actId="20577"/>
        <pc:sldMkLst>
          <pc:docMk/>
          <pc:sldMk cId="911122468" sldId="345"/>
        </pc:sldMkLst>
        <pc:spChg chg="mod">
          <ac:chgData name="Kerkmeijer, Sabine" userId="S::skerkmeijer@accessibility.nl::da67f59c-a5e7-4a03-b6ac-05ba48f259ea" providerId="AD" clId="Web-{EF3D96BF-70A4-DC3D-96AC-1F52634C08CE}" dt="2026-06-08T14:00:41.676" v="12" actId="20577"/>
          <ac:spMkLst>
            <pc:docMk/>
            <pc:sldMk cId="911122468" sldId="345"/>
            <ac:spMk id="2" creationId="{2C7C5EC2-C8E5-61A1-CA4F-5DA8747ACF35}"/>
          </ac:spMkLst>
        </pc:spChg>
      </pc:sldChg>
      <pc:sldChg chg="modSp">
        <pc:chgData name="Kerkmeijer, Sabine" userId="S::skerkmeijer@accessibility.nl::da67f59c-a5e7-4a03-b6ac-05ba48f259ea" providerId="AD" clId="Web-{EF3D96BF-70A4-DC3D-96AC-1F52634C08CE}" dt="2026-06-08T14:03:57.762" v="15" actId="20577"/>
        <pc:sldMkLst>
          <pc:docMk/>
          <pc:sldMk cId="3307659446" sldId="350"/>
        </pc:sldMkLst>
        <pc:spChg chg="mod">
          <ac:chgData name="Kerkmeijer, Sabine" userId="S::skerkmeijer@accessibility.nl::da67f59c-a5e7-4a03-b6ac-05ba48f259ea" providerId="AD" clId="Web-{EF3D96BF-70A4-DC3D-96AC-1F52634C08CE}" dt="2026-06-08T14:03:57.762" v="15" actId="20577"/>
          <ac:spMkLst>
            <pc:docMk/>
            <pc:sldMk cId="3307659446" sldId="350"/>
            <ac:spMk id="3" creationId="{560EAB93-A5A4-FE19-C84A-4706BD5DCA4B}"/>
          </ac:spMkLst>
        </pc:spChg>
      </pc:sldChg>
      <pc:sldChg chg="modNotes">
        <pc:chgData name="Kerkmeijer, Sabine" userId="S::skerkmeijer@accessibility.nl::da67f59c-a5e7-4a03-b6ac-05ba48f259ea" providerId="AD" clId="Web-{EF3D96BF-70A4-DC3D-96AC-1F52634C08CE}" dt="2026-06-08T14:07:14.661" v="88"/>
        <pc:sldMkLst>
          <pc:docMk/>
          <pc:sldMk cId="611607848" sldId="352"/>
        </pc:sldMkLst>
      </pc:sldChg>
      <pc:sldChg chg="modNotes">
        <pc:chgData name="Kerkmeijer, Sabine" userId="S::skerkmeijer@accessibility.nl::da67f59c-a5e7-4a03-b6ac-05ba48f259ea" providerId="AD" clId="Web-{EF3D96BF-70A4-DC3D-96AC-1F52634C08CE}" dt="2026-06-08T13:56:47.729" v="7"/>
        <pc:sldMkLst>
          <pc:docMk/>
          <pc:sldMk cId="2727191082" sldId="362"/>
        </pc:sldMkLst>
      </pc:sldChg>
      <pc:sldChg chg="modNotes">
        <pc:chgData name="Kerkmeijer, Sabine" userId="S::skerkmeijer@accessibility.nl::da67f59c-a5e7-4a03-b6ac-05ba48f259ea" providerId="AD" clId="Web-{EF3D96BF-70A4-DC3D-96AC-1F52634C08CE}" dt="2026-06-08T13:54:41.615" v="4"/>
        <pc:sldMkLst>
          <pc:docMk/>
          <pc:sldMk cId="186127646" sldId="363"/>
        </pc:sldMkLst>
      </pc:sldChg>
    </pc:docChg>
  </pc:docChgLst>
  <pc:docChgLst>
    <pc:chgData name="Kerkmeijer, Sabine" userId="S::skerkmeijer@accessibility.nl::da67f59c-a5e7-4a03-b6ac-05ba48f259ea" providerId="AD" clId="Web-{8D34CFCD-3FCE-2A93-C4DD-C838393F507F}"/>
    <pc:docChg chg="modSld">
      <pc:chgData name="Kerkmeijer, Sabine" userId="S::skerkmeijer@accessibility.nl::da67f59c-a5e7-4a03-b6ac-05ba48f259ea" providerId="AD" clId="Web-{8D34CFCD-3FCE-2A93-C4DD-C838393F507F}" dt="2026-06-18T13:51:24.453" v="19" actId="20577"/>
      <pc:docMkLst>
        <pc:docMk/>
      </pc:docMkLst>
      <pc:sldChg chg="modSp">
        <pc:chgData name="Kerkmeijer, Sabine" userId="S::skerkmeijer@accessibility.nl::da67f59c-a5e7-4a03-b6ac-05ba48f259ea" providerId="AD" clId="Web-{8D34CFCD-3FCE-2A93-C4DD-C838393F507F}" dt="2026-06-18T13:51:24.453" v="19" actId="20577"/>
        <pc:sldMkLst>
          <pc:docMk/>
          <pc:sldMk cId="3976433649" sldId="257"/>
        </pc:sldMkLst>
        <pc:spChg chg="mod">
          <ac:chgData name="Kerkmeijer, Sabine" userId="S::skerkmeijer@accessibility.nl::da67f59c-a5e7-4a03-b6ac-05ba48f259ea" providerId="AD" clId="Web-{8D34CFCD-3FCE-2A93-C4DD-C838393F507F}" dt="2026-06-18T13:51:16.515" v="12" actId="20577"/>
          <ac:spMkLst>
            <pc:docMk/>
            <pc:sldMk cId="3976433649" sldId="257"/>
            <ac:spMk id="2" creationId="{147E8332-F38D-52DC-73A9-338BA103550F}"/>
          </ac:spMkLst>
        </pc:spChg>
        <pc:spChg chg="mod">
          <ac:chgData name="Kerkmeijer, Sabine" userId="S::skerkmeijer@accessibility.nl::da67f59c-a5e7-4a03-b6ac-05ba48f259ea" providerId="AD" clId="Web-{8D34CFCD-3FCE-2A93-C4DD-C838393F507F}" dt="2026-06-18T13:51:24.453" v="19" actId="20577"/>
          <ac:spMkLst>
            <pc:docMk/>
            <pc:sldMk cId="3976433649" sldId="257"/>
            <ac:spMk id="3" creationId="{1EEE1E35-044A-B932-9320-4E4B2AE336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91AE4BC-C27D-4718-BE02-13E663D39A88}" type="datetimeFigureOut">
              <a:rPr lang="nl-NL" smtClean="0"/>
              <a:t>18-6-2026</a:t>
            </a:fld>
            <a:endParaRPr lang="nl-NL"/>
          </a:p>
        </p:txBody>
      </p:sp>
      <p:sp>
        <p:nvSpPr>
          <p:cNvPr id="4" name="Tijdelijke aanduiding voor dia-afbeelding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945DCDBF-DF07-42E1-A6C5-1ACF461A284A}" type="slidenum">
              <a:rPr lang="nl-NL" smtClean="0"/>
              <a:t>‹nr.›</a:t>
            </a:fld>
            <a:endParaRPr lang="nl-NL"/>
          </a:p>
        </p:txBody>
      </p:sp>
    </p:spTree>
    <p:extLst>
      <p:ext uri="{BB962C8B-B14F-4D97-AF65-F5344CB8AC3E}">
        <p14:creationId xmlns:p14="http://schemas.microsoft.com/office/powerpoint/2010/main" val="278655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tpgi.com/color-contrast-checker"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w3.org/WAI/ER/tools/"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www.w3.org/TR/aria-in-html/#firstrule"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a:t>
            </a:fld>
            <a:endParaRPr lang="nl-NL"/>
          </a:p>
        </p:txBody>
      </p:sp>
    </p:spTree>
    <p:extLst>
      <p:ext uri="{BB962C8B-B14F-4D97-AF65-F5344CB8AC3E}">
        <p14:creationId xmlns:p14="http://schemas.microsoft.com/office/powerpoint/2010/main" val="73094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a:t>
            </a:fld>
            <a:endParaRPr lang="nl-NL"/>
          </a:p>
        </p:txBody>
      </p:sp>
    </p:spTree>
    <p:extLst>
      <p:ext uri="{BB962C8B-B14F-4D97-AF65-F5344CB8AC3E}">
        <p14:creationId xmlns:p14="http://schemas.microsoft.com/office/powerpoint/2010/main" val="290370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678CC-EC61-7184-8739-95A99725916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0A48FCB-7FAF-C1D0-FE0D-BEDDD5575A9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EF40387-384E-303C-8470-50E9D1868681}"/>
              </a:ext>
            </a:extLst>
          </p:cNvPr>
          <p:cNvSpPr>
            <a:spLocks noGrp="1"/>
          </p:cNvSpPr>
          <p:nvPr>
            <p:ph type="body" idx="1"/>
          </p:nvPr>
        </p:nvSpPr>
        <p:spPr/>
        <p:txBody>
          <a:bodyPr/>
          <a:lstStyle/>
          <a:p>
            <a:endParaRPr lang="nl-NL" sz="120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25243897-23B3-6D61-675C-9ABE8778E288}"/>
              </a:ext>
            </a:extLst>
          </p:cNvPr>
          <p:cNvSpPr>
            <a:spLocks noGrp="1"/>
          </p:cNvSpPr>
          <p:nvPr>
            <p:ph type="sldNum" sz="quarter" idx="5"/>
          </p:nvPr>
        </p:nvSpPr>
        <p:spPr/>
        <p:txBody>
          <a:bodyPr/>
          <a:lstStyle/>
          <a:p>
            <a:fld id="{945DCDBF-DF07-42E1-A6C5-1ACF461A284A}" type="slidenum">
              <a:rPr lang="nl-NL" smtClean="0"/>
              <a:t>3</a:t>
            </a:fld>
            <a:endParaRPr lang="nl-NL"/>
          </a:p>
        </p:txBody>
      </p:sp>
    </p:spTree>
    <p:extLst>
      <p:ext uri="{BB962C8B-B14F-4D97-AF65-F5344CB8AC3E}">
        <p14:creationId xmlns:p14="http://schemas.microsoft.com/office/powerpoint/2010/main" val="1124687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a:solidFill>
                  <a:srgbClr val="1A2E83"/>
                </a:solidFill>
                <a:effectLst/>
                <a:latin typeface="Muli" pitchFamily="2" charset="77"/>
              </a:rPr>
              <a:t>Het aanbieden van diensten en informatie op een manier dat deze voor iedereen bruikbaar is, ongeacht een eventuele beperking.</a:t>
            </a:r>
          </a:p>
          <a:p>
            <a:endParaRPr lang="nl-NL" sz="1200" b="0">
              <a:solidFill>
                <a:srgbClr val="1A2E83"/>
              </a:solidFill>
              <a:effectLst/>
              <a:latin typeface="Muli" pitchFamily="2" charset="77"/>
            </a:endParaRPr>
          </a:p>
          <a:p>
            <a:pPr lvl="0"/>
            <a:r>
              <a:rPr lang="nl-NL" sz="1200" kern="1200">
                <a:solidFill>
                  <a:schemeClr val="tx1"/>
                </a:solidFill>
                <a:effectLst/>
                <a:latin typeface="+mn-lt"/>
                <a:ea typeface="+mn-ea"/>
                <a:cs typeface="+mn-cs"/>
              </a:rPr>
              <a:t>Uitleg bij definitie:</a:t>
            </a:r>
          </a:p>
          <a:p>
            <a:pPr lvl="1"/>
            <a:r>
              <a:rPr lang="nl-NL" sz="1200" kern="1200">
                <a:solidFill>
                  <a:schemeClr val="tx1"/>
                </a:solidFill>
                <a:effectLst/>
                <a:latin typeface="+mn-lt"/>
                <a:ea typeface="+mn-ea"/>
                <a:cs typeface="+mn-cs"/>
              </a:rPr>
              <a:t>Voor iedereen: Inclusief mensen met beperkingen</a:t>
            </a:r>
          </a:p>
          <a:p>
            <a:pPr lvl="1"/>
            <a:r>
              <a:rPr lang="nl-NL" sz="1200" kern="1200">
                <a:solidFill>
                  <a:schemeClr val="tx1"/>
                </a:solidFill>
                <a:effectLst/>
                <a:latin typeface="+mn-lt"/>
                <a:ea typeface="+mn-ea"/>
                <a:cs typeface="+mn-cs"/>
              </a:rPr>
              <a:t>Hardware-onafhankelijk: Moet werken op verschillende apparaten (desktop, tablet, telefoon, maar ook braillelezer)</a:t>
            </a:r>
          </a:p>
          <a:p>
            <a:pPr lvl="1"/>
            <a:r>
              <a:rPr lang="nl-NL" sz="1200" kern="1200">
                <a:solidFill>
                  <a:schemeClr val="tx1"/>
                </a:solidFill>
                <a:effectLst/>
                <a:latin typeface="+mn-lt"/>
                <a:ea typeface="+mn-ea"/>
                <a:cs typeface="+mn-cs"/>
              </a:rPr>
              <a:t>Software-onafhankelijk: Moet werken met verschillende browsers en hulpsoftware</a:t>
            </a:r>
          </a:p>
          <a:p>
            <a:pPr lvl="1"/>
            <a:r>
              <a:rPr lang="nl-NL" sz="1200" kern="1200">
                <a:solidFill>
                  <a:schemeClr val="tx1"/>
                </a:solidFill>
                <a:effectLst/>
                <a:latin typeface="+mn-lt"/>
                <a:ea typeface="+mn-ea"/>
                <a:cs typeface="+mn-cs"/>
              </a:rPr>
              <a:t>Taal: duidelijke taalgebruik </a:t>
            </a:r>
          </a:p>
          <a:p>
            <a:pPr lvl="1"/>
            <a:r>
              <a:rPr lang="nl-NL" sz="1200" kern="1200">
                <a:solidFill>
                  <a:schemeClr val="tx1"/>
                </a:solidFill>
                <a:effectLst/>
                <a:latin typeface="+mn-lt"/>
                <a:ea typeface="+mn-ea"/>
                <a:cs typeface="+mn-cs"/>
              </a:rPr>
              <a:t>Locatie: Geen geografische beperkingen</a:t>
            </a:r>
          </a:p>
          <a:p>
            <a:pPr lvl="1"/>
            <a:r>
              <a:rPr lang="nl-NL" sz="1200" kern="1200">
                <a:solidFill>
                  <a:schemeClr val="tx1"/>
                </a:solidFill>
                <a:effectLst/>
                <a:latin typeface="+mn-lt"/>
                <a:ea typeface="+mn-ea"/>
                <a:cs typeface="+mn-cs"/>
              </a:rPr>
              <a:t>Vaardigheden: Voor mensen met verschillende digitale vaardigheden en cognitieve capaciteiten</a:t>
            </a:r>
          </a:p>
          <a:p>
            <a:pPr lvl="0"/>
            <a:r>
              <a:rPr lang="nl-NL" sz="1200" kern="1200">
                <a:solidFill>
                  <a:schemeClr val="tx1"/>
                </a:solidFill>
                <a:effectLst/>
                <a:latin typeface="+mn-lt"/>
                <a:ea typeface="+mn-ea"/>
                <a:cs typeface="+mn-cs"/>
              </a:rPr>
              <a:t>Kernpunt: Het gaat om het wegnemen van barrières die mensen tegenhouden</a:t>
            </a:r>
          </a:p>
          <a:p>
            <a:endParaRPr lang="nl-NL"/>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4</a:t>
            </a:fld>
            <a:endParaRPr lang="nl-NL"/>
          </a:p>
        </p:txBody>
      </p:sp>
    </p:spTree>
    <p:extLst>
      <p:ext uri="{BB962C8B-B14F-4D97-AF65-F5344CB8AC3E}">
        <p14:creationId xmlns:p14="http://schemas.microsoft.com/office/powerpoint/2010/main" val="324786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WCAG richtlijnen vormen de basis voor digitale toegankelijkheid</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5</a:t>
            </a:fld>
            <a:endParaRPr lang="nl-NL"/>
          </a:p>
        </p:txBody>
      </p:sp>
    </p:spTree>
    <p:extLst>
      <p:ext uri="{BB962C8B-B14F-4D97-AF65-F5344CB8AC3E}">
        <p14:creationId xmlns:p14="http://schemas.microsoft.com/office/powerpoint/2010/main" val="3406906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WCAG introduceren:</a:t>
            </a:r>
          </a:p>
          <a:p>
            <a:pPr lvl="1"/>
            <a:r>
              <a:rPr lang="nl-NL" sz="1200" kern="1200" dirty="0">
                <a:solidFill>
                  <a:schemeClr val="tx1"/>
                </a:solidFill>
                <a:effectLst/>
                <a:latin typeface="+mn-lt"/>
                <a:ea typeface="+mn-ea"/>
                <a:cs typeface="+mn-cs"/>
              </a:rPr>
              <a:t>Voluit: Web Content Accessibility </a:t>
            </a:r>
            <a:r>
              <a:rPr lang="nl-NL" sz="1200" kern="1200" dirty="0" err="1">
                <a:solidFill>
                  <a:schemeClr val="tx1"/>
                </a:solidFill>
                <a:effectLst/>
                <a:latin typeface="+mn-lt"/>
                <a:ea typeface="+mn-ea"/>
                <a:cs typeface="+mn-cs"/>
              </a:rPr>
              <a:t>Guidelines</a:t>
            </a:r>
            <a:endParaRPr lang="nl-NL" sz="1200" kern="1200" dirty="0">
              <a:solidFill>
                <a:schemeClr val="tx1"/>
              </a:solidFill>
              <a:effectLst/>
              <a:latin typeface="+mn-lt"/>
              <a:ea typeface="+mn-ea"/>
              <a:cs typeface="+mn-cs"/>
            </a:endParaRPr>
          </a:p>
          <a:p>
            <a:pPr lvl="1"/>
            <a:r>
              <a:rPr lang="nl-NL" sz="1200" kern="1200" dirty="0">
                <a:solidFill>
                  <a:schemeClr val="tx1"/>
                </a:solidFill>
                <a:effectLst/>
                <a:latin typeface="+mn-lt"/>
                <a:ea typeface="+mn-ea"/>
                <a:cs typeface="+mn-cs"/>
              </a:rPr>
              <a:t>Internationale standaard: Wereldwijd erkend</a:t>
            </a:r>
          </a:p>
          <a:p>
            <a:pPr lvl="1"/>
            <a:r>
              <a:rPr lang="nl-NL" sz="1200" kern="1200" dirty="0">
                <a:solidFill>
                  <a:schemeClr val="tx1"/>
                </a:solidFill>
                <a:effectLst/>
                <a:latin typeface="+mn-lt"/>
                <a:ea typeface="+mn-ea"/>
                <a:cs typeface="+mn-cs"/>
              </a:rPr>
              <a:t>Ontwikkeld door W3C: World Wide Web Consortium - de organisatie die </a:t>
            </a:r>
            <a:r>
              <a:rPr lang="nl-NL" sz="1200" kern="1200" dirty="0" err="1">
                <a:solidFill>
                  <a:schemeClr val="tx1"/>
                </a:solidFill>
                <a:effectLst/>
                <a:latin typeface="+mn-lt"/>
                <a:ea typeface="+mn-ea"/>
                <a:cs typeface="+mn-cs"/>
              </a:rPr>
              <a:t>webstandaarden</a:t>
            </a:r>
            <a:r>
              <a:rPr lang="nl-NL" sz="1200" kern="1200" dirty="0">
                <a:solidFill>
                  <a:schemeClr val="tx1"/>
                </a:solidFill>
                <a:effectLst/>
                <a:latin typeface="+mn-lt"/>
                <a:ea typeface="+mn-ea"/>
                <a:cs typeface="+mn-cs"/>
              </a:rPr>
              <a:t> beheert</a:t>
            </a:r>
          </a:p>
          <a:p>
            <a:pPr lvl="1"/>
            <a:r>
              <a:rPr lang="nl-NL" sz="1200" kern="1200" dirty="0">
                <a:solidFill>
                  <a:schemeClr val="tx1"/>
                </a:solidFill>
                <a:effectLst/>
                <a:latin typeface="+mn-lt"/>
                <a:ea typeface="+mn-ea"/>
                <a:cs typeface="+mn-cs"/>
              </a:rPr>
              <a:t>Opgenomen in wet- en regelgeving: Wereldwijd, inclusief Nederlandse en Europese wetgeving</a:t>
            </a:r>
          </a:p>
          <a:p>
            <a:r>
              <a:rPr lang="nl-NL" sz="1200" kern="1200" dirty="0">
                <a:solidFill>
                  <a:schemeClr val="tx1"/>
                </a:solidFill>
                <a:effectLst/>
                <a:latin typeface="+mn-lt"/>
                <a:ea typeface="+mn-ea"/>
                <a:cs typeface="+mn-cs"/>
              </a:rPr>
              <a:t>Context:</a:t>
            </a:r>
          </a:p>
          <a:p>
            <a:pPr lvl="1"/>
            <a:r>
              <a:rPr lang="nl-NL" sz="1200" kern="1200" dirty="0">
                <a:solidFill>
                  <a:schemeClr val="tx1"/>
                </a:solidFill>
                <a:effectLst/>
                <a:latin typeface="+mn-lt"/>
                <a:ea typeface="+mn-ea"/>
                <a:cs typeface="+mn-cs"/>
              </a:rPr>
              <a:t>WCAG is niet "zomaar een advies" maar dé internationale standaard</a:t>
            </a:r>
          </a:p>
          <a:p>
            <a:pPr lvl="1"/>
            <a:r>
              <a:rPr lang="nl-NL" sz="1200" kern="1200" dirty="0">
                <a:solidFill>
                  <a:schemeClr val="tx1"/>
                </a:solidFill>
                <a:effectLst/>
                <a:latin typeface="+mn-lt"/>
                <a:ea typeface="+mn-ea"/>
                <a:cs typeface="+mn-cs"/>
              </a:rPr>
              <a:t>Versies: WCAG 2.0 (2008), WCAG 2.1 (2018), WCAG 2.2 (2023)</a:t>
            </a:r>
          </a:p>
          <a:p>
            <a:pPr lvl="1"/>
            <a:r>
              <a:rPr lang="nl-NL" sz="1200" kern="1200" dirty="0">
                <a:solidFill>
                  <a:schemeClr val="tx1"/>
                </a:solidFill>
                <a:effectLst/>
                <a:latin typeface="+mn-lt"/>
                <a:ea typeface="+mn-ea"/>
                <a:cs typeface="+mn-cs"/>
              </a:rPr>
              <a:t>Nederlandse wetgeving verwijst naar WCAG 2.1 niveau AA</a:t>
            </a:r>
          </a:p>
          <a:p>
            <a:pPr lvl="1"/>
            <a:r>
              <a:rPr lang="nl-NL" sz="1200" kern="1200" dirty="0">
                <a:solidFill>
                  <a:schemeClr val="tx1"/>
                </a:solidFill>
                <a:effectLst/>
                <a:latin typeface="+mn-lt"/>
                <a:ea typeface="+mn-ea"/>
                <a:cs typeface="+mn-cs"/>
              </a:rPr>
              <a:t>Stichting Accessibility heeft alle versies naar het Nederlands vertaald</a:t>
            </a:r>
          </a:p>
          <a:p>
            <a:r>
              <a:rPr lang="nl-NL" sz="1200" kern="1200" dirty="0">
                <a:solidFill>
                  <a:schemeClr val="tx1"/>
                </a:solidFill>
                <a:effectLst/>
                <a:latin typeface="+mn-lt"/>
                <a:ea typeface="+mn-ea"/>
                <a:cs typeface="+mn-cs"/>
              </a:rPr>
              <a:t>Belangrijk: WCAG klinkt misschien technisch, maar is goed gestructureerd en logisch opgebouwd (komt zo)</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6</a:t>
            </a:fld>
            <a:endParaRPr lang="nl-NL"/>
          </a:p>
        </p:txBody>
      </p:sp>
    </p:spTree>
    <p:extLst>
      <p:ext uri="{BB962C8B-B14F-4D97-AF65-F5344CB8AC3E}">
        <p14:creationId xmlns:p14="http://schemas.microsoft.com/office/powerpoint/2010/main" val="1092975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Vier hoofdprincipes van WCAG:</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Waarneembaar (</a:t>
            </a:r>
            <a:r>
              <a:rPr lang="nl-NL" sz="1200" kern="1200" dirty="0" err="1">
                <a:solidFill>
                  <a:schemeClr val="tx1"/>
                </a:solidFill>
                <a:effectLst/>
                <a:latin typeface="+mn-lt"/>
                <a:ea typeface="+mn-ea"/>
                <a:cs typeface="+mn-cs"/>
              </a:rPr>
              <a:t>Perceivable</a:t>
            </a:r>
            <a:r>
              <a:rPr lang="nl-NL" sz="1200" kern="1200" dirty="0">
                <a:solidFill>
                  <a:schemeClr val="tx1"/>
                </a:solidFill>
                <a:effectLst/>
                <a:latin typeface="+mn-lt"/>
                <a:ea typeface="+mn-ea"/>
                <a:cs typeface="+mn-cs"/>
              </a:rPr>
              <a:t>)</a:t>
            </a:r>
          </a:p>
          <a:p>
            <a:pPr lvl="1"/>
            <a:r>
              <a:rPr lang="nl-NL" sz="1200" b="0" i="0" kern="1200" dirty="0">
                <a:solidFill>
                  <a:schemeClr val="tx1"/>
                </a:solidFill>
                <a:effectLst/>
                <a:latin typeface="+mn-lt"/>
                <a:ea typeface="+mn-ea"/>
                <a:cs typeface="+mn-cs"/>
              </a:rPr>
              <a:t>Informatie en componenten van de gebruikersinterface moeten toonbaar zijn aan gebruikers op voor hen waarneembare wijze. </a:t>
            </a:r>
          </a:p>
          <a:p>
            <a:pPr lvl="1"/>
            <a:r>
              <a:rPr lang="nl-NL" sz="1200" kern="1200" dirty="0">
                <a:solidFill>
                  <a:schemeClr val="tx1"/>
                </a:solidFill>
                <a:effectLst/>
                <a:latin typeface="+mn-lt"/>
                <a:ea typeface="+mn-ea"/>
                <a:cs typeface="+mn-cs"/>
              </a:rPr>
              <a:t>Niet alleen visueel, maar ook via gehoor of tast. Zoals tekstalternatieven voor afbeeldingen of </a:t>
            </a:r>
            <a:r>
              <a:rPr lang="nl-NL" sz="1200" b="0" i="0" kern="1200" dirty="0">
                <a:solidFill>
                  <a:schemeClr val="tx1"/>
                </a:solidFill>
                <a:effectLst/>
                <a:latin typeface="+mn-lt"/>
                <a:ea typeface="+mn-ea"/>
                <a:cs typeface="+mn-cs"/>
              </a:rPr>
              <a:t>ondertitels in films.</a:t>
            </a:r>
          </a:p>
          <a:p>
            <a:pPr lvl="2"/>
            <a:endParaRPr lang="nl-NL" sz="1200" b="0" i="0" kern="1200" dirty="0">
              <a:solidFill>
                <a:schemeClr val="tx1"/>
              </a:solidFill>
              <a:effectLst/>
              <a:latin typeface="+mn-lt"/>
              <a:ea typeface="+mn-ea"/>
              <a:cs typeface="+mn-cs"/>
            </a:endParaRPr>
          </a:p>
          <a:p>
            <a:pPr lvl="0" algn="l"/>
            <a:r>
              <a:rPr lang="nl-NL" sz="1200" kern="1200" dirty="0">
                <a:solidFill>
                  <a:schemeClr val="tx1"/>
                </a:solidFill>
                <a:effectLst/>
                <a:latin typeface="+mn-lt"/>
                <a:ea typeface="+mn-ea"/>
                <a:cs typeface="+mn-cs"/>
              </a:rPr>
              <a:t>Bedienbaar (</a:t>
            </a:r>
            <a:r>
              <a:rPr lang="nl-NL" sz="1200" kern="1200" dirty="0" err="1">
                <a:solidFill>
                  <a:schemeClr val="tx1"/>
                </a:solidFill>
                <a:effectLst/>
                <a:latin typeface="+mn-lt"/>
                <a:ea typeface="+mn-ea"/>
                <a:cs typeface="+mn-cs"/>
              </a:rPr>
              <a:t>Operable</a:t>
            </a:r>
            <a:r>
              <a:rPr lang="nl-NL" sz="1200" kern="1200" dirty="0">
                <a:solidFill>
                  <a:schemeClr val="tx1"/>
                </a:solidFill>
                <a:effectLst/>
                <a:latin typeface="+mn-lt"/>
                <a:ea typeface="+mn-ea"/>
                <a:cs typeface="+mn-cs"/>
              </a:rPr>
              <a:t>)</a:t>
            </a:r>
          </a:p>
          <a:p>
            <a:pPr lvl="1"/>
            <a:r>
              <a:rPr lang="nl-NL" sz="1200" b="0" i="0" kern="1200" dirty="0">
                <a:solidFill>
                  <a:schemeClr val="tx1"/>
                </a:solidFill>
                <a:effectLst/>
                <a:latin typeface="+mn-lt"/>
                <a:ea typeface="+mn-ea"/>
                <a:cs typeface="+mn-cs"/>
              </a:rPr>
              <a:t>Componenten van de gebruikersinterface en navigatie moeten bedienbaar zijn.</a:t>
            </a:r>
          </a:p>
          <a:p>
            <a:pPr lvl="1"/>
            <a:r>
              <a:rPr lang="nl-NL" sz="1200" kern="1200" dirty="0">
                <a:solidFill>
                  <a:schemeClr val="tx1"/>
                </a:solidFill>
                <a:effectLst/>
                <a:latin typeface="+mn-lt"/>
                <a:ea typeface="+mn-ea"/>
                <a:cs typeface="+mn-cs"/>
              </a:rPr>
              <a:t>Met muis, toetsenbord, spraak, of andere invoermethoden</a:t>
            </a:r>
          </a:p>
          <a:p>
            <a:pPr lvl="1"/>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Begrijpelijk (</a:t>
            </a:r>
            <a:r>
              <a:rPr lang="nl-NL" sz="1200" kern="1200" dirty="0" err="1">
                <a:solidFill>
                  <a:schemeClr val="tx1"/>
                </a:solidFill>
                <a:effectLst/>
                <a:latin typeface="+mn-lt"/>
                <a:ea typeface="+mn-ea"/>
                <a:cs typeface="+mn-cs"/>
              </a:rPr>
              <a:t>Understandable</a:t>
            </a:r>
            <a:r>
              <a:rPr lang="nl-NL" sz="1200" kern="1200" dirty="0">
                <a:solidFill>
                  <a:schemeClr val="tx1"/>
                </a:solidFill>
                <a:effectLst/>
                <a:latin typeface="+mn-lt"/>
                <a:ea typeface="+mn-ea"/>
                <a:cs typeface="+mn-cs"/>
              </a:rPr>
              <a:t>)</a:t>
            </a:r>
          </a:p>
          <a:p>
            <a:pPr lvl="1"/>
            <a:r>
              <a:rPr lang="nl-NL" sz="1200" b="0" i="0" kern="1200" dirty="0">
                <a:solidFill>
                  <a:schemeClr val="tx1"/>
                </a:solidFill>
                <a:effectLst/>
                <a:latin typeface="+mn-lt"/>
                <a:ea typeface="+mn-ea"/>
                <a:cs typeface="+mn-cs"/>
              </a:rPr>
              <a:t>Informatie en de bediening van de gebruikersinterface moeten begrijpelijk zijn.</a:t>
            </a:r>
            <a:endParaRPr lang="nl-NL" sz="1200" kern="1200" dirty="0">
              <a:solidFill>
                <a:schemeClr val="tx1"/>
              </a:solidFill>
              <a:effectLst/>
              <a:latin typeface="+mn-lt"/>
              <a:ea typeface="+mn-ea"/>
              <a:cs typeface="+mn-cs"/>
            </a:endParaRPr>
          </a:p>
          <a:p>
            <a:pPr lvl="1"/>
            <a:r>
              <a:rPr lang="nl-NL" sz="1200" kern="1200" dirty="0">
                <a:solidFill>
                  <a:schemeClr val="tx1"/>
                </a:solidFill>
                <a:effectLst/>
                <a:latin typeface="+mn-lt"/>
                <a:ea typeface="+mn-ea"/>
                <a:cs typeface="+mn-cs"/>
              </a:rPr>
              <a:t>Duidelijke taal, voorspelbaar gedrag</a:t>
            </a:r>
          </a:p>
          <a:p>
            <a:pPr lvl="1"/>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Robuust (</a:t>
            </a:r>
            <a:r>
              <a:rPr lang="nl-NL" sz="1200" kern="1200" dirty="0" err="1">
                <a:solidFill>
                  <a:schemeClr val="tx1"/>
                </a:solidFill>
                <a:effectLst/>
                <a:latin typeface="+mn-lt"/>
                <a:ea typeface="+mn-ea"/>
                <a:cs typeface="+mn-cs"/>
              </a:rPr>
              <a:t>Robust</a:t>
            </a:r>
            <a:r>
              <a:rPr lang="nl-NL" sz="1200" kern="1200" dirty="0">
                <a:solidFill>
                  <a:schemeClr val="tx1"/>
                </a:solidFill>
                <a:effectLst/>
                <a:latin typeface="+mn-lt"/>
                <a:ea typeface="+mn-ea"/>
                <a:cs typeface="+mn-cs"/>
              </a:rPr>
              <a:t>)</a:t>
            </a:r>
          </a:p>
          <a:p>
            <a:pPr lvl="1"/>
            <a:r>
              <a:rPr lang="nl-NL" sz="1200" b="0" i="0" kern="1200" dirty="0">
                <a:solidFill>
                  <a:schemeClr val="tx1"/>
                </a:solidFill>
                <a:effectLst/>
                <a:latin typeface="+mn-lt"/>
                <a:ea typeface="+mn-ea"/>
                <a:cs typeface="+mn-cs"/>
              </a:rPr>
              <a:t>Content moet voldoende robuust zijn om betrouwbaar geïnterpreteerd te kunnen worden door een breed scala van user </a:t>
            </a:r>
            <a:r>
              <a:rPr lang="nl-NL" sz="1200" b="0" i="0" kern="1200" dirty="0" err="1">
                <a:solidFill>
                  <a:schemeClr val="tx1"/>
                </a:solidFill>
                <a:effectLst/>
                <a:latin typeface="+mn-lt"/>
                <a:ea typeface="+mn-ea"/>
                <a:cs typeface="+mn-cs"/>
              </a:rPr>
              <a:t>agents</a:t>
            </a:r>
            <a:r>
              <a:rPr lang="nl-NL" sz="1200" b="0" i="0" kern="1200" dirty="0">
                <a:solidFill>
                  <a:schemeClr val="tx1"/>
                </a:solidFill>
                <a:effectLst/>
                <a:latin typeface="+mn-lt"/>
                <a:ea typeface="+mn-ea"/>
                <a:cs typeface="+mn-cs"/>
              </a:rPr>
              <a:t>, met inbegrip van hulptechnologieën.</a:t>
            </a:r>
            <a:endParaRPr lang="nl-NL" sz="1200" kern="1200" dirty="0">
              <a:solidFill>
                <a:schemeClr val="tx1"/>
              </a:solidFill>
              <a:effectLst/>
              <a:latin typeface="+mn-lt"/>
              <a:ea typeface="+mn-ea"/>
              <a:cs typeface="+mn-cs"/>
            </a:endParaRPr>
          </a:p>
          <a:p>
            <a:pPr lvl="1"/>
            <a:r>
              <a:rPr lang="nl-NL" sz="1200" kern="1200" dirty="0">
                <a:solidFill>
                  <a:schemeClr val="tx1"/>
                </a:solidFill>
                <a:effectLst/>
                <a:latin typeface="+mn-lt"/>
                <a:ea typeface="+mn-ea"/>
                <a:cs typeface="+mn-cs"/>
              </a:rPr>
              <a:t>Ook met toekomstige technologieën</a:t>
            </a:r>
          </a:p>
          <a:p>
            <a:pPr lvl="2"/>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Belangrijkste boodschap: Deze vier principes dekken alle aspecten van toegankelijkheid</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7</a:t>
            </a:fld>
            <a:endParaRPr lang="nl-NL"/>
          </a:p>
        </p:txBody>
      </p:sp>
    </p:spTree>
    <p:extLst>
      <p:ext uri="{BB962C8B-B14F-4D97-AF65-F5344CB8AC3E}">
        <p14:creationId xmlns:p14="http://schemas.microsoft.com/office/powerpoint/2010/main" val="2180941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Hiërarchische structuur uitleggen:</a:t>
            </a:r>
          </a:p>
          <a:p>
            <a:r>
              <a:rPr lang="nl-NL" sz="1200" kern="1200" dirty="0">
                <a:solidFill>
                  <a:schemeClr val="tx1"/>
                </a:solidFill>
                <a:effectLst/>
                <a:latin typeface="+mn-lt"/>
                <a:ea typeface="+mn-ea"/>
                <a:cs typeface="+mn-cs"/>
              </a:rPr>
              <a:t>Niveau 1: 4 Principes</a:t>
            </a:r>
          </a:p>
          <a:p>
            <a:pPr lvl="1"/>
            <a:r>
              <a:rPr lang="nl-NL" sz="1200" kern="1200" dirty="0">
                <a:solidFill>
                  <a:schemeClr val="tx1"/>
                </a:solidFill>
                <a:effectLst/>
                <a:latin typeface="+mn-lt"/>
                <a:ea typeface="+mn-ea"/>
                <a:cs typeface="+mn-cs"/>
              </a:rPr>
              <a:t>Waarneembaar, Bedienbaar, Begrijpelijk, Robuust</a:t>
            </a:r>
          </a:p>
          <a:p>
            <a:pPr lvl="1"/>
            <a:r>
              <a:rPr lang="nl-NL" sz="1200" kern="1200" dirty="0">
                <a:solidFill>
                  <a:schemeClr val="tx1"/>
                </a:solidFill>
                <a:effectLst/>
                <a:latin typeface="+mn-lt"/>
                <a:ea typeface="+mn-ea"/>
                <a:cs typeface="+mn-cs"/>
              </a:rPr>
              <a:t>De hoofdpijlers</a:t>
            </a:r>
          </a:p>
          <a:p>
            <a:r>
              <a:rPr lang="nl-NL" sz="1200" kern="1200" dirty="0">
                <a:solidFill>
                  <a:schemeClr val="tx1"/>
                </a:solidFill>
                <a:effectLst/>
                <a:latin typeface="+mn-lt"/>
                <a:ea typeface="+mn-ea"/>
                <a:cs typeface="+mn-cs"/>
              </a:rPr>
              <a:t>Niveau 2: 13 Richtlijnen</a:t>
            </a:r>
          </a:p>
          <a:p>
            <a:pPr lvl="1"/>
            <a:r>
              <a:rPr lang="nl-NL" sz="1200" kern="1200" dirty="0">
                <a:solidFill>
                  <a:schemeClr val="tx1"/>
                </a:solidFill>
                <a:effectLst/>
                <a:latin typeface="+mn-lt"/>
                <a:ea typeface="+mn-ea"/>
                <a:cs typeface="+mn-cs"/>
              </a:rPr>
              <a:t>Onder elk principe vallen meerdere richtlijnen</a:t>
            </a:r>
          </a:p>
          <a:p>
            <a:pPr lvl="1"/>
            <a:r>
              <a:rPr lang="nl-NL" sz="1200" kern="1200" dirty="0">
                <a:solidFill>
                  <a:schemeClr val="tx1"/>
                </a:solidFill>
                <a:effectLst/>
                <a:latin typeface="+mn-lt"/>
                <a:ea typeface="+mn-ea"/>
                <a:cs typeface="+mn-cs"/>
              </a:rPr>
              <a:t>Algemene doelen die nagestreefd moeten worden</a:t>
            </a:r>
          </a:p>
          <a:p>
            <a:r>
              <a:rPr lang="nl-NL" sz="1200" kern="1200" dirty="0">
                <a:solidFill>
                  <a:schemeClr val="tx1"/>
                </a:solidFill>
                <a:effectLst/>
                <a:latin typeface="+mn-lt"/>
                <a:ea typeface="+mn-ea"/>
                <a:cs typeface="+mn-cs"/>
              </a:rPr>
              <a:t>Niveau 3: 86 Succescriteria</a:t>
            </a:r>
          </a:p>
          <a:p>
            <a:pPr lvl="1"/>
            <a:r>
              <a:rPr lang="nl-NL" sz="1200" kern="1200" dirty="0">
                <a:solidFill>
                  <a:schemeClr val="tx1"/>
                </a:solidFill>
                <a:effectLst/>
                <a:latin typeface="+mn-lt"/>
                <a:ea typeface="+mn-ea"/>
                <a:cs typeface="+mn-cs"/>
              </a:rPr>
              <a:t>Testbare eisen</a:t>
            </a:r>
          </a:p>
          <a:p>
            <a:pPr lvl="1"/>
            <a:r>
              <a:rPr lang="nl-NL" sz="1200" kern="1200" dirty="0">
                <a:solidFill>
                  <a:schemeClr val="tx1"/>
                </a:solidFill>
                <a:effectLst/>
                <a:latin typeface="+mn-lt"/>
                <a:ea typeface="+mn-ea"/>
                <a:cs typeface="+mn-cs"/>
              </a:rPr>
              <a:t>Verdeeld over drie niveaus:</a:t>
            </a:r>
          </a:p>
          <a:p>
            <a:pPr lvl="2"/>
            <a:r>
              <a:rPr lang="nl-NL" sz="1200" kern="1200" dirty="0">
                <a:solidFill>
                  <a:schemeClr val="tx1"/>
                </a:solidFill>
                <a:effectLst/>
                <a:latin typeface="+mn-lt"/>
                <a:ea typeface="+mn-ea"/>
                <a:cs typeface="+mn-cs"/>
              </a:rPr>
              <a:t>A (31 criteria): Minimaal niveau</a:t>
            </a:r>
          </a:p>
          <a:p>
            <a:pPr lvl="2"/>
            <a:r>
              <a:rPr lang="nl-NL" sz="1200" kern="1200" dirty="0">
                <a:solidFill>
                  <a:schemeClr val="tx1"/>
                </a:solidFill>
                <a:effectLst/>
                <a:latin typeface="+mn-lt"/>
                <a:ea typeface="+mn-ea"/>
                <a:cs typeface="+mn-cs"/>
              </a:rPr>
              <a:t>AA (24 criteria): Gemiddeld niveau (wettelijke eis in NL)</a:t>
            </a:r>
          </a:p>
          <a:p>
            <a:pPr lvl="2"/>
            <a:r>
              <a:rPr lang="nl-NL" sz="1200" kern="1200" dirty="0">
                <a:solidFill>
                  <a:schemeClr val="tx1"/>
                </a:solidFill>
                <a:effectLst/>
                <a:latin typeface="+mn-lt"/>
                <a:ea typeface="+mn-ea"/>
                <a:cs typeface="+mn-cs"/>
              </a:rPr>
              <a:t>AAA (31 criteria): Hoogste niveau</a:t>
            </a:r>
          </a:p>
          <a:p>
            <a:pPr lvl="1"/>
            <a:r>
              <a:rPr lang="nl-NL" sz="1200" kern="1200" dirty="0">
                <a:solidFill>
                  <a:schemeClr val="tx1"/>
                </a:solidFill>
                <a:effectLst/>
                <a:latin typeface="+mn-lt"/>
                <a:ea typeface="+mn-ea"/>
                <a:cs typeface="+mn-cs"/>
              </a:rPr>
              <a:t>"Wetgeving NL" wijst naar A en AA (= 55 criteria)</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Belangrijk:</a:t>
            </a:r>
          </a:p>
          <a:p>
            <a:pPr lvl="1"/>
            <a:r>
              <a:rPr lang="nl-NL" sz="1200" kern="1200" dirty="0">
                <a:solidFill>
                  <a:schemeClr val="tx1"/>
                </a:solidFill>
                <a:effectLst/>
                <a:latin typeface="+mn-lt"/>
                <a:ea typeface="+mn-ea"/>
                <a:cs typeface="+mn-cs"/>
              </a:rPr>
              <a:t>Niveau AA is de wettelijke eis in Nederland</a:t>
            </a:r>
          </a:p>
          <a:p>
            <a:pPr lvl="1"/>
            <a:r>
              <a:rPr lang="nl-NL" sz="1200" kern="1200" dirty="0">
                <a:solidFill>
                  <a:schemeClr val="tx1"/>
                </a:solidFill>
                <a:effectLst/>
                <a:latin typeface="+mn-lt"/>
                <a:ea typeface="+mn-ea"/>
                <a:cs typeface="+mn-cs"/>
              </a:rPr>
              <a:t>Je hoeft niet alle 86 criteria te kennen, maar wel de principes en hoofdrichtlijnen</a:t>
            </a:r>
          </a:p>
          <a:p>
            <a:pPr lvl="1"/>
            <a:r>
              <a:rPr lang="nl-NL" sz="1200" kern="1200" dirty="0">
                <a:solidFill>
                  <a:schemeClr val="tx1"/>
                </a:solidFill>
                <a:effectLst/>
                <a:latin typeface="+mn-lt"/>
                <a:ea typeface="+mn-ea"/>
                <a:cs typeface="+mn-cs"/>
              </a:rPr>
              <a:t>De structuur helpt om systematisch naar toegankelijkheid te kijken</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Uitleg van de 13 richtlijnen</a:t>
            </a:r>
          </a:p>
          <a:p>
            <a:r>
              <a:rPr lang="nl-NL" sz="1200" kern="1200" dirty="0">
                <a:solidFill>
                  <a:schemeClr val="tx1"/>
                </a:solidFill>
                <a:effectLst/>
                <a:latin typeface="+mn-lt"/>
                <a:ea typeface="+mn-ea"/>
                <a:cs typeface="+mn-cs"/>
              </a:rPr>
              <a:t>1. Waarneembaar</a:t>
            </a:r>
          </a:p>
          <a:p>
            <a:pPr lvl="1"/>
            <a:r>
              <a:rPr lang="nl-NL" sz="1200" kern="1200" dirty="0">
                <a:solidFill>
                  <a:schemeClr val="tx1"/>
                </a:solidFill>
                <a:effectLst/>
                <a:latin typeface="+mn-lt"/>
                <a:ea typeface="+mn-ea"/>
                <a:cs typeface="+mn-cs"/>
              </a:rPr>
              <a:t>1.1 Tekstalternatieven: Bied alternatieven voor non-tekstuele content (bijv. alt-tekst voor afbeeldingen)</a:t>
            </a:r>
          </a:p>
          <a:p>
            <a:pPr lvl="1"/>
            <a:r>
              <a:rPr lang="nl-NL" sz="1200" kern="1200" dirty="0">
                <a:solidFill>
                  <a:schemeClr val="tx1"/>
                </a:solidFill>
                <a:effectLst/>
                <a:latin typeface="+mn-lt"/>
                <a:ea typeface="+mn-ea"/>
                <a:cs typeface="+mn-cs"/>
              </a:rPr>
              <a:t>1.2 Op tijd gebaseerde media: Bied alternatieven voor video en audio (ondertiteling, transcripties)</a:t>
            </a:r>
          </a:p>
          <a:p>
            <a:pPr lvl="1"/>
            <a:r>
              <a:rPr lang="nl-NL" sz="1200" kern="1200" dirty="0">
                <a:solidFill>
                  <a:schemeClr val="tx1"/>
                </a:solidFill>
                <a:effectLst/>
                <a:latin typeface="+mn-lt"/>
                <a:ea typeface="+mn-ea"/>
                <a:cs typeface="+mn-cs"/>
              </a:rPr>
              <a:t>1.3 Aanpasbaar: Content kan op verschillende manieren worden gepresenteerd zonder informatieverlies</a:t>
            </a:r>
          </a:p>
          <a:p>
            <a:pPr lvl="1"/>
            <a:r>
              <a:rPr lang="nl-NL" sz="1200" kern="1200" dirty="0">
                <a:solidFill>
                  <a:schemeClr val="tx1"/>
                </a:solidFill>
                <a:effectLst/>
                <a:latin typeface="+mn-lt"/>
                <a:ea typeface="+mn-ea"/>
                <a:cs typeface="+mn-cs"/>
              </a:rPr>
              <a:t>1.4 Onderscheidbaar: Maak het gebruikers gemakkelijker om content te zien en horen (contrast, tekst-</a:t>
            </a:r>
            <a:r>
              <a:rPr lang="nl-NL" sz="1200" kern="1200" dirty="0" err="1">
                <a:solidFill>
                  <a:schemeClr val="tx1"/>
                </a:solidFill>
                <a:effectLst/>
                <a:latin typeface="+mn-lt"/>
                <a:ea typeface="+mn-ea"/>
                <a:cs typeface="+mn-cs"/>
              </a:rPr>
              <a:t>resizing</a:t>
            </a:r>
            <a:r>
              <a:rPr lang="nl-NL" sz="1200" kern="1200" dirty="0">
                <a:solidFill>
                  <a:schemeClr val="tx1"/>
                </a:solidFill>
                <a:effectLst/>
                <a:latin typeface="+mn-lt"/>
                <a:ea typeface="+mn-ea"/>
                <a:cs typeface="+mn-cs"/>
              </a:rPr>
              <a:t>)</a:t>
            </a:r>
          </a:p>
          <a:p>
            <a:r>
              <a:rPr lang="nl-NL" sz="1200" kern="1200" dirty="0">
                <a:solidFill>
                  <a:schemeClr val="tx1"/>
                </a:solidFill>
                <a:effectLst/>
                <a:latin typeface="+mn-lt"/>
                <a:ea typeface="+mn-ea"/>
                <a:cs typeface="+mn-cs"/>
              </a:rPr>
              <a:t>2. Bedienbaar</a:t>
            </a:r>
          </a:p>
          <a:p>
            <a:pPr lvl="1"/>
            <a:r>
              <a:rPr lang="nl-NL" sz="1200" kern="1200" dirty="0">
                <a:solidFill>
                  <a:schemeClr val="tx1"/>
                </a:solidFill>
                <a:effectLst/>
                <a:latin typeface="+mn-lt"/>
                <a:ea typeface="+mn-ea"/>
                <a:cs typeface="+mn-cs"/>
              </a:rPr>
              <a:t>2.1 Toetsenbordtoegankelijk: Alle functionaliteit is beschikbaar via toetsenbord</a:t>
            </a:r>
          </a:p>
          <a:p>
            <a:pPr lvl="1"/>
            <a:r>
              <a:rPr lang="nl-NL" sz="1200" kern="1200" dirty="0">
                <a:solidFill>
                  <a:schemeClr val="tx1"/>
                </a:solidFill>
                <a:effectLst/>
                <a:latin typeface="+mn-lt"/>
                <a:ea typeface="+mn-ea"/>
                <a:cs typeface="+mn-cs"/>
              </a:rPr>
              <a:t>2.2 Voldoende tijd: Geef gebruikers genoeg tijd om content te lezen en te gebruiken</a:t>
            </a:r>
          </a:p>
          <a:p>
            <a:pPr lvl="1"/>
            <a:r>
              <a:rPr lang="nl-NL" sz="1200" kern="1200" dirty="0">
                <a:solidFill>
                  <a:schemeClr val="tx1"/>
                </a:solidFill>
                <a:effectLst/>
                <a:latin typeface="+mn-lt"/>
                <a:ea typeface="+mn-ea"/>
                <a:cs typeface="+mn-cs"/>
              </a:rPr>
              <a:t>2.3 Toevallen en fysieke reacties: Ontwerp content niet op een manier die toevallen kan veroorzaken (geen flitsende content)</a:t>
            </a:r>
          </a:p>
          <a:p>
            <a:pPr lvl="1"/>
            <a:r>
              <a:rPr lang="nl-NL" sz="1200" kern="1200" dirty="0">
                <a:solidFill>
                  <a:schemeClr val="tx1"/>
                </a:solidFill>
                <a:effectLst/>
                <a:latin typeface="+mn-lt"/>
                <a:ea typeface="+mn-ea"/>
                <a:cs typeface="+mn-cs"/>
              </a:rPr>
              <a:t>2.4 Navigeerbaar: Help gebruikers om te navigeren, content te vinden en te bepalen waar ze zijn</a:t>
            </a:r>
          </a:p>
          <a:p>
            <a:pPr lvl="1"/>
            <a:r>
              <a:rPr lang="nl-NL" sz="1200" kern="1200" dirty="0">
                <a:solidFill>
                  <a:schemeClr val="tx1"/>
                </a:solidFill>
                <a:effectLst/>
                <a:latin typeface="+mn-lt"/>
                <a:ea typeface="+mn-ea"/>
                <a:cs typeface="+mn-cs"/>
              </a:rPr>
              <a:t>2.5 Input modaliteiten: Maak het gemakkelijker voor gebruikers om functionaliteit te bedienen via verschillende </a:t>
            </a:r>
            <a:r>
              <a:rPr lang="nl-NL" sz="1200" kern="1200" dirty="0" err="1">
                <a:solidFill>
                  <a:schemeClr val="tx1"/>
                </a:solidFill>
                <a:effectLst/>
                <a:latin typeface="+mn-lt"/>
                <a:ea typeface="+mn-ea"/>
                <a:cs typeface="+mn-cs"/>
              </a:rPr>
              <a:t>inputs</a:t>
            </a:r>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3. Begrijpelijk</a:t>
            </a:r>
          </a:p>
          <a:p>
            <a:pPr lvl="1"/>
            <a:r>
              <a:rPr lang="nl-NL" sz="1200" kern="1200" dirty="0">
                <a:solidFill>
                  <a:schemeClr val="tx1"/>
                </a:solidFill>
                <a:effectLst/>
                <a:latin typeface="+mn-lt"/>
                <a:ea typeface="+mn-ea"/>
                <a:cs typeface="+mn-cs"/>
              </a:rPr>
              <a:t>3.1 Leesbaar: Maak tekstcontent leesbaar en begrijpelijk (taal instellen, uitleg van jargon)</a:t>
            </a:r>
          </a:p>
          <a:p>
            <a:pPr lvl="1"/>
            <a:r>
              <a:rPr lang="nl-NL" sz="1200" kern="1200" dirty="0">
                <a:solidFill>
                  <a:schemeClr val="tx1"/>
                </a:solidFill>
                <a:effectLst/>
                <a:latin typeface="+mn-lt"/>
                <a:ea typeface="+mn-ea"/>
                <a:cs typeface="+mn-cs"/>
              </a:rPr>
              <a:t>3.2 Voorspelbaar: Laat webpagina's op voorspelbare manieren verschijnen en functioneren</a:t>
            </a:r>
          </a:p>
          <a:p>
            <a:pPr lvl="1"/>
            <a:r>
              <a:rPr lang="nl-NL" sz="1200" kern="1200" dirty="0">
                <a:solidFill>
                  <a:schemeClr val="tx1"/>
                </a:solidFill>
                <a:effectLst/>
                <a:latin typeface="+mn-lt"/>
                <a:ea typeface="+mn-ea"/>
                <a:cs typeface="+mn-cs"/>
              </a:rPr>
              <a:t>3.3 Assistentie bij invoer: Help gebruikers om fouten te voorkomen en te corrigeren (duidelijke foutmeldingen, labels)</a:t>
            </a:r>
          </a:p>
          <a:p>
            <a:r>
              <a:rPr lang="nl-NL" sz="1200" kern="1200" dirty="0">
                <a:solidFill>
                  <a:schemeClr val="tx1"/>
                </a:solidFill>
                <a:effectLst/>
                <a:latin typeface="+mn-lt"/>
                <a:ea typeface="+mn-ea"/>
                <a:cs typeface="+mn-cs"/>
              </a:rPr>
              <a:t>4. Robuust</a:t>
            </a:r>
          </a:p>
          <a:p>
            <a:pPr lvl="1"/>
            <a:r>
              <a:rPr lang="nl-NL" sz="1200" kern="1200" dirty="0">
                <a:solidFill>
                  <a:schemeClr val="tx1"/>
                </a:solidFill>
                <a:effectLst/>
                <a:latin typeface="+mn-lt"/>
                <a:ea typeface="+mn-ea"/>
                <a:cs typeface="+mn-cs"/>
              </a:rPr>
              <a:t>4.1 Compatibel: Maximaliseer compatibiliteit met huidige en toekomstige gebruikersagenten, inclusief hulpmiddelen (correcte HTML, ARIA)</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8</a:t>
            </a:fld>
            <a:endParaRPr lang="nl-NL"/>
          </a:p>
        </p:txBody>
      </p:sp>
    </p:spTree>
    <p:extLst>
      <p:ext uri="{BB962C8B-B14F-4D97-AF65-F5344CB8AC3E}">
        <p14:creationId xmlns:p14="http://schemas.microsoft.com/office/powerpoint/2010/main" val="3502829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Praktische vertaling voor blinden en slechtzienden. Enkele voorbeelden van richtlijnen vertaald naar gebruikers met een visuele beperking. </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Bedienbaar - 2.1 Toetsenbordtoegankelijk – Toetsenbordbediening </a:t>
            </a:r>
          </a:p>
          <a:p>
            <a:r>
              <a:rPr lang="nl-NL" sz="1200" kern="1200" dirty="0">
                <a:solidFill>
                  <a:schemeClr val="tx1"/>
                </a:solidFill>
                <a:effectLst/>
                <a:latin typeface="+mn-lt"/>
                <a:ea typeface="+mn-ea"/>
                <a:cs typeface="+mn-cs"/>
              </a:rPr>
              <a:t>Richtlijn 2.1 Toetsenbord toegankelijkheid (onder principe bedienbaar) is van toepassing voor gebruikers met een visuele beperking. Zij maken geen gebruik van een muis, alleen van een </a:t>
            </a:r>
            <a:r>
              <a:rPr lang="nl-NL" sz="1200" kern="1200" dirty="0" err="1">
                <a:solidFill>
                  <a:schemeClr val="tx1"/>
                </a:solidFill>
                <a:effectLst/>
                <a:latin typeface="+mn-lt"/>
                <a:ea typeface="+mn-ea"/>
                <a:cs typeface="+mn-cs"/>
              </a:rPr>
              <a:t>toestsenbord</a:t>
            </a:r>
            <a:r>
              <a:rPr lang="nl-NL" sz="1200" kern="1200" dirty="0">
                <a:solidFill>
                  <a:schemeClr val="tx1"/>
                </a:solidFill>
                <a:effectLst/>
                <a:latin typeface="+mn-lt"/>
                <a:ea typeface="+mn-ea"/>
                <a:cs typeface="+mn-cs"/>
              </a:rPr>
              <a:t>.  Alle functionaliteit moet met toetsenbord bereikbaar zijn</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Waarneembaar - 1.4 Onderscheidbaar – maak het makkelijk voor gebruikers om functionaliteit te bedienen -- &gt; Schermvergroting </a:t>
            </a:r>
          </a:p>
          <a:p>
            <a:r>
              <a:rPr lang="nl-NL" sz="1200" kern="1200" dirty="0">
                <a:solidFill>
                  <a:schemeClr val="tx1"/>
                </a:solidFill>
                <a:effectLst/>
                <a:latin typeface="+mn-lt"/>
                <a:ea typeface="+mn-ea"/>
                <a:cs typeface="+mn-cs"/>
              </a:rPr>
              <a:t>Gebruikers met een visuele beperking, slecht zicht, vergroten vaak hun scherm om content te kunnen lezen. </a:t>
            </a:r>
          </a:p>
          <a:p>
            <a:pPr lvl="1"/>
            <a:r>
              <a:rPr lang="nl-NL" sz="1200" kern="1200" dirty="0">
                <a:solidFill>
                  <a:schemeClr val="tx1"/>
                </a:solidFill>
                <a:effectLst/>
                <a:latin typeface="+mn-lt"/>
                <a:ea typeface="+mn-ea"/>
                <a:cs typeface="+mn-cs"/>
              </a:rPr>
              <a:t>Schermvergroting</a:t>
            </a:r>
          </a:p>
          <a:p>
            <a:pPr marL="457200" marR="0" lvl="1"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Content moet vergroot kunnen worden zonder informatieverlies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Responsief design is belangrijk</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nl-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Waarneembaar - 1.4 Onderscheidbaar – Voldoende contrast</a:t>
            </a:r>
          </a:p>
          <a:p>
            <a:pPr lvl="1"/>
            <a:r>
              <a:rPr lang="nl-NL" sz="1200" kern="1200" dirty="0">
                <a:solidFill>
                  <a:schemeClr val="tx1"/>
                </a:solidFill>
                <a:effectLst/>
                <a:latin typeface="+mn-lt"/>
                <a:ea typeface="+mn-ea"/>
                <a:cs typeface="+mn-cs"/>
              </a:rPr>
              <a:t>Slechtzienden hebben voldoende contrast nodig</a:t>
            </a:r>
          </a:p>
          <a:p>
            <a:pPr lvl="1"/>
            <a:r>
              <a:rPr lang="nl-NL" sz="1200" kern="1200" dirty="0">
                <a:solidFill>
                  <a:schemeClr val="tx1"/>
                </a:solidFill>
                <a:effectLst/>
                <a:latin typeface="+mn-lt"/>
                <a:ea typeface="+mn-ea"/>
                <a:cs typeface="+mn-cs"/>
              </a:rPr>
              <a:t>Minimaal 4,5:1 contrast tussen tekst en achtergrond</a:t>
            </a:r>
          </a:p>
          <a:p>
            <a:pPr lvl="1"/>
            <a:r>
              <a:rPr lang="nl-NL" sz="1200" kern="1200" dirty="0">
                <a:solidFill>
                  <a:schemeClr val="tx1"/>
                </a:solidFill>
                <a:effectLst/>
                <a:latin typeface="+mn-lt"/>
                <a:ea typeface="+mn-ea"/>
                <a:cs typeface="+mn-cs"/>
              </a:rPr>
              <a:t>Cruciaal voor slechtzienden en mensen met kleurenblindheid</a:t>
            </a:r>
          </a:p>
          <a:p>
            <a:pPr lvl="1"/>
            <a:endParaRPr lang="nl-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Belangrijkste boodschap: Voor blinden en slechtzienden zijn toetsenbordtoegankelijkheid, vergroting en contrast essentieel</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9</a:t>
            </a:fld>
            <a:endParaRPr lang="nl-NL"/>
          </a:p>
        </p:txBody>
      </p:sp>
    </p:spTree>
    <p:extLst>
      <p:ext uri="{BB962C8B-B14F-4D97-AF65-F5344CB8AC3E}">
        <p14:creationId xmlns:p14="http://schemas.microsoft.com/office/powerpoint/2010/main" val="2232056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Praktische vertaling voor mensen met cognitieve beperkingen:</a:t>
            </a:r>
          </a:p>
          <a:p>
            <a:r>
              <a:rPr lang="nl-NL" sz="1200" kern="1200" dirty="0">
                <a:solidFill>
                  <a:schemeClr val="tx1"/>
                </a:solidFill>
                <a:effectLst/>
                <a:latin typeface="+mn-lt"/>
                <a:ea typeface="+mn-ea"/>
                <a:cs typeface="+mn-cs"/>
              </a:rPr>
              <a:t>Waarneembaar - 1.3 Aanpasbaar – Semantische structuur</a:t>
            </a:r>
          </a:p>
          <a:p>
            <a:pPr lvl="1"/>
            <a:r>
              <a:rPr lang="nl-NL" sz="1200" kern="1200" dirty="0">
                <a:solidFill>
                  <a:schemeClr val="tx1"/>
                </a:solidFill>
                <a:effectLst/>
                <a:latin typeface="+mn-lt"/>
                <a:ea typeface="+mn-ea"/>
                <a:cs typeface="+mn-cs"/>
              </a:rPr>
              <a:t>Gebruik correcte HTML-elementen (</a:t>
            </a:r>
            <a:r>
              <a:rPr lang="nl-NL" sz="1200" kern="1200" dirty="0" err="1">
                <a:solidFill>
                  <a:schemeClr val="tx1"/>
                </a:solidFill>
                <a:effectLst/>
                <a:latin typeface="+mn-lt"/>
                <a:ea typeface="+mn-ea"/>
                <a:cs typeface="+mn-cs"/>
              </a:rPr>
              <a:t>headings</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lists</a:t>
            </a:r>
            <a:r>
              <a:rPr lang="nl-NL" sz="1200" kern="1200" dirty="0">
                <a:solidFill>
                  <a:schemeClr val="tx1"/>
                </a:solidFill>
                <a:effectLst/>
                <a:latin typeface="+mn-lt"/>
                <a:ea typeface="+mn-ea"/>
                <a:cs typeface="+mn-cs"/>
              </a:rPr>
              <a:t>, etc.)</a:t>
            </a:r>
          </a:p>
          <a:p>
            <a:pPr lvl="1"/>
            <a:r>
              <a:rPr lang="nl-NL" sz="1200" kern="1200" dirty="0">
                <a:solidFill>
                  <a:schemeClr val="tx1"/>
                </a:solidFill>
                <a:effectLst/>
                <a:latin typeface="+mn-lt"/>
                <a:ea typeface="+mn-ea"/>
                <a:cs typeface="+mn-cs"/>
              </a:rPr>
              <a:t>Logische volgorde en hiërarchie</a:t>
            </a:r>
          </a:p>
          <a:p>
            <a:pPr lvl="1"/>
            <a:r>
              <a:rPr lang="nl-NL" sz="1200" kern="1200" dirty="0">
                <a:solidFill>
                  <a:schemeClr val="tx1"/>
                </a:solidFill>
                <a:effectLst/>
                <a:latin typeface="+mn-lt"/>
                <a:ea typeface="+mn-ea"/>
                <a:cs typeface="+mn-cs"/>
              </a:rPr>
              <a:t>Helpt om content te begrijpen en te scannen</a:t>
            </a:r>
          </a:p>
          <a:p>
            <a:r>
              <a:rPr lang="nl-NL" sz="1200" kern="1200" dirty="0">
                <a:solidFill>
                  <a:schemeClr val="tx1"/>
                </a:solidFill>
                <a:effectLst/>
                <a:latin typeface="+mn-lt"/>
                <a:ea typeface="+mn-ea"/>
                <a:cs typeface="+mn-cs"/>
              </a:rPr>
              <a:t>Bedienbaar - 2.4 Navigeerbaar – Duidelijke kopteksten </a:t>
            </a:r>
          </a:p>
          <a:p>
            <a:pPr lvl="1"/>
            <a:r>
              <a:rPr lang="nl-NL" sz="1200" kern="1200" dirty="0">
                <a:solidFill>
                  <a:schemeClr val="tx1"/>
                </a:solidFill>
                <a:effectLst/>
                <a:latin typeface="+mn-lt"/>
                <a:ea typeface="+mn-ea"/>
                <a:cs typeface="+mn-cs"/>
              </a:rPr>
              <a:t>Beschrijvende titels en koppen</a:t>
            </a:r>
          </a:p>
          <a:p>
            <a:pPr lvl="1"/>
            <a:r>
              <a:rPr lang="nl-NL" sz="1200" kern="1200" dirty="0" err="1">
                <a:solidFill>
                  <a:schemeClr val="tx1"/>
                </a:solidFill>
                <a:effectLst/>
                <a:latin typeface="+mn-lt"/>
                <a:ea typeface="+mn-ea"/>
                <a:cs typeface="+mn-cs"/>
              </a:rPr>
              <a:t>Breadcrumbs</a:t>
            </a:r>
            <a:r>
              <a:rPr lang="nl-NL" sz="1200" kern="1200" dirty="0">
                <a:solidFill>
                  <a:schemeClr val="tx1"/>
                </a:solidFill>
                <a:effectLst/>
                <a:latin typeface="+mn-lt"/>
                <a:ea typeface="+mn-ea"/>
                <a:cs typeface="+mn-cs"/>
              </a:rPr>
              <a:t> en duidelijke navigatie</a:t>
            </a:r>
          </a:p>
          <a:p>
            <a:pPr lvl="1"/>
            <a:r>
              <a:rPr lang="nl-NL" sz="1200" kern="1200" dirty="0">
                <a:solidFill>
                  <a:schemeClr val="tx1"/>
                </a:solidFill>
                <a:effectLst/>
                <a:latin typeface="+mn-lt"/>
                <a:ea typeface="+mn-ea"/>
                <a:cs typeface="+mn-cs"/>
              </a:rPr>
              <a:t>Helpt om overzicht te houden</a:t>
            </a:r>
          </a:p>
          <a:p>
            <a:r>
              <a:rPr lang="nl-NL" sz="1200" b="0" i="0" kern="1200" dirty="0">
                <a:solidFill>
                  <a:schemeClr val="tx1"/>
                </a:solidFill>
                <a:effectLst/>
                <a:latin typeface="+mn-lt"/>
                <a:ea typeface="+mn-ea"/>
                <a:cs typeface="+mn-cs"/>
              </a:rPr>
              <a:t>Bedienbaar - 2.2 Voldoende tijd – Pauzeren, stoppen en verbergen</a:t>
            </a:r>
          </a:p>
          <a:p>
            <a:pPr lvl="1"/>
            <a:r>
              <a:rPr lang="nl-NL" sz="1200" b="0" i="0" kern="1200" dirty="0">
                <a:solidFill>
                  <a:schemeClr val="tx1"/>
                </a:solidFill>
                <a:effectLst/>
                <a:latin typeface="+mn-lt"/>
                <a:ea typeface="+mn-ea"/>
                <a:cs typeface="+mn-cs"/>
              </a:rPr>
              <a:t>Bewegende, knipperende of scrollende content moet </a:t>
            </a:r>
            <a:r>
              <a:rPr lang="nl-NL" sz="1200" b="0" i="0" kern="1200" dirty="0" err="1">
                <a:solidFill>
                  <a:schemeClr val="tx1"/>
                </a:solidFill>
                <a:effectLst/>
                <a:latin typeface="+mn-lt"/>
                <a:ea typeface="+mn-ea"/>
                <a:cs typeface="+mn-cs"/>
              </a:rPr>
              <a:t>pauzeerbaar</a:t>
            </a:r>
            <a:r>
              <a:rPr lang="nl-NL" sz="1200" b="0" i="0" kern="1200" dirty="0">
                <a:solidFill>
                  <a:schemeClr val="tx1"/>
                </a:solidFill>
                <a:effectLst/>
                <a:latin typeface="+mn-lt"/>
                <a:ea typeface="+mn-ea"/>
                <a:cs typeface="+mn-cs"/>
              </a:rPr>
              <a:t> zijn</a:t>
            </a:r>
          </a:p>
          <a:p>
            <a:pPr lvl="1"/>
            <a:r>
              <a:rPr lang="nl-NL" sz="1200" b="0" i="0" kern="1200" dirty="0">
                <a:solidFill>
                  <a:schemeClr val="tx1"/>
                </a:solidFill>
                <a:effectLst/>
                <a:latin typeface="+mn-lt"/>
                <a:ea typeface="+mn-ea"/>
                <a:cs typeface="+mn-cs"/>
              </a:rPr>
              <a:t>Automatisch afspelende content moet gestopt kunnen worden</a:t>
            </a:r>
          </a:p>
          <a:p>
            <a:pPr lvl="1"/>
            <a:r>
              <a:rPr lang="nl-NL" sz="1200" b="0" i="0" kern="1200" dirty="0">
                <a:solidFill>
                  <a:schemeClr val="tx1"/>
                </a:solidFill>
                <a:effectLst/>
                <a:latin typeface="+mn-lt"/>
                <a:ea typeface="+mn-ea"/>
                <a:cs typeface="+mn-cs"/>
              </a:rPr>
              <a:t>Afleidende content moet verborgen kunnen worden</a:t>
            </a:r>
          </a:p>
          <a:p>
            <a:pPr lvl="1"/>
            <a:r>
              <a:rPr lang="nl-NL" sz="1200" b="0" i="0" kern="1200" dirty="0">
                <a:solidFill>
                  <a:schemeClr val="tx1"/>
                </a:solidFill>
                <a:effectLst/>
                <a:latin typeface="+mn-lt"/>
                <a:ea typeface="+mn-ea"/>
                <a:cs typeface="+mn-cs"/>
              </a:rPr>
              <a:t>Belangrijk voor mensen met aandachts- of cognitieve beperkingen</a:t>
            </a:r>
          </a:p>
          <a:p>
            <a:pPr lvl="2"/>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Belangrijkste boodschap: Voor mensen met cognitieve beperkingen zijn structuur, duidelijkheid en flexibiliteit in presentatie cruciaal</a:t>
            </a:r>
          </a:p>
          <a:p>
            <a:pPr lvl="0"/>
            <a:endParaRPr lang="nl-NL" sz="1200" kern="1200" dirty="0">
              <a:solidFill>
                <a:schemeClr val="tx1"/>
              </a:solidFill>
              <a:effectLst/>
              <a:latin typeface="+mn-lt"/>
              <a:ea typeface="+mn-ea"/>
              <a:cs typeface="+mn-cs"/>
            </a:endParaRP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10</a:t>
            </a:fld>
            <a:endParaRPr lang="nl-NL"/>
          </a:p>
        </p:txBody>
      </p:sp>
    </p:spTree>
    <p:extLst>
      <p:ext uri="{BB962C8B-B14F-4D97-AF65-F5344CB8AC3E}">
        <p14:creationId xmlns:p14="http://schemas.microsoft.com/office/powerpoint/2010/main" val="995827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kern="1200" dirty="0">
                <a:solidFill>
                  <a:schemeClr val="tx1"/>
                </a:solidFill>
                <a:effectLst/>
                <a:latin typeface="+mn-lt"/>
                <a:ea typeface="+mn-ea"/>
                <a:cs typeface="+mn-cs"/>
              </a:rPr>
              <a:t>Praktische vertaling voor mensen met motorische beperkingen:</a:t>
            </a:r>
          </a:p>
          <a:p>
            <a:r>
              <a:rPr lang="nl-NL" sz="1200" kern="1200" dirty="0">
                <a:solidFill>
                  <a:schemeClr val="tx1"/>
                </a:solidFill>
                <a:effectLst/>
                <a:latin typeface="+mn-lt"/>
                <a:ea typeface="+mn-ea"/>
                <a:cs typeface="+mn-cs"/>
              </a:rPr>
              <a:t>Bedienbaar - 2.1 Toetsenbordtoegankelijk - Toetsenbordbediening</a:t>
            </a:r>
          </a:p>
          <a:p>
            <a:pPr lvl="2"/>
            <a:r>
              <a:rPr lang="nl-NL" sz="1200" kern="1200" dirty="0">
                <a:solidFill>
                  <a:schemeClr val="tx1"/>
                </a:solidFill>
                <a:effectLst/>
                <a:latin typeface="+mn-lt"/>
                <a:ea typeface="+mn-ea"/>
                <a:cs typeface="+mn-cs"/>
              </a:rPr>
              <a:t>Mensen met motorische beperkingen gebruiken vaak geen muis</a:t>
            </a:r>
          </a:p>
          <a:p>
            <a:pPr lvl="2"/>
            <a:r>
              <a:rPr lang="nl-NL" sz="1200" kern="1200" dirty="0">
                <a:solidFill>
                  <a:schemeClr val="tx1"/>
                </a:solidFill>
                <a:effectLst/>
                <a:latin typeface="+mn-lt"/>
                <a:ea typeface="+mn-ea"/>
                <a:cs typeface="+mn-cs"/>
              </a:rPr>
              <a:t>Spraakbesturing werkt vaak via toetsenbordcommando's</a:t>
            </a:r>
          </a:p>
          <a:p>
            <a:pPr lvl="2"/>
            <a:r>
              <a:rPr lang="nl-NL" sz="1200" kern="1200" dirty="0">
                <a:solidFill>
                  <a:schemeClr val="tx1"/>
                </a:solidFill>
                <a:effectLst/>
                <a:latin typeface="+mn-lt"/>
                <a:ea typeface="+mn-ea"/>
                <a:cs typeface="+mn-cs"/>
              </a:rPr>
              <a:t>Alle functionaliteit moet met toetsenbord bereikbaar zijn</a:t>
            </a:r>
          </a:p>
          <a:p>
            <a:r>
              <a:rPr lang="nl-NL" sz="1200" kern="1200" dirty="0">
                <a:solidFill>
                  <a:schemeClr val="tx1"/>
                </a:solidFill>
                <a:effectLst/>
                <a:latin typeface="+mn-lt"/>
                <a:ea typeface="+mn-ea"/>
                <a:cs typeface="+mn-cs"/>
              </a:rPr>
              <a:t>Bedienbaar - 2.4 Navigeerbaar - Zichtbare focusomlijning </a:t>
            </a:r>
          </a:p>
          <a:p>
            <a:pPr lvl="2"/>
            <a:r>
              <a:rPr lang="nl-NL" sz="1200" kern="1200" dirty="0">
                <a:solidFill>
                  <a:schemeClr val="tx1"/>
                </a:solidFill>
                <a:effectLst/>
                <a:latin typeface="+mn-lt"/>
                <a:ea typeface="+mn-ea"/>
                <a:cs typeface="+mn-cs"/>
              </a:rPr>
              <a:t>Altijd duidelijk zichtbaar waar de focus is</a:t>
            </a:r>
          </a:p>
          <a:p>
            <a:pPr lvl="2"/>
            <a:r>
              <a:rPr lang="nl-NL" sz="1200" kern="1200" dirty="0">
                <a:solidFill>
                  <a:schemeClr val="tx1"/>
                </a:solidFill>
                <a:effectLst/>
                <a:latin typeface="+mn-lt"/>
                <a:ea typeface="+mn-ea"/>
                <a:cs typeface="+mn-cs"/>
              </a:rPr>
              <a:t>Essentieel voor toetsenbordgebruikers</a:t>
            </a:r>
          </a:p>
          <a:p>
            <a:pPr lvl="2"/>
            <a:r>
              <a:rPr lang="nl-NL" sz="1200" kern="1200" dirty="0">
                <a:solidFill>
                  <a:schemeClr val="tx1"/>
                </a:solidFill>
                <a:effectLst/>
                <a:latin typeface="+mn-lt"/>
                <a:ea typeface="+mn-ea"/>
                <a:cs typeface="+mn-cs"/>
              </a:rPr>
              <a:t>Moet voldoende contrast hebben</a:t>
            </a:r>
          </a:p>
          <a:p>
            <a:r>
              <a:rPr lang="nl-NL" sz="1200" kern="1200" dirty="0">
                <a:solidFill>
                  <a:schemeClr val="tx1"/>
                </a:solidFill>
                <a:effectLst/>
                <a:latin typeface="+mn-lt"/>
                <a:ea typeface="+mn-ea"/>
                <a:cs typeface="+mn-cs"/>
              </a:rPr>
              <a:t>Bedienbaar - 2.2 Genoeg tijd - Genoeg tijd</a:t>
            </a:r>
          </a:p>
          <a:p>
            <a:pPr lvl="2"/>
            <a:r>
              <a:rPr lang="nl-NL" sz="1200" kern="1200" dirty="0">
                <a:solidFill>
                  <a:schemeClr val="tx1"/>
                </a:solidFill>
                <a:effectLst/>
                <a:latin typeface="+mn-lt"/>
                <a:ea typeface="+mn-ea"/>
                <a:cs typeface="+mn-cs"/>
              </a:rPr>
              <a:t>Mensen met motorische beperkingen hebben vaak meer tijd nodig</a:t>
            </a:r>
          </a:p>
          <a:p>
            <a:pPr lvl="2"/>
            <a:r>
              <a:rPr lang="nl-NL" sz="1200" kern="1200" dirty="0" err="1">
                <a:solidFill>
                  <a:schemeClr val="tx1"/>
                </a:solidFill>
                <a:effectLst/>
                <a:latin typeface="+mn-lt"/>
                <a:ea typeface="+mn-ea"/>
                <a:cs typeface="+mn-cs"/>
              </a:rPr>
              <a:t>Timeouts</a:t>
            </a:r>
            <a:r>
              <a:rPr lang="nl-NL" sz="1200" kern="1200" dirty="0">
                <a:solidFill>
                  <a:schemeClr val="tx1"/>
                </a:solidFill>
                <a:effectLst/>
                <a:latin typeface="+mn-lt"/>
                <a:ea typeface="+mn-ea"/>
                <a:cs typeface="+mn-cs"/>
              </a:rPr>
              <a:t> moeten uitzetbaar/verlengbaar zijn</a:t>
            </a:r>
          </a:p>
          <a:p>
            <a:pPr lvl="2"/>
            <a:r>
              <a:rPr lang="nl-NL" sz="1200" kern="1200" dirty="0">
                <a:solidFill>
                  <a:schemeClr val="tx1"/>
                </a:solidFill>
                <a:effectLst/>
                <a:latin typeface="+mn-lt"/>
                <a:ea typeface="+mn-ea"/>
                <a:cs typeface="+mn-cs"/>
              </a:rPr>
              <a:t>Geen automatisch </a:t>
            </a:r>
            <a:r>
              <a:rPr lang="nl-NL" sz="1200" kern="1200" dirty="0" err="1">
                <a:solidFill>
                  <a:schemeClr val="tx1"/>
                </a:solidFill>
                <a:effectLst/>
                <a:latin typeface="+mn-lt"/>
                <a:ea typeface="+mn-ea"/>
                <a:cs typeface="+mn-cs"/>
              </a:rPr>
              <a:t>verdijnende</a:t>
            </a:r>
            <a:r>
              <a:rPr lang="nl-NL" sz="1200" kern="1200" dirty="0">
                <a:solidFill>
                  <a:schemeClr val="tx1"/>
                </a:solidFill>
                <a:effectLst/>
                <a:latin typeface="+mn-lt"/>
                <a:ea typeface="+mn-ea"/>
                <a:cs typeface="+mn-cs"/>
              </a:rPr>
              <a:t> content</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Belangrijkste boodschap: Voor mensen met motorische beperkingen zijn toetsenbordtoegankelijkheid, zichtbare focus en voldoende tijd essentieel</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11</a:t>
            </a:fld>
            <a:endParaRPr lang="nl-NL"/>
          </a:p>
        </p:txBody>
      </p:sp>
    </p:spTree>
    <p:extLst>
      <p:ext uri="{BB962C8B-B14F-4D97-AF65-F5344CB8AC3E}">
        <p14:creationId xmlns:p14="http://schemas.microsoft.com/office/powerpoint/2010/main" val="56768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1" i="0" kern="1200" dirty="0">
                <a:solidFill>
                  <a:schemeClr val="tx1"/>
                </a:solidFill>
                <a:effectLst/>
                <a:latin typeface="+mn-lt"/>
                <a:ea typeface="+mn-ea"/>
                <a:cs typeface="+mn-cs"/>
              </a:rPr>
              <a:t>"Een toegankelijke website betekent…"</a:t>
            </a:r>
          </a:p>
          <a:p>
            <a:r>
              <a:rPr lang="nl-NL" sz="1200" b="0" i="0" kern="1200" dirty="0">
                <a:solidFill>
                  <a:schemeClr val="tx1"/>
                </a:solidFill>
                <a:effectLst/>
                <a:latin typeface="+mn-lt"/>
                <a:ea typeface="+mn-ea"/>
                <a:cs typeface="+mn-cs"/>
              </a:rPr>
              <a:t>Deze slide ontkracht vier veelvoorkomende mythes over </a:t>
            </a:r>
            <a:r>
              <a:rPr lang="nl-NL" sz="1200" b="0" i="0" kern="1200" dirty="0" err="1">
                <a:solidFill>
                  <a:schemeClr val="tx1"/>
                </a:solidFill>
                <a:effectLst/>
                <a:latin typeface="+mn-lt"/>
                <a:ea typeface="+mn-ea"/>
                <a:cs typeface="+mn-cs"/>
              </a:rPr>
              <a:t>webtoegankelijkheid</a:t>
            </a:r>
            <a:r>
              <a:rPr lang="nl-NL" sz="1200" b="0" i="0" kern="1200" dirty="0">
                <a:solidFill>
                  <a:schemeClr val="tx1"/>
                </a:solidFill>
                <a:effectLst/>
                <a:latin typeface="+mn-lt"/>
                <a:ea typeface="+mn-ea"/>
                <a:cs typeface="+mn-cs"/>
              </a:rPr>
              <a:t> in één overzicht. Het doel is studenten laten zien dat toegankelijkheid veel minder beperkend is dan ze denken.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Hoe je de slide bespreekt:</a:t>
            </a:r>
          </a:p>
          <a:p>
            <a:r>
              <a:rPr lang="nl-NL" sz="1200" b="0" i="0" kern="1200" dirty="0">
                <a:solidFill>
                  <a:schemeClr val="tx1"/>
                </a:solidFill>
                <a:effectLst/>
                <a:latin typeface="+mn-lt"/>
                <a:ea typeface="+mn-ea"/>
                <a:cs typeface="+mn-cs"/>
              </a:rPr>
              <a:t>Loop de mythes één voor één langs en laat studenten eerst zelf raden wat het antwoord is, vóór je de "Niet waar!" onthult. Dit maakt de slide interactiever en prikkelt kritisch denken.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Mythe 1 – Geen afbeeldingen</a:t>
            </a:r>
          </a:p>
          <a:p>
            <a:r>
              <a:rPr lang="nl-NL" sz="1200" b="0" i="0" kern="1200" dirty="0">
                <a:solidFill>
                  <a:schemeClr val="tx1"/>
                </a:solidFill>
                <a:effectLst/>
                <a:latin typeface="+mn-lt"/>
                <a:ea typeface="+mn-ea"/>
                <a:cs typeface="+mn-cs"/>
              </a:rPr>
              <a:t>Veel mensen denken dat afbeeldingen verboden zijn bij toegankelijkheid. Het tegendeel is waar: informatie op meerdere manieren aanbieden — tekst én beeld — maakt een site juist toegankelijker. De sleutel is een goede alt-tekst bij elke afbeelding.</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Mythe 2 – Geen kleuren</a:t>
            </a:r>
          </a:p>
          <a:p>
            <a:r>
              <a:rPr lang="nl-NL" sz="1200" b="0" i="0" kern="1200" dirty="0">
                <a:solidFill>
                  <a:schemeClr val="tx1"/>
                </a:solidFill>
                <a:effectLst/>
                <a:latin typeface="+mn-lt"/>
                <a:ea typeface="+mn-ea"/>
                <a:cs typeface="+mn-cs"/>
              </a:rPr>
              <a:t>Toegankelijkheid betekent niet: alles grijs maken. Kleuren zijn prima, zolang er voldoende contrast is tussen voor- en achtergrond. Wijs studenten op tools zoals de </a:t>
            </a:r>
            <a:r>
              <a:rPr lang="nl-NL" sz="1200" b="0" i="0" kern="1200" dirty="0" err="1">
                <a:solidFill>
                  <a:schemeClr val="tx1"/>
                </a:solidFill>
                <a:effectLst/>
                <a:latin typeface="+mn-lt"/>
                <a:ea typeface="+mn-ea"/>
                <a:cs typeface="+mn-cs"/>
              </a:rPr>
              <a:t>WebAIM</a:t>
            </a:r>
            <a:r>
              <a:rPr lang="nl-NL" sz="1200" b="0" i="0" kern="1200" dirty="0">
                <a:solidFill>
                  <a:schemeClr val="tx1"/>
                </a:solidFill>
                <a:effectLst/>
                <a:latin typeface="+mn-lt"/>
                <a:ea typeface="+mn-ea"/>
                <a:cs typeface="+mn-cs"/>
              </a:rPr>
              <a:t> Contrast Checker om dit eenvoudig te testen.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Mythe 3 – Saaie vormgeving</a:t>
            </a:r>
          </a:p>
          <a:p>
            <a:r>
              <a:rPr lang="nl-NL" sz="1200" b="0" i="0" kern="1200" dirty="0">
                <a:solidFill>
                  <a:schemeClr val="tx1"/>
                </a:solidFill>
                <a:effectLst/>
                <a:latin typeface="+mn-lt"/>
                <a:ea typeface="+mn-ea"/>
                <a:cs typeface="+mn-cs"/>
              </a:rPr>
              <a:t>Dit is het meest gehoorde misverstand in de ontwerppraktijk. Verwijs naar Apple, BBC en GOV.UK als concrete voorbeelden: dit zijn stuk voor stuk visueel sterke én volledig toegankelijke websites. Toegankelijkheid dwingt je tot helderheid en consistentie — dat maakt design beter, niet saaier.</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Mythe 4 – Te veel tijd en geld</a:t>
            </a:r>
          </a:p>
          <a:p>
            <a:r>
              <a:rPr lang="nl-NL" sz="1200" b="0" i="0" kern="1200" dirty="0">
                <a:solidFill>
                  <a:schemeClr val="tx1"/>
                </a:solidFill>
                <a:effectLst/>
                <a:latin typeface="+mn-lt"/>
                <a:ea typeface="+mn-ea"/>
                <a:cs typeface="+mn-cs"/>
              </a:rPr>
              <a:t>Toegankelijkheid is een investering, geen kostenpost. Wie het vanaf het begin meeneemt, voorkomt dure </a:t>
            </a:r>
            <a:r>
              <a:rPr lang="nl-NL" sz="1200" b="0" i="0" kern="1200" dirty="0" err="1">
                <a:solidFill>
                  <a:schemeClr val="tx1"/>
                </a:solidFill>
                <a:effectLst/>
                <a:latin typeface="+mn-lt"/>
                <a:ea typeface="+mn-ea"/>
                <a:cs typeface="+mn-cs"/>
              </a:rPr>
              <a:t>redesigns</a:t>
            </a:r>
            <a:r>
              <a:rPr lang="nl-NL" sz="1200" b="0" i="0" kern="1200" dirty="0">
                <a:solidFill>
                  <a:schemeClr val="tx1"/>
                </a:solidFill>
                <a:effectLst/>
                <a:latin typeface="+mn-lt"/>
                <a:ea typeface="+mn-ea"/>
                <a:cs typeface="+mn-cs"/>
              </a:rPr>
              <a:t> later. Vergelijk het met een fundering bij een huis: achteraf toevoegen is veel duurder dan meteen goed </a:t>
            </a:r>
            <a:r>
              <a:rPr lang="nl-NL" sz="1200" b="0" i="0" kern="1200">
                <a:solidFill>
                  <a:schemeClr val="tx1"/>
                </a:solidFill>
                <a:effectLst/>
                <a:latin typeface="+mn-lt"/>
                <a:ea typeface="+mn-ea"/>
                <a:cs typeface="+mn-cs"/>
              </a:rPr>
              <a:t>doen.</a:t>
            </a:r>
            <a:endParaRPr lang="nl-NL" sz="1200" b="0" i="0" kern="1200" dirty="0">
              <a:solidFill>
                <a:schemeClr val="tx1"/>
              </a:solidFill>
              <a:effectLst/>
              <a:latin typeface="+mn-lt"/>
              <a:ea typeface="+mn-ea"/>
              <a:cs typeface="+mn-cs"/>
            </a:endParaRP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12</a:t>
            </a:fld>
            <a:endParaRPr lang="nl-NL"/>
          </a:p>
        </p:txBody>
      </p:sp>
    </p:spTree>
    <p:extLst>
      <p:ext uri="{BB962C8B-B14F-4D97-AF65-F5344CB8AC3E}">
        <p14:creationId xmlns:p14="http://schemas.microsoft.com/office/powerpoint/2010/main" val="3834643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kern="1200" dirty="0">
                <a:solidFill>
                  <a:schemeClr val="tx1"/>
                </a:solidFill>
                <a:effectLst/>
                <a:latin typeface="+mn-lt"/>
                <a:ea typeface="+mn-ea"/>
                <a:cs typeface="+mn-cs"/>
              </a:rPr>
              <a:t>Zelfreflectie-moment: Laat deelnemers nadenken over hun eigen praktijk</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Mogelijk als interactief element:</a:t>
            </a:r>
          </a:p>
          <a:p>
            <a:pPr lvl="1"/>
            <a:r>
              <a:rPr lang="nl-NL" sz="1200" kern="1200" dirty="0">
                <a:solidFill>
                  <a:schemeClr val="tx1"/>
                </a:solidFill>
                <a:effectLst/>
                <a:latin typeface="+mn-lt"/>
                <a:ea typeface="+mn-ea"/>
                <a:cs typeface="+mn-cs"/>
              </a:rPr>
              <a:t>"Nu we alles hebben gezien, wat denk je nu? Hoe goed houden jullie rekening met jullie gebruikers?"</a:t>
            </a:r>
          </a:p>
          <a:p>
            <a:pPr lvl="1"/>
            <a:r>
              <a:rPr lang="nl-NL" sz="1200" kern="1200" dirty="0">
                <a:solidFill>
                  <a:schemeClr val="tx1"/>
                </a:solidFill>
                <a:effectLst/>
                <a:latin typeface="+mn-lt"/>
                <a:ea typeface="+mn-ea"/>
                <a:cs typeface="+mn-cs"/>
              </a:rPr>
              <a:t>"Wat ga je anders doen na deze presentatie?"</a:t>
            </a:r>
          </a:p>
          <a:p>
            <a:pPr lvl="1"/>
            <a:r>
              <a:rPr lang="nl-NL" sz="1200" kern="1200" dirty="0">
                <a:solidFill>
                  <a:schemeClr val="tx1"/>
                </a:solidFill>
                <a:effectLst/>
                <a:latin typeface="+mn-lt"/>
                <a:ea typeface="+mn-ea"/>
                <a:cs typeface="+mn-cs"/>
              </a:rPr>
              <a:t>Laat deelnemers één concrete actie benoemen die ze gaan ondernemen</a:t>
            </a:r>
          </a:p>
          <a:p>
            <a:pPr lvl="0"/>
            <a:endParaRPr lang="nl-NL" sz="1200" kern="1200" dirty="0">
              <a:solidFill>
                <a:schemeClr val="tx1"/>
              </a:solidFill>
              <a:effectLst/>
              <a:latin typeface="+mn-lt"/>
              <a:ea typeface="+mn-ea"/>
              <a:cs typeface="+mn-cs"/>
            </a:endParaRP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13</a:t>
            </a:fld>
            <a:endParaRPr lang="nl-NL"/>
          </a:p>
        </p:txBody>
      </p:sp>
    </p:spTree>
    <p:extLst>
      <p:ext uri="{BB962C8B-B14F-4D97-AF65-F5344CB8AC3E}">
        <p14:creationId xmlns:p14="http://schemas.microsoft.com/office/powerpoint/2010/main" val="3840438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kern="1200" dirty="0">
                <a:solidFill>
                  <a:schemeClr val="tx1"/>
                </a:solidFill>
                <a:effectLst/>
                <a:latin typeface="+mn-lt"/>
                <a:ea typeface="+mn-ea"/>
                <a:cs typeface="+mn-cs"/>
              </a:rPr>
              <a:t>Praktische demonstratie:</a:t>
            </a:r>
          </a:p>
          <a:p>
            <a:pPr lvl="1"/>
            <a:r>
              <a:rPr lang="nl-NL" sz="1200" b="1" kern="1200" dirty="0">
                <a:solidFill>
                  <a:schemeClr val="tx1"/>
                </a:solidFill>
                <a:effectLst/>
                <a:latin typeface="+mn-lt"/>
                <a:ea typeface="+mn-ea"/>
                <a:cs typeface="+mn-cs"/>
              </a:rPr>
              <a:t>Indien mogelijk: </a:t>
            </a:r>
            <a:r>
              <a:rPr lang="nl-NL" sz="1200" kern="1200" dirty="0">
                <a:solidFill>
                  <a:schemeClr val="tx1"/>
                </a:solidFill>
                <a:effectLst/>
                <a:latin typeface="+mn-lt"/>
                <a:ea typeface="+mn-ea"/>
                <a:cs typeface="+mn-cs"/>
              </a:rPr>
              <a:t>live demo met ervaringsdeskundige</a:t>
            </a:r>
          </a:p>
          <a:p>
            <a:pPr lvl="1"/>
            <a:r>
              <a:rPr lang="nl-NL" sz="1200" kern="1200" dirty="0">
                <a:solidFill>
                  <a:schemeClr val="tx1"/>
                </a:solidFill>
                <a:effectLst/>
                <a:latin typeface="+mn-lt"/>
                <a:ea typeface="+mn-ea"/>
                <a:cs typeface="+mn-cs"/>
              </a:rPr>
              <a:t>Laat iemand met een beperking laten zien hoe zij het web gebruiken</a:t>
            </a:r>
          </a:p>
          <a:p>
            <a:pPr lvl="1"/>
            <a:r>
              <a:rPr lang="nl-NL" sz="1200" b="1" kern="1200" dirty="0">
                <a:solidFill>
                  <a:schemeClr val="tx1"/>
                </a:solidFill>
                <a:effectLst/>
                <a:latin typeface="+mn-lt"/>
                <a:ea typeface="+mn-ea"/>
                <a:cs typeface="+mn-cs"/>
              </a:rPr>
              <a:t>Of: </a:t>
            </a:r>
            <a:r>
              <a:rPr lang="nl-NL" sz="1200" kern="1200" dirty="0">
                <a:solidFill>
                  <a:schemeClr val="tx1"/>
                </a:solidFill>
                <a:effectLst/>
                <a:latin typeface="+mn-lt"/>
                <a:ea typeface="+mn-ea"/>
                <a:cs typeface="+mn-cs"/>
              </a:rPr>
              <a:t>zelf demonstreren met hulpmiddelen (screenreader, toetsenbord, contrast-tools)</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Mogelijke demo's:</a:t>
            </a:r>
          </a:p>
          <a:p>
            <a:pPr lvl="1"/>
            <a:r>
              <a:rPr lang="nl-NL" sz="1200" kern="1200" dirty="0">
                <a:solidFill>
                  <a:schemeClr val="tx1"/>
                </a:solidFill>
                <a:effectLst/>
                <a:latin typeface="+mn-lt"/>
                <a:ea typeface="+mn-ea"/>
                <a:cs typeface="+mn-cs"/>
              </a:rPr>
              <a:t>Navigeren met alleen toetsenbord</a:t>
            </a:r>
          </a:p>
          <a:p>
            <a:pPr lvl="1"/>
            <a:r>
              <a:rPr lang="nl-NL" sz="1200" kern="1200" dirty="0">
                <a:solidFill>
                  <a:schemeClr val="tx1"/>
                </a:solidFill>
                <a:effectLst/>
                <a:latin typeface="+mn-lt"/>
                <a:ea typeface="+mn-ea"/>
                <a:cs typeface="+mn-cs"/>
              </a:rPr>
              <a:t>Website gebruiken met screenreader</a:t>
            </a:r>
          </a:p>
          <a:p>
            <a:pPr lvl="1"/>
            <a:r>
              <a:rPr lang="nl-NL" sz="1200" kern="1200" dirty="0">
                <a:solidFill>
                  <a:schemeClr val="tx1"/>
                </a:solidFill>
                <a:effectLst/>
                <a:latin typeface="+mn-lt"/>
                <a:ea typeface="+mn-ea"/>
                <a:cs typeface="+mn-cs"/>
              </a:rPr>
              <a:t>Website bekijken met kleurenblindheidsimulatie</a:t>
            </a:r>
          </a:p>
          <a:p>
            <a:pPr lvl="1"/>
            <a:r>
              <a:rPr lang="nl-NL" sz="1200" kern="1200" dirty="0">
                <a:solidFill>
                  <a:schemeClr val="tx1"/>
                </a:solidFill>
                <a:effectLst/>
                <a:latin typeface="+mn-lt"/>
                <a:ea typeface="+mn-ea"/>
                <a:cs typeface="+mn-cs"/>
              </a:rPr>
              <a:t>Contrast-probleem demonstreren</a:t>
            </a:r>
          </a:p>
          <a:p>
            <a:pPr lvl="0"/>
            <a:r>
              <a:rPr lang="nl-NL" sz="1200" kern="1200" dirty="0">
                <a:solidFill>
                  <a:schemeClr val="tx1"/>
                </a:solidFill>
                <a:effectLst/>
                <a:latin typeface="+mn-lt"/>
                <a:ea typeface="+mn-ea"/>
                <a:cs typeface="+mn-cs"/>
              </a:rPr>
              <a:t>Impactvol: Praktische demonstratie maakt het concreet en tastbaar</a:t>
            </a:r>
          </a:p>
          <a:p>
            <a:pPr lvl="0"/>
            <a:endParaRPr lang="nl-NL" sz="1200" kern="1200" dirty="0">
              <a:solidFill>
                <a:schemeClr val="tx1"/>
              </a:solidFill>
              <a:effectLst/>
              <a:latin typeface="+mn-lt"/>
              <a:ea typeface="+mn-ea"/>
              <a:cs typeface="+mn-cs"/>
            </a:endParaRP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14</a:t>
            </a:fld>
            <a:endParaRPr lang="nl-NL"/>
          </a:p>
        </p:txBody>
      </p:sp>
    </p:spTree>
    <p:extLst>
      <p:ext uri="{BB962C8B-B14F-4D97-AF65-F5344CB8AC3E}">
        <p14:creationId xmlns:p14="http://schemas.microsoft.com/office/powerpoint/2010/main" val="162310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kern="1200" dirty="0">
                <a:solidFill>
                  <a:schemeClr val="tx1"/>
                </a:solidFill>
                <a:effectLst/>
                <a:latin typeface="+mn-lt"/>
                <a:ea typeface="+mn-ea"/>
                <a:cs typeface="+mn-cs"/>
              </a:rPr>
              <a:t>Overgang: Nu gaan we kijken naar de meest voorkomende problemen</a:t>
            </a:r>
          </a:p>
          <a:p>
            <a:pPr lvl="0"/>
            <a:r>
              <a:rPr lang="nl-NL" sz="1200" kern="1200" dirty="0">
                <a:solidFill>
                  <a:schemeClr val="tx1"/>
                </a:solidFill>
                <a:effectLst/>
                <a:latin typeface="+mn-lt"/>
                <a:ea typeface="+mn-ea"/>
                <a:cs typeface="+mn-cs"/>
              </a:rPr>
              <a:t>Deze problemen komen steeds weer terug in toegankelijkheidsaudits</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Goed nieuws: als je deze aanpakt, los je al een groot deel van de problemen op</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Relatief eenvoudig op te lossen met grote impact</a:t>
            </a:r>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15</a:t>
            </a:fld>
            <a:endParaRPr lang="nl-NL"/>
          </a:p>
        </p:txBody>
      </p:sp>
    </p:spTree>
    <p:extLst>
      <p:ext uri="{BB962C8B-B14F-4D97-AF65-F5344CB8AC3E}">
        <p14:creationId xmlns:p14="http://schemas.microsoft.com/office/powerpoint/2010/main" val="854088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CA9E-FFA9-0304-2F33-FD5B9C61161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752AD9D-B194-8C54-0C4B-0432E978F89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14A6BEC-F072-2FC7-430E-11E61361A1B5}"/>
              </a:ext>
            </a:extLst>
          </p:cNvPr>
          <p:cNvSpPr>
            <a:spLocks noGrp="1"/>
          </p:cNvSpPr>
          <p:nvPr>
            <p:ph type="body" idx="1"/>
          </p:nvPr>
        </p:nvSpPr>
        <p:spPr/>
        <p:txBody>
          <a:bodyPr/>
          <a:lstStyle/>
          <a:p>
            <a:r>
              <a:rPr lang="nl-NL" sz="1200" b="0" i="0" kern="1200" dirty="0">
                <a:solidFill>
                  <a:schemeClr val="tx1"/>
                </a:solidFill>
                <a:effectLst/>
                <a:latin typeface="+mn-lt"/>
                <a:ea typeface="+mn-ea"/>
                <a:cs typeface="+mn-cs"/>
              </a:rPr>
              <a:t>Op deze en de volgende slide zijn de </a:t>
            </a:r>
            <a:r>
              <a:rPr lang="nl-NL" sz="1200" b="0" i="0" kern="1200" dirty="0" err="1">
                <a:solidFill>
                  <a:schemeClr val="tx1"/>
                </a:solidFill>
                <a:effectLst/>
                <a:latin typeface="+mn-lt"/>
                <a:ea typeface="+mn-ea"/>
                <a:cs typeface="+mn-cs"/>
              </a:rPr>
              <a:t>quick</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wins</a:t>
            </a:r>
            <a:r>
              <a:rPr lang="nl-NL" sz="1200" b="0" i="0" kern="1200" dirty="0">
                <a:solidFill>
                  <a:schemeClr val="tx1"/>
                </a:solidFill>
                <a:effectLst/>
                <a:latin typeface="+mn-lt"/>
                <a:ea typeface="+mn-ea"/>
                <a:cs typeface="+mn-cs"/>
              </a:rPr>
              <a:t> kort benoemd.</a:t>
            </a:r>
          </a:p>
          <a:p>
            <a:r>
              <a:rPr lang="nl-NL" sz="1200" b="0" i="0" kern="1200" dirty="0">
                <a:solidFill>
                  <a:schemeClr val="tx1"/>
                </a:solidFill>
                <a:effectLst/>
                <a:latin typeface="+mn-lt"/>
                <a:ea typeface="+mn-ea"/>
                <a:cs typeface="+mn-cs"/>
              </a:rPr>
              <a:t>Na deze twee slides volgt per </a:t>
            </a:r>
            <a:r>
              <a:rPr lang="nl-NL" sz="1200" b="0" i="0" kern="1200" dirty="0" err="1">
                <a:solidFill>
                  <a:schemeClr val="tx1"/>
                </a:solidFill>
                <a:effectLst/>
                <a:latin typeface="+mn-lt"/>
                <a:ea typeface="+mn-ea"/>
                <a:cs typeface="+mn-cs"/>
              </a:rPr>
              <a:t>quick</a:t>
            </a:r>
            <a:r>
              <a:rPr lang="nl-NL" sz="1200" b="0" i="0" kern="1200" dirty="0">
                <a:solidFill>
                  <a:schemeClr val="tx1"/>
                </a:solidFill>
                <a:effectLst/>
                <a:latin typeface="+mn-lt"/>
                <a:ea typeface="+mn-ea"/>
                <a:cs typeface="+mn-cs"/>
              </a:rPr>
              <a:t> win een uitleg.</a:t>
            </a:r>
          </a:p>
          <a:p>
            <a:endParaRPr lang="nl-NL" sz="1200" b="0" i="0" kern="1200" dirty="0">
              <a:solidFill>
                <a:schemeClr val="tx1"/>
              </a:solidFill>
              <a:effectLst/>
              <a:latin typeface="+mn-lt"/>
              <a:ea typeface="+mn-ea"/>
              <a:cs typeface="+mn-cs"/>
            </a:endParaRP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Koppen </a:t>
            </a:r>
          </a:p>
          <a:p>
            <a:r>
              <a:rPr lang="nl-NL" sz="1200" b="0" i="0" kern="1200" dirty="0">
                <a:solidFill>
                  <a:schemeClr val="tx1"/>
                </a:solidFill>
                <a:effectLst/>
                <a:latin typeface="+mn-lt"/>
                <a:ea typeface="+mn-ea"/>
                <a:cs typeface="+mn-cs"/>
              </a:rPr>
              <a:t>Gebruik juiste HTML </a:t>
            </a:r>
            <a:r>
              <a:rPr lang="nl-NL" sz="1200" b="0" i="0" kern="1200" dirty="0" err="1">
                <a:solidFill>
                  <a:schemeClr val="tx1"/>
                </a:solidFill>
                <a:effectLst/>
                <a:latin typeface="+mn-lt"/>
                <a:ea typeface="+mn-ea"/>
                <a:cs typeface="+mn-cs"/>
              </a:rPr>
              <a:t>heading</a:t>
            </a:r>
            <a:r>
              <a:rPr lang="nl-NL" sz="1200" b="0" i="0" kern="1200" dirty="0">
                <a:solidFill>
                  <a:schemeClr val="tx1"/>
                </a:solidFill>
                <a:effectLst/>
                <a:latin typeface="+mn-lt"/>
                <a:ea typeface="+mn-ea"/>
                <a:cs typeface="+mn-cs"/>
              </a:rPr>
              <a:t> structuur (H1-H6), niet alleen visueel </a:t>
            </a:r>
            <a:r>
              <a:rPr lang="nl-NL" sz="1200" b="0" i="0" kern="1200" dirty="0" err="1">
                <a:solidFill>
                  <a:schemeClr val="tx1"/>
                </a:solidFill>
                <a:effectLst/>
                <a:latin typeface="+mn-lt"/>
                <a:ea typeface="+mn-ea"/>
                <a:cs typeface="+mn-cs"/>
              </a:rPr>
              <a:t>stylen</a:t>
            </a:r>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Liever één &lt;h1&gt; per pagina</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Logische hiërarchie, geen niveaus overslaan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Impact: Enorm belangrijk voor navigatie met screenreader</a:t>
            </a:r>
          </a:p>
          <a:p>
            <a:endParaRPr lang="nl-NL" sz="1200" b="0" i="0" kern="1200" dirty="0">
              <a:solidFill>
                <a:schemeClr val="tx1"/>
              </a:solidFill>
              <a:effectLst/>
              <a:latin typeface="+mn-lt"/>
              <a:ea typeface="+mn-ea"/>
              <a:cs typeface="+mn-cs"/>
            </a:endParaRP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Naam, rol, waarde </a:t>
            </a:r>
          </a:p>
          <a:p>
            <a:r>
              <a:rPr lang="nl-NL" sz="1200" b="0" i="0" kern="1200" dirty="0">
                <a:solidFill>
                  <a:schemeClr val="tx1"/>
                </a:solidFill>
                <a:effectLst/>
                <a:latin typeface="+mn-lt"/>
                <a:ea typeface="+mn-ea"/>
                <a:cs typeface="+mn-cs"/>
              </a:rPr>
              <a:t>Elk interactief element moet een duidelijke naam hebben voor screenreaders</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Rol wordt automatisch meegegeven door juiste HTML-elementen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Waarde geeft de huidige status aan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Impact: Screenreader-gebruikers weten wat elk element doet</a:t>
            </a:r>
          </a:p>
          <a:p>
            <a:endParaRPr lang="nl-NL" sz="1200" b="0" i="0" kern="1200" dirty="0">
              <a:solidFill>
                <a:schemeClr val="tx1"/>
              </a:solidFill>
              <a:effectLst/>
              <a:latin typeface="+mn-lt"/>
              <a:ea typeface="+mn-ea"/>
              <a:cs typeface="+mn-cs"/>
            </a:endParaRP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Contrast </a:t>
            </a:r>
          </a:p>
          <a:p>
            <a:r>
              <a:rPr lang="nl-NL" sz="1200" b="0" i="0" kern="1200" dirty="0">
                <a:solidFill>
                  <a:schemeClr val="tx1"/>
                </a:solidFill>
                <a:effectLst/>
                <a:latin typeface="+mn-lt"/>
                <a:ea typeface="+mn-ea"/>
                <a:cs typeface="+mn-cs"/>
              </a:rPr>
              <a:t>Voldoende contrast tussen tekst en achtergrond</a:t>
            </a:r>
          </a:p>
          <a:p>
            <a:r>
              <a:rPr lang="nl-NL" sz="1200" b="0" i="0" kern="1200" dirty="0">
                <a:solidFill>
                  <a:schemeClr val="tx1"/>
                </a:solidFill>
                <a:effectLst/>
                <a:latin typeface="+mn-lt"/>
                <a:ea typeface="+mn-ea"/>
                <a:cs typeface="+mn-cs"/>
              </a:rPr>
              <a:t>Minimaal 4,5:1 voor normale tekst</a:t>
            </a:r>
          </a:p>
          <a:p>
            <a:r>
              <a:rPr lang="nl-NL" sz="1200" b="0" i="0" kern="1200" dirty="0">
                <a:solidFill>
                  <a:schemeClr val="tx1"/>
                </a:solidFill>
                <a:effectLst/>
                <a:latin typeface="+mn-lt"/>
                <a:ea typeface="+mn-ea"/>
                <a:cs typeface="+mn-cs"/>
              </a:rPr>
              <a:t>Minimaal 3:1 voor grote tekst en UI-elementen</a:t>
            </a:r>
          </a:p>
          <a:p>
            <a:r>
              <a:rPr lang="nl-NL" sz="1200" b="0" i="0" kern="1200" dirty="0">
                <a:solidFill>
                  <a:schemeClr val="tx1"/>
                </a:solidFill>
                <a:effectLst/>
                <a:latin typeface="+mn-lt"/>
                <a:ea typeface="+mn-ea"/>
                <a:cs typeface="+mn-cs"/>
              </a:rPr>
              <a:t>Impact: Essentieel voor slechtzienden en in verschillende omstandigheden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Alternatieve tekst</a:t>
            </a:r>
          </a:p>
          <a:p>
            <a:r>
              <a:rPr lang="nl-NL" sz="1200" b="0" i="0" kern="1200" dirty="0">
                <a:solidFill>
                  <a:schemeClr val="tx1"/>
                </a:solidFill>
                <a:effectLst/>
                <a:latin typeface="+mn-lt"/>
                <a:ea typeface="+mn-ea"/>
                <a:cs typeface="+mn-cs"/>
              </a:rPr>
              <a:t>Informatieve afbeeldingen krijgen beschrijvende alt-tekst</a:t>
            </a:r>
          </a:p>
          <a:p>
            <a:r>
              <a:rPr lang="nl-NL" sz="1200" b="0" i="0" kern="1200" dirty="0">
                <a:solidFill>
                  <a:schemeClr val="tx1"/>
                </a:solidFill>
                <a:effectLst/>
                <a:latin typeface="+mn-lt"/>
                <a:ea typeface="+mn-ea"/>
                <a:cs typeface="+mn-cs"/>
              </a:rPr>
              <a:t>Decoratieve afbeeldingen krijgen leeg alt-attribuut (alt="")</a:t>
            </a:r>
          </a:p>
          <a:p>
            <a:r>
              <a:rPr lang="nl-NL" sz="1200" b="0" i="0" kern="1200" dirty="0" err="1">
                <a:solidFill>
                  <a:schemeClr val="tx1"/>
                </a:solidFill>
                <a:effectLst/>
                <a:latin typeface="+mn-lt"/>
                <a:ea typeface="+mn-ea"/>
                <a:cs typeface="+mn-cs"/>
              </a:rPr>
              <a:t>Linked</a:t>
            </a:r>
            <a:r>
              <a:rPr lang="nl-NL" sz="1200" b="0" i="0" kern="1200" dirty="0">
                <a:solidFill>
                  <a:schemeClr val="tx1"/>
                </a:solidFill>
                <a:effectLst/>
                <a:latin typeface="+mn-lt"/>
                <a:ea typeface="+mn-ea"/>
                <a:cs typeface="+mn-cs"/>
              </a:rPr>
              <a:t> afbeeldingen beschrijven de bestemming</a:t>
            </a:r>
          </a:p>
          <a:p>
            <a:r>
              <a:rPr lang="nl-NL" sz="1200" b="0" i="0" kern="1200" dirty="0">
                <a:solidFill>
                  <a:schemeClr val="tx1"/>
                </a:solidFill>
                <a:effectLst/>
                <a:latin typeface="+mn-lt"/>
                <a:ea typeface="+mn-ea"/>
                <a:cs typeface="+mn-cs"/>
              </a:rPr>
              <a:t>Impact: Screenreader-gebruikers begrijpen de visuele content</a:t>
            </a:r>
          </a:p>
          <a:p>
            <a:endParaRPr lang="nl-NL" dirty="0"/>
          </a:p>
        </p:txBody>
      </p:sp>
      <p:sp>
        <p:nvSpPr>
          <p:cNvPr id="4" name="Tijdelijke aanduiding voor dianummer 3">
            <a:extLst>
              <a:ext uri="{FF2B5EF4-FFF2-40B4-BE49-F238E27FC236}">
                <a16:creationId xmlns:a16="http://schemas.microsoft.com/office/drawing/2014/main" id="{609B2024-3F49-11F3-9528-8EDFCFB73F36}"/>
              </a:ext>
            </a:extLst>
          </p:cNvPr>
          <p:cNvSpPr>
            <a:spLocks noGrp="1"/>
          </p:cNvSpPr>
          <p:nvPr>
            <p:ph type="sldNum" sz="quarter" idx="5"/>
          </p:nvPr>
        </p:nvSpPr>
        <p:spPr/>
        <p:txBody>
          <a:bodyPr/>
          <a:lstStyle/>
          <a:p>
            <a:fld id="{945DCDBF-DF07-42E1-A6C5-1ACF461A284A}" type="slidenum">
              <a:rPr lang="nl-NL" smtClean="0"/>
              <a:t>16</a:t>
            </a:fld>
            <a:endParaRPr lang="nl-NL"/>
          </a:p>
        </p:txBody>
      </p:sp>
    </p:spTree>
    <p:extLst>
      <p:ext uri="{BB962C8B-B14F-4D97-AF65-F5344CB8AC3E}">
        <p14:creationId xmlns:p14="http://schemas.microsoft.com/office/powerpoint/2010/main" val="3841166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4C7B-4560-C0F1-C813-09B9D176266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4C905E9-BAFB-D0D7-07DA-4424EFDD82F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F4B7566-FD5B-3190-9DD8-2BC440681833}"/>
              </a:ext>
            </a:extLst>
          </p:cNvPr>
          <p:cNvSpPr>
            <a:spLocks noGrp="1"/>
          </p:cNvSpPr>
          <p:nvPr>
            <p:ph type="body" idx="1"/>
          </p:nvPr>
        </p:nvSpPr>
        <p:spPr/>
        <p:txBody>
          <a:bodyPr/>
          <a:lstStyle/>
          <a:p>
            <a:r>
              <a:rPr lang="nl-NL" dirty="0"/>
              <a:t>Formulieren</a:t>
            </a:r>
          </a:p>
          <a:p>
            <a:r>
              <a:rPr lang="nl-NL" sz="1200" b="0" i="0" kern="1200" dirty="0">
                <a:solidFill>
                  <a:schemeClr val="tx1"/>
                </a:solidFill>
                <a:effectLst/>
                <a:latin typeface="+mn-lt"/>
                <a:ea typeface="+mn-ea"/>
                <a:cs typeface="+mn-cs"/>
              </a:rPr>
              <a:t>Elk invoerveld moet een gekoppeld label hebben</a:t>
            </a:r>
          </a:p>
          <a:p>
            <a:r>
              <a:rPr lang="nl-NL" sz="1200" b="0" i="0" kern="1200" dirty="0">
                <a:solidFill>
                  <a:schemeClr val="tx1"/>
                </a:solidFill>
                <a:effectLst/>
                <a:latin typeface="+mn-lt"/>
                <a:ea typeface="+mn-ea"/>
                <a:cs typeface="+mn-cs"/>
              </a:rPr>
              <a:t>Gebruik &lt;label </a:t>
            </a:r>
            <a:r>
              <a:rPr lang="nl-NL" sz="1200" b="0" i="0" kern="1200" dirty="0" err="1">
                <a:solidFill>
                  <a:schemeClr val="tx1"/>
                </a:solidFill>
                <a:effectLst/>
                <a:latin typeface="+mn-lt"/>
                <a:ea typeface="+mn-ea"/>
                <a:cs typeface="+mn-cs"/>
              </a:rPr>
              <a:t>for</a:t>
            </a:r>
            <a:r>
              <a:rPr lang="nl-NL" sz="1200" b="0" i="0" kern="1200" dirty="0">
                <a:solidFill>
                  <a:schemeClr val="tx1"/>
                </a:solidFill>
                <a:effectLst/>
                <a:latin typeface="+mn-lt"/>
                <a:ea typeface="+mn-ea"/>
                <a:cs typeface="+mn-cs"/>
              </a:rPr>
              <a:t>="id"&gt; met bijbehorend id op input</a:t>
            </a:r>
          </a:p>
          <a:p>
            <a:r>
              <a:rPr lang="nl-NL" sz="1200" b="0" i="0" kern="1200" dirty="0">
                <a:solidFill>
                  <a:schemeClr val="tx1"/>
                </a:solidFill>
                <a:effectLst/>
                <a:latin typeface="+mn-lt"/>
                <a:ea typeface="+mn-ea"/>
                <a:cs typeface="+mn-cs"/>
              </a:rPr>
              <a:t>Elke knop moet een duidelijke naam hebben</a:t>
            </a:r>
          </a:p>
          <a:p>
            <a:r>
              <a:rPr lang="nl-NL" sz="1200" b="0" i="0" kern="1200" dirty="0">
                <a:solidFill>
                  <a:schemeClr val="tx1"/>
                </a:solidFill>
                <a:effectLst/>
                <a:latin typeface="+mn-lt"/>
                <a:ea typeface="+mn-ea"/>
                <a:cs typeface="+mn-cs"/>
              </a:rPr>
              <a:t>Impact: Gebruikers weten wat ze moeten invullen</a:t>
            </a:r>
          </a:p>
          <a:p>
            <a:endParaRPr lang="nl-NL" dirty="0"/>
          </a:p>
          <a:p>
            <a:r>
              <a:rPr lang="nl-NL" sz="1200" b="0" i="0" kern="1200" dirty="0">
                <a:solidFill>
                  <a:schemeClr val="tx1"/>
                </a:solidFill>
                <a:effectLst/>
                <a:latin typeface="+mn-lt"/>
                <a:ea typeface="+mn-ea"/>
                <a:cs typeface="+mn-cs"/>
              </a:rPr>
              <a:t>Foutmeldingen </a:t>
            </a:r>
          </a:p>
          <a:p>
            <a:r>
              <a:rPr lang="nl-NL" sz="1200" b="0" i="0" kern="1200" dirty="0">
                <a:solidFill>
                  <a:schemeClr val="tx1"/>
                </a:solidFill>
                <a:effectLst/>
                <a:latin typeface="+mn-lt"/>
                <a:ea typeface="+mn-ea"/>
                <a:cs typeface="+mn-cs"/>
              </a:rPr>
              <a:t>Beschrijf dát er een fout is</a:t>
            </a:r>
          </a:p>
          <a:p>
            <a:r>
              <a:rPr lang="nl-NL" sz="1200" b="0" i="0" kern="1200" dirty="0">
                <a:solidFill>
                  <a:schemeClr val="tx1"/>
                </a:solidFill>
                <a:effectLst/>
                <a:latin typeface="+mn-lt"/>
                <a:ea typeface="+mn-ea"/>
                <a:cs typeface="+mn-cs"/>
              </a:rPr>
              <a:t>Beschrijf wát er mis is</a:t>
            </a:r>
          </a:p>
          <a:p>
            <a:r>
              <a:rPr lang="nl-NL" sz="1200" b="0" i="0" kern="1200" dirty="0">
                <a:solidFill>
                  <a:schemeClr val="tx1"/>
                </a:solidFill>
                <a:effectLst/>
                <a:latin typeface="+mn-lt"/>
                <a:ea typeface="+mn-ea"/>
                <a:cs typeface="+mn-cs"/>
              </a:rPr>
              <a:t>Beschrijf wáár de fout staat</a:t>
            </a:r>
          </a:p>
          <a:p>
            <a:r>
              <a:rPr lang="nl-NL" sz="1200" b="0" i="0" kern="1200" dirty="0">
                <a:solidFill>
                  <a:schemeClr val="tx1"/>
                </a:solidFill>
                <a:effectLst/>
                <a:latin typeface="+mn-lt"/>
                <a:ea typeface="+mn-ea"/>
                <a:cs typeface="+mn-cs"/>
              </a:rPr>
              <a:t>Impact: Gebruikers kunnen fouten begrijpen en corrigeren</a:t>
            </a:r>
          </a:p>
          <a:p>
            <a:endParaRPr lang="nl-NL" dirty="0"/>
          </a:p>
          <a:p>
            <a:r>
              <a:rPr lang="nl-NL" sz="1200" b="0" i="0" kern="1200" dirty="0">
                <a:solidFill>
                  <a:schemeClr val="tx1"/>
                </a:solidFill>
                <a:effectLst/>
                <a:latin typeface="+mn-lt"/>
                <a:ea typeface="+mn-ea"/>
                <a:cs typeface="+mn-cs"/>
              </a:rPr>
              <a:t>Focus-indicator moet altijd zichtbaar zijn voor interactieve componenten</a:t>
            </a:r>
          </a:p>
          <a:p>
            <a:r>
              <a:rPr lang="nl-NL" sz="1200" b="0" i="0" kern="1200" dirty="0">
                <a:solidFill>
                  <a:schemeClr val="tx1"/>
                </a:solidFill>
                <a:effectLst/>
                <a:latin typeface="+mn-lt"/>
                <a:ea typeface="+mn-ea"/>
                <a:cs typeface="+mn-cs"/>
              </a:rPr>
              <a:t>Verborgen elementen met focus moeten zichtbaar worden</a:t>
            </a:r>
          </a:p>
          <a:p>
            <a:r>
              <a:rPr lang="nl-NL" sz="1200" b="0" i="0" kern="1200" dirty="0">
                <a:solidFill>
                  <a:schemeClr val="tx1"/>
                </a:solidFill>
                <a:effectLst/>
                <a:latin typeface="+mn-lt"/>
                <a:ea typeface="+mn-ea"/>
                <a:cs typeface="+mn-cs"/>
              </a:rPr>
              <a:t>Niet alleen kleurverandering gebruiken</a:t>
            </a:r>
          </a:p>
          <a:p>
            <a:r>
              <a:rPr lang="nl-NL" sz="1200" b="0" i="0" kern="1200" dirty="0">
                <a:solidFill>
                  <a:schemeClr val="tx1"/>
                </a:solidFill>
                <a:effectLst/>
                <a:latin typeface="+mn-lt"/>
                <a:ea typeface="+mn-ea"/>
                <a:cs typeface="+mn-cs"/>
              </a:rPr>
              <a:t>Impact: Toetsenbord-gebruikers weten waar ze zijn op de pagina</a:t>
            </a:r>
          </a:p>
          <a:p>
            <a:endParaRPr lang="nl-NL" dirty="0"/>
          </a:p>
          <a:p>
            <a:r>
              <a:rPr lang="nl-NL" dirty="0"/>
              <a:t>Taal</a:t>
            </a:r>
          </a:p>
          <a:p>
            <a:r>
              <a:rPr lang="nl-NL" sz="1200" b="0" i="0" kern="1200" dirty="0">
                <a:solidFill>
                  <a:schemeClr val="tx1"/>
                </a:solidFill>
                <a:effectLst/>
                <a:latin typeface="+mn-lt"/>
                <a:ea typeface="+mn-ea"/>
                <a:cs typeface="+mn-cs"/>
              </a:rPr>
              <a:t>Basistaal van pagina aangeven met &lt;html lang="nl"&gt;</a:t>
            </a:r>
          </a:p>
          <a:p>
            <a:r>
              <a:rPr lang="nl-NL" sz="1200" b="0" i="0" kern="1200" dirty="0">
                <a:solidFill>
                  <a:schemeClr val="tx1"/>
                </a:solidFill>
                <a:effectLst/>
                <a:latin typeface="+mn-lt"/>
                <a:ea typeface="+mn-ea"/>
                <a:cs typeface="+mn-cs"/>
              </a:rPr>
              <a:t>Taalwisselingen markeren met lang-attribuut</a:t>
            </a:r>
          </a:p>
          <a:p>
            <a:r>
              <a:rPr lang="nl-NL" sz="1200" b="0" i="0" kern="1200" dirty="0">
                <a:solidFill>
                  <a:schemeClr val="tx1"/>
                </a:solidFill>
                <a:effectLst/>
                <a:latin typeface="+mn-lt"/>
                <a:ea typeface="+mn-ea"/>
                <a:cs typeface="+mn-cs"/>
              </a:rPr>
              <a:t>Voorkomt dat screenreaders Nederlandse tekst in Engels voorlezen</a:t>
            </a:r>
          </a:p>
          <a:p>
            <a:r>
              <a:rPr lang="nl-NL" sz="1200" b="0" i="0" kern="1200" dirty="0">
                <a:solidFill>
                  <a:schemeClr val="tx1"/>
                </a:solidFill>
                <a:effectLst/>
                <a:latin typeface="+mn-lt"/>
                <a:ea typeface="+mn-ea"/>
                <a:cs typeface="+mn-cs"/>
              </a:rPr>
              <a:t>Impact: Correcte uitspraak en begrip van content</a:t>
            </a:r>
          </a:p>
        </p:txBody>
      </p:sp>
      <p:sp>
        <p:nvSpPr>
          <p:cNvPr id="4" name="Tijdelijke aanduiding voor dianummer 3">
            <a:extLst>
              <a:ext uri="{FF2B5EF4-FFF2-40B4-BE49-F238E27FC236}">
                <a16:creationId xmlns:a16="http://schemas.microsoft.com/office/drawing/2014/main" id="{EF94CD7D-0A85-985C-9A8E-4AA2D59F3D4E}"/>
              </a:ext>
            </a:extLst>
          </p:cNvPr>
          <p:cNvSpPr>
            <a:spLocks noGrp="1"/>
          </p:cNvSpPr>
          <p:nvPr>
            <p:ph type="sldNum" sz="quarter" idx="5"/>
          </p:nvPr>
        </p:nvSpPr>
        <p:spPr/>
        <p:txBody>
          <a:bodyPr/>
          <a:lstStyle/>
          <a:p>
            <a:fld id="{945DCDBF-DF07-42E1-A6C5-1ACF461A284A}" type="slidenum">
              <a:rPr lang="nl-NL" smtClean="0"/>
              <a:t>17</a:t>
            </a:fld>
            <a:endParaRPr lang="nl-NL"/>
          </a:p>
        </p:txBody>
      </p:sp>
    </p:spTree>
    <p:extLst>
      <p:ext uri="{BB962C8B-B14F-4D97-AF65-F5344CB8AC3E}">
        <p14:creationId xmlns:p14="http://schemas.microsoft.com/office/powerpoint/2010/main" val="1655303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kern="1200" dirty="0">
                <a:solidFill>
                  <a:schemeClr val="tx1"/>
                </a:solidFill>
                <a:effectLst/>
                <a:latin typeface="+mn-lt"/>
                <a:ea typeface="+mn-ea"/>
                <a:cs typeface="+mn-cs"/>
              </a:rPr>
              <a:t>Uitleg over correct gebruik van koppen:</a:t>
            </a:r>
          </a:p>
          <a:p>
            <a:r>
              <a:rPr lang="nl-NL" sz="1200" kern="1200" dirty="0">
                <a:solidFill>
                  <a:schemeClr val="tx1"/>
                </a:solidFill>
                <a:effectLst/>
                <a:latin typeface="+mn-lt"/>
                <a:ea typeface="+mn-ea"/>
                <a:cs typeface="+mn-cs"/>
              </a:rPr>
              <a:t>Technische aspecten:</a:t>
            </a:r>
          </a:p>
          <a:p>
            <a:pPr lvl="0"/>
            <a:r>
              <a:rPr lang="nl-NL" sz="1200" kern="1200" dirty="0">
                <a:solidFill>
                  <a:schemeClr val="tx1"/>
                </a:solidFill>
                <a:effectLst/>
                <a:latin typeface="+mn-lt"/>
                <a:ea typeface="+mn-ea"/>
                <a:cs typeface="+mn-cs"/>
              </a:rPr>
              <a:t>Gebruik juiste opmaak: &lt;h1&gt;, &lt;h2&gt;, &lt;h3&gt;, etc. - niet alleen visueel groot maken</a:t>
            </a:r>
          </a:p>
          <a:p>
            <a:pPr lvl="0"/>
            <a:r>
              <a:rPr lang="nl-NL" sz="1200" kern="1200" dirty="0">
                <a:solidFill>
                  <a:schemeClr val="tx1"/>
                </a:solidFill>
                <a:effectLst/>
                <a:latin typeface="+mn-lt"/>
                <a:ea typeface="+mn-ea"/>
                <a:cs typeface="+mn-cs"/>
              </a:rPr>
              <a:t>Alternatief voor tabellen: &lt;</a:t>
            </a:r>
            <a:r>
              <a:rPr lang="nl-NL" sz="1200" kern="1200" dirty="0" err="1">
                <a:solidFill>
                  <a:schemeClr val="tx1"/>
                </a:solidFill>
                <a:effectLst/>
                <a:latin typeface="+mn-lt"/>
                <a:ea typeface="+mn-ea"/>
                <a:cs typeface="+mn-cs"/>
              </a:rPr>
              <a:t>caption</a:t>
            </a:r>
            <a:r>
              <a:rPr lang="nl-NL" sz="1200" kern="1200" dirty="0">
                <a:solidFill>
                  <a:schemeClr val="tx1"/>
                </a:solidFill>
                <a:effectLst/>
                <a:latin typeface="+mn-lt"/>
                <a:ea typeface="+mn-ea"/>
                <a:cs typeface="+mn-cs"/>
              </a:rPr>
              <a:t>&gt; of &lt;legend&gt; voor form </a:t>
            </a:r>
            <a:r>
              <a:rPr lang="nl-NL" sz="1200" kern="1200" dirty="0" err="1">
                <a:solidFill>
                  <a:schemeClr val="tx1"/>
                </a:solidFill>
                <a:effectLst/>
                <a:latin typeface="+mn-lt"/>
                <a:ea typeface="+mn-ea"/>
                <a:cs typeface="+mn-cs"/>
              </a:rPr>
              <a:t>groups</a:t>
            </a:r>
            <a:endParaRPr lang="nl-NL" sz="1200" kern="1200" dirty="0">
              <a:solidFill>
                <a:schemeClr val="tx1"/>
              </a:solidFill>
              <a:effectLst/>
              <a:latin typeface="+mn-lt"/>
              <a:ea typeface="+mn-ea"/>
              <a:cs typeface="+mn-cs"/>
            </a:endParaRP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Inhoudelijke aspecten:</a:t>
            </a:r>
          </a:p>
          <a:p>
            <a:r>
              <a:rPr lang="nl-NL" sz="1200" kern="1200" dirty="0">
                <a:solidFill>
                  <a:schemeClr val="tx1"/>
                </a:solidFill>
                <a:effectLst/>
                <a:latin typeface="+mn-lt"/>
                <a:ea typeface="+mn-ea"/>
                <a:cs typeface="+mn-cs"/>
              </a:rPr>
              <a:t>Beschrijvende koppen: Kop moet duidelijk maken wat de content eronder betreft</a:t>
            </a:r>
          </a:p>
          <a:p>
            <a:r>
              <a:rPr lang="nl-NL" sz="1200" kern="1200" dirty="0">
                <a:solidFill>
                  <a:schemeClr val="tx1"/>
                </a:solidFill>
                <a:effectLst/>
                <a:latin typeface="+mn-lt"/>
                <a:ea typeface="+mn-ea"/>
                <a:cs typeface="+mn-cs"/>
              </a:rPr>
              <a:t>Gebruiker moet kunnen scannen: Bij het lezen van alleen de koppen moet de structuur duidelijk zijn</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Hiërarchie:</a:t>
            </a:r>
          </a:p>
          <a:p>
            <a:r>
              <a:rPr lang="nl-NL" sz="1200" kern="1200" dirty="0">
                <a:solidFill>
                  <a:schemeClr val="tx1"/>
                </a:solidFill>
                <a:effectLst/>
                <a:latin typeface="+mn-lt"/>
                <a:ea typeface="+mn-ea"/>
                <a:cs typeface="+mn-cs"/>
              </a:rPr>
              <a:t>Inhoud onder de koptekst: Logische structuur, geen </a:t>
            </a:r>
            <a:r>
              <a:rPr lang="nl-NL" sz="1200" kern="1200" dirty="0" err="1">
                <a:solidFill>
                  <a:schemeClr val="tx1"/>
                </a:solidFill>
                <a:effectLst/>
                <a:latin typeface="+mn-lt"/>
                <a:ea typeface="+mn-ea"/>
                <a:cs typeface="+mn-cs"/>
              </a:rPr>
              <a:t>niveau's</a:t>
            </a:r>
            <a:r>
              <a:rPr lang="nl-NL" sz="1200" kern="1200" dirty="0">
                <a:solidFill>
                  <a:schemeClr val="tx1"/>
                </a:solidFill>
                <a:effectLst/>
                <a:latin typeface="+mn-lt"/>
                <a:ea typeface="+mn-ea"/>
                <a:cs typeface="+mn-cs"/>
              </a:rPr>
              <a:t> overslaan</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Testen:</a:t>
            </a:r>
          </a:p>
          <a:p>
            <a:r>
              <a:rPr lang="nl-NL" sz="1200" kern="1200" dirty="0">
                <a:solidFill>
                  <a:schemeClr val="tx1"/>
                </a:solidFill>
                <a:effectLst/>
                <a:latin typeface="+mn-lt"/>
                <a:ea typeface="+mn-ea"/>
                <a:cs typeface="+mn-cs"/>
              </a:rPr>
              <a:t>Gebruik browser plug-in zoals </a:t>
            </a:r>
            <a:r>
              <a:rPr lang="nl-NL" sz="1200" kern="1200" dirty="0" err="1">
                <a:solidFill>
                  <a:schemeClr val="tx1"/>
                </a:solidFill>
                <a:effectLst/>
                <a:latin typeface="+mn-lt"/>
                <a:ea typeface="+mn-ea"/>
                <a:cs typeface="+mn-cs"/>
              </a:rPr>
              <a:t>HeadingsMap</a:t>
            </a:r>
            <a:r>
              <a:rPr lang="nl-NL" sz="1200" kern="1200" dirty="0">
                <a:solidFill>
                  <a:schemeClr val="tx1"/>
                </a:solidFill>
                <a:effectLst/>
                <a:latin typeface="+mn-lt"/>
                <a:ea typeface="+mn-ea"/>
                <a:cs typeface="+mn-cs"/>
              </a:rPr>
              <a:t> om structuur te controleren</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Waarom belangrijk:</a:t>
            </a:r>
          </a:p>
          <a:p>
            <a:pPr lvl="0"/>
            <a:r>
              <a:rPr lang="nl-NL" sz="1200" kern="1200" dirty="0">
                <a:solidFill>
                  <a:schemeClr val="tx1"/>
                </a:solidFill>
                <a:effectLst/>
                <a:latin typeface="+mn-lt"/>
                <a:ea typeface="+mn-ea"/>
                <a:cs typeface="+mn-cs"/>
              </a:rPr>
              <a:t>Screenreader-gebruikers navigeren vaak via koppen</a:t>
            </a:r>
          </a:p>
          <a:p>
            <a:pPr lvl="0"/>
            <a:r>
              <a:rPr lang="nl-NL" sz="1200" kern="1200" dirty="0">
                <a:solidFill>
                  <a:schemeClr val="tx1"/>
                </a:solidFill>
                <a:effectLst/>
                <a:latin typeface="+mn-lt"/>
                <a:ea typeface="+mn-ea"/>
                <a:cs typeface="+mn-cs"/>
              </a:rPr>
              <a:t>Helpt iedereen om snel content te scannen</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Demo mogelijk: Laat </a:t>
            </a:r>
            <a:r>
              <a:rPr lang="nl-NL" sz="1200" kern="1200" dirty="0" err="1">
                <a:solidFill>
                  <a:schemeClr val="tx1"/>
                </a:solidFill>
                <a:effectLst/>
                <a:latin typeface="+mn-lt"/>
                <a:ea typeface="+mn-ea"/>
                <a:cs typeface="+mn-cs"/>
              </a:rPr>
              <a:t>HeadingsMap</a:t>
            </a:r>
            <a:r>
              <a:rPr lang="nl-NL" sz="1200" kern="1200" dirty="0">
                <a:solidFill>
                  <a:schemeClr val="tx1"/>
                </a:solidFill>
                <a:effectLst/>
                <a:latin typeface="+mn-lt"/>
                <a:ea typeface="+mn-ea"/>
                <a:cs typeface="+mn-cs"/>
              </a:rPr>
              <a:t> zien op een goede en slechte website</a:t>
            </a: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18</a:t>
            </a:fld>
            <a:endParaRPr lang="nl-NL"/>
          </a:p>
        </p:txBody>
      </p:sp>
    </p:spTree>
    <p:extLst>
      <p:ext uri="{BB962C8B-B14F-4D97-AF65-F5344CB8AC3E}">
        <p14:creationId xmlns:p14="http://schemas.microsoft.com/office/powerpoint/2010/main" val="1834637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41FD8-A400-2EF9-AE8F-76D89416CF6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6E689A0-5A59-211B-6144-FDFDEFC3278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4CBC8EE-4F6F-C035-16F6-65DCCCADCFFF}"/>
              </a:ext>
            </a:extLst>
          </p:cNvPr>
          <p:cNvSpPr>
            <a:spLocks noGrp="1"/>
          </p:cNvSpPr>
          <p:nvPr>
            <p:ph type="body" idx="1"/>
          </p:nvPr>
        </p:nvSpPr>
        <p:spPr/>
        <p:txBody>
          <a:bodyPr/>
          <a:lstStyle/>
          <a:p>
            <a:pPr lvl="0"/>
            <a:r>
              <a:rPr lang="nl-NL" sz="1200" b="0" kern="1200" dirty="0">
                <a:solidFill>
                  <a:schemeClr val="tx1"/>
                </a:solidFill>
                <a:effectLst/>
                <a:latin typeface="+mn-lt"/>
                <a:ea typeface="+mn-ea"/>
                <a:cs typeface="+mn-cs"/>
              </a:rPr>
              <a:t>Belangrijke punten:</a:t>
            </a:r>
            <a:endParaRPr lang="nl-NL" dirty="0">
              <a:ea typeface="+mn-ea"/>
              <a:cs typeface="+mn-cs"/>
            </a:endParaRPr>
          </a:p>
          <a:p>
            <a:pPr lvl="0"/>
            <a:r>
              <a:rPr lang="nl-NL" sz="1200" b="0" kern="1200" dirty="0">
                <a:solidFill>
                  <a:schemeClr val="tx1"/>
                </a:solidFill>
                <a:effectLst/>
                <a:latin typeface="+mn-lt"/>
                <a:ea typeface="+mn-ea"/>
                <a:cs typeface="+mn-cs"/>
              </a:rPr>
              <a:t>Duidelijke hiërarchie: H1 → H2 → H3</a:t>
            </a:r>
          </a:p>
          <a:p>
            <a:pPr lvl="0"/>
            <a:r>
              <a:rPr lang="nl-NL" sz="1200" b="0" kern="1200" dirty="0">
                <a:solidFill>
                  <a:schemeClr val="tx1"/>
                </a:solidFill>
                <a:effectLst/>
                <a:latin typeface="+mn-lt"/>
                <a:ea typeface="+mn-ea"/>
                <a:cs typeface="+mn-cs"/>
              </a:rPr>
              <a:t>Geen </a:t>
            </a:r>
            <a:r>
              <a:rPr lang="nl-NL" sz="1200" b="0" kern="1200" dirty="0" err="1">
                <a:solidFill>
                  <a:schemeClr val="tx1"/>
                </a:solidFill>
                <a:effectLst/>
                <a:latin typeface="+mn-lt"/>
                <a:ea typeface="+mn-ea"/>
                <a:cs typeface="+mn-cs"/>
              </a:rPr>
              <a:t>niveau's</a:t>
            </a:r>
            <a:r>
              <a:rPr lang="nl-NL" sz="1200" b="0" kern="1200" dirty="0">
                <a:solidFill>
                  <a:schemeClr val="tx1"/>
                </a:solidFill>
                <a:effectLst/>
                <a:latin typeface="+mn-lt"/>
                <a:ea typeface="+mn-ea"/>
                <a:cs typeface="+mn-cs"/>
              </a:rPr>
              <a:t> overgeslagen</a:t>
            </a:r>
          </a:p>
          <a:p>
            <a:pPr lvl="0"/>
            <a:r>
              <a:rPr lang="nl-NL" sz="1200" b="0" kern="1200" dirty="0">
                <a:solidFill>
                  <a:schemeClr val="tx1"/>
                </a:solidFill>
                <a:effectLst/>
                <a:latin typeface="+mn-lt"/>
                <a:ea typeface="+mn-ea"/>
                <a:cs typeface="+mn-cs"/>
              </a:rPr>
              <a:t>Koppen zijn beschrijvend</a:t>
            </a:r>
          </a:p>
          <a:p>
            <a:pPr lvl="0"/>
            <a:r>
              <a:rPr lang="nl-NL" sz="1200" b="0" kern="1200" dirty="0">
                <a:solidFill>
                  <a:schemeClr val="tx1"/>
                </a:solidFill>
                <a:effectLst/>
                <a:latin typeface="+mn-lt"/>
                <a:ea typeface="+mn-ea"/>
                <a:cs typeface="+mn-cs"/>
              </a:rPr>
              <a:t>Mix van </a:t>
            </a:r>
            <a:r>
              <a:rPr lang="nl-NL" sz="1200" b="0" kern="1200" dirty="0" err="1">
                <a:solidFill>
                  <a:schemeClr val="tx1"/>
                </a:solidFill>
                <a:effectLst/>
                <a:latin typeface="+mn-lt"/>
                <a:ea typeface="+mn-ea"/>
                <a:cs typeface="+mn-cs"/>
              </a:rPr>
              <a:t>headings</a:t>
            </a:r>
            <a:r>
              <a:rPr lang="nl-NL" sz="1200" b="0" kern="1200" dirty="0">
                <a:solidFill>
                  <a:schemeClr val="tx1"/>
                </a:solidFill>
                <a:effectLst/>
                <a:latin typeface="+mn-lt"/>
                <a:ea typeface="+mn-ea"/>
                <a:cs typeface="+mn-cs"/>
              </a:rPr>
              <a:t>, </a:t>
            </a:r>
            <a:r>
              <a:rPr lang="nl-NL" sz="1200" b="0" kern="1200" dirty="0" err="1">
                <a:solidFill>
                  <a:schemeClr val="tx1"/>
                </a:solidFill>
                <a:effectLst/>
                <a:latin typeface="+mn-lt"/>
                <a:ea typeface="+mn-ea"/>
                <a:cs typeface="+mn-cs"/>
              </a:rPr>
              <a:t>paragraphs</a:t>
            </a:r>
            <a:r>
              <a:rPr lang="nl-NL" sz="1200" b="0" kern="1200" dirty="0">
                <a:solidFill>
                  <a:schemeClr val="tx1"/>
                </a:solidFill>
                <a:effectLst/>
                <a:latin typeface="+mn-lt"/>
                <a:ea typeface="+mn-ea"/>
                <a:cs typeface="+mn-cs"/>
              </a:rPr>
              <a:t> en </a:t>
            </a:r>
            <a:r>
              <a:rPr lang="nl-NL" sz="1200" b="0" kern="1200" dirty="0" err="1">
                <a:solidFill>
                  <a:schemeClr val="tx1"/>
                </a:solidFill>
                <a:effectLst/>
                <a:latin typeface="+mn-lt"/>
                <a:ea typeface="+mn-ea"/>
                <a:cs typeface="+mn-cs"/>
              </a:rPr>
              <a:t>lists</a:t>
            </a:r>
            <a:r>
              <a:rPr lang="nl-NL" sz="1200" b="0" kern="1200" dirty="0">
                <a:solidFill>
                  <a:schemeClr val="tx1"/>
                </a:solidFill>
                <a:effectLst/>
                <a:latin typeface="+mn-lt"/>
                <a:ea typeface="+mn-ea"/>
                <a:cs typeface="+mn-cs"/>
              </a:rPr>
              <a:t> voor structuur</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Waarom dit voorbeeld goed is:</a:t>
            </a:r>
          </a:p>
          <a:p>
            <a:pPr lvl="0"/>
            <a:r>
              <a:rPr lang="nl-NL" sz="1200" b="0" kern="1200" dirty="0">
                <a:solidFill>
                  <a:schemeClr val="tx1"/>
                </a:solidFill>
                <a:effectLst/>
                <a:latin typeface="+mn-lt"/>
                <a:ea typeface="+mn-ea"/>
                <a:cs typeface="+mn-cs"/>
              </a:rPr>
              <a:t>Logische structuur</a:t>
            </a:r>
          </a:p>
          <a:p>
            <a:pPr lvl="0"/>
            <a:r>
              <a:rPr lang="nl-NL" sz="1200" b="0" kern="1200" dirty="0" err="1">
                <a:solidFill>
                  <a:schemeClr val="tx1"/>
                </a:solidFill>
                <a:effectLst/>
                <a:latin typeface="+mn-lt"/>
                <a:ea typeface="+mn-ea"/>
                <a:cs typeface="+mn-cs"/>
              </a:rPr>
              <a:t>Scanbaar</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Semantisch correct</a:t>
            </a:r>
          </a:p>
          <a:p>
            <a:pPr lvl="0"/>
            <a:r>
              <a:rPr lang="nl-NL" sz="1200" b="0" kern="1200" dirty="0">
                <a:solidFill>
                  <a:schemeClr val="tx1"/>
                </a:solidFill>
                <a:effectLst/>
                <a:latin typeface="+mn-lt"/>
                <a:ea typeface="+mn-ea"/>
                <a:cs typeface="+mn-cs"/>
              </a:rPr>
              <a:t>Screenreader kan goed </a:t>
            </a:r>
            <a:r>
              <a:rPr lang="nl-NL" sz="1200" kern="1200" dirty="0">
                <a:solidFill>
                  <a:schemeClr val="tx1"/>
                </a:solidFill>
                <a:effectLst/>
                <a:latin typeface="+mn-lt"/>
                <a:ea typeface="+mn-ea"/>
                <a:cs typeface="+mn-cs"/>
              </a:rPr>
              <a:t>navigeren</a:t>
            </a:r>
          </a:p>
          <a:p>
            <a:endParaRPr lang="nl-NL" dirty="0"/>
          </a:p>
        </p:txBody>
      </p:sp>
      <p:sp>
        <p:nvSpPr>
          <p:cNvPr id="4" name="Tijdelijke aanduiding voor dianummer 3">
            <a:extLst>
              <a:ext uri="{FF2B5EF4-FFF2-40B4-BE49-F238E27FC236}">
                <a16:creationId xmlns:a16="http://schemas.microsoft.com/office/drawing/2014/main" id="{E518291B-32F6-CA70-F071-50037BD78747}"/>
              </a:ext>
            </a:extLst>
          </p:cNvPr>
          <p:cNvSpPr>
            <a:spLocks noGrp="1"/>
          </p:cNvSpPr>
          <p:nvPr>
            <p:ph type="sldNum" sz="quarter" idx="5"/>
          </p:nvPr>
        </p:nvSpPr>
        <p:spPr/>
        <p:txBody>
          <a:bodyPr/>
          <a:lstStyle/>
          <a:p>
            <a:fld id="{945DCDBF-DF07-42E1-A6C5-1ACF461A284A}" type="slidenum">
              <a:rPr lang="nl-NL" smtClean="0"/>
              <a:t>19</a:t>
            </a:fld>
            <a:endParaRPr lang="nl-NL"/>
          </a:p>
        </p:txBody>
      </p:sp>
    </p:spTree>
    <p:extLst>
      <p:ext uri="{BB962C8B-B14F-4D97-AF65-F5344CB8AC3E}">
        <p14:creationId xmlns:p14="http://schemas.microsoft.com/office/powerpoint/2010/main" val="3730559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A0A7-FF02-13B1-3912-50980C1DA79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E809243-F04F-4A41-A0EB-03ADA1CFE97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ED469AE-0C69-9E1C-E6E7-CBEF74A12C5F}"/>
              </a:ext>
            </a:extLst>
          </p:cNvPr>
          <p:cNvSpPr>
            <a:spLocks noGrp="1"/>
          </p:cNvSpPr>
          <p:nvPr>
            <p:ph type="body" idx="1"/>
          </p:nvPr>
        </p:nvSpPr>
        <p:spPr/>
        <p:txBody>
          <a:bodyPr/>
          <a:lstStyle/>
          <a:p>
            <a:pPr lvl="0"/>
            <a:r>
              <a:rPr lang="nl-NL" sz="1200" b="0" kern="1200" dirty="0">
                <a:solidFill>
                  <a:schemeClr val="tx1"/>
                </a:solidFill>
                <a:effectLst/>
                <a:latin typeface="+mn-lt"/>
                <a:ea typeface="+mn-ea"/>
                <a:cs typeface="+mn-cs"/>
              </a:rPr>
              <a:t>Uitleg WCAG 4.1.2:</a:t>
            </a:r>
          </a:p>
          <a:p>
            <a:pPr lvl="0"/>
            <a:r>
              <a:rPr lang="nl-NL" sz="1200" b="0" kern="1200" dirty="0">
                <a:solidFill>
                  <a:schemeClr val="tx1"/>
                </a:solidFill>
                <a:effectLst/>
                <a:latin typeface="+mn-lt"/>
                <a:ea typeface="+mn-ea"/>
                <a:cs typeface="+mn-cs"/>
              </a:rPr>
              <a:t>Elk UI-element moet hebben:</a:t>
            </a:r>
          </a:p>
          <a:p>
            <a:pPr lvl="1"/>
            <a:r>
              <a:rPr lang="nl-NL" sz="1200" b="0" kern="1200" dirty="0">
                <a:solidFill>
                  <a:schemeClr val="tx1"/>
                </a:solidFill>
                <a:effectLst/>
                <a:latin typeface="+mn-lt"/>
                <a:ea typeface="+mn-ea"/>
                <a:cs typeface="+mn-cs"/>
              </a:rPr>
              <a:t>Naam: Wat is het? ("Ja, dit was nuttig" / "Nee, dit was niet nuttig")</a:t>
            </a:r>
          </a:p>
          <a:p>
            <a:pPr lvl="1"/>
            <a:r>
              <a:rPr lang="nl-NL" sz="1200" b="0" kern="1200" dirty="0">
                <a:solidFill>
                  <a:schemeClr val="tx1"/>
                </a:solidFill>
                <a:effectLst/>
                <a:latin typeface="+mn-lt"/>
                <a:ea typeface="+mn-ea"/>
                <a:cs typeface="+mn-cs"/>
              </a:rPr>
              <a:t>Rol: Wat voor soort element? (button, link, </a:t>
            </a:r>
            <a:r>
              <a:rPr lang="nl-NL" sz="1200" b="0" kern="1200" dirty="0" err="1">
                <a:solidFill>
                  <a:schemeClr val="tx1"/>
                </a:solidFill>
                <a:effectLst/>
                <a:latin typeface="+mn-lt"/>
                <a:ea typeface="+mn-ea"/>
                <a:cs typeface="+mn-cs"/>
              </a:rPr>
              <a:t>checkbox</a:t>
            </a:r>
            <a:r>
              <a:rPr lang="nl-NL" sz="1200" b="0" kern="1200" dirty="0">
                <a:solidFill>
                  <a:schemeClr val="tx1"/>
                </a:solidFill>
                <a:effectLst/>
                <a:latin typeface="+mn-lt"/>
                <a:ea typeface="+mn-ea"/>
                <a:cs typeface="+mn-cs"/>
              </a:rPr>
              <a:t>, etc.)</a:t>
            </a:r>
          </a:p>
          <a:p>
            <a:pPr lvl="1"/>
            <a:r>
              <a:rPr lang="nl-NL" sz="1200" b="0" kern="1200" dirty="0">
                <a:solidFill>
                  <a:schemeClr val="tx1"/>
                </a:solidFill>
                <a:effectLst/>
                <a:latin typeface="+mn-lt"/>
                <a:ea typeface="+mn-ea"/>
                <a:cs typeface="+mn-cs"/>
              </a:rPr>
              <a:t>Waarde: Wat is de status? (</a:t>
            </a:r>
            <a:r>
              <a:rPr lang="nl-NL" sz="1200" b="0" kern="1200" dirty="0" err="1">
                <a:solidFill>
                  <a:schemeClr val="tx1"/>
                </a:solidFill>
                <a:effectLst/>
                <a:latin typeface="+mn-lt"/>
                <a:ea typeface="+mn-ea"/>
                <a:cs typeface="+mn-cs"/>
              </a:rPr>
              <a:t>checked</a:t>
            </a:r>
            <a:r>
              <a:rPr lang="nl-NL" sz="1200" b="0" kern="1200" dirty="0">
                <a:solidFill>
                  <a:schemeClr val="tx1"/>
                </a:solidFill>
                <a:effectLst/>
                <a:latin typeface="+mn-lt"/>
                <a:ea typeface="+mn-ea"/>
                <a:cs typeface="+mn-cs"/>
              </a:rPr>
              <a:t>, expanded, etc.)</a:t>
            </a:r>
            <a:endParaRPr lang="nl-NL" sz="1200" b="0" i="0" kern="1200" dirty="0">
              <a:solidFill>
                <a:schemeClr val="tx1"/>
              </a:solidFill>
              <a:effectLst/>
              <a:latin typeface="+mn-lt"/>
              <a:ea typeface="+mn-ea"/>
              <a:cs typeface="+mn-cs"/>
            </a:endParaRPr>
          </a:p>
          <a:p>
            <a:pPr lvl="1"/>
            <a:endParaRPr lang="nl-NL" sz="1200" b="0" i="0" kern="1200" dirty="0">
              <a:solidFill>
                <a:schemeClr val="tx1"/>
              </a:solidFill>
              <a:effectLst/>
              <a:latin typeface="+mn-lt"/>
              <a:ea typeface="+mn-ea"/>
              <a:cs typeface="+mn-cs"/>
            </a:endParaRPr>
          </a:p>
          <a:p>
            <a:pPr lvl="1"/>
            <a:endParaRPr lang="nl-NL" sz="1200" b="0" i="0" kern="1200" dirty="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A0D1486D-A366-18DA-FF93-EA9719A47FB5}"/>
              </a:ext>
            </a:extLst>
          </p:cNvPr>
          <p:cNvSpPr>
            <a:spLocks noGrp="1"/>
          </p:cNvSpPr>
          <p:nvPr>
            <p:ph type="sldNum" sz="quarter" idx="5"/>
          </p:nvPr>
        </p:nvSpPr>
        <p:spPr/>
        <p:txBody>
          <a:bodyPr/>
          <a:lstStyle/>
          <a:p>
            <a:fld id="{945DCDBF-DF07-42E1-A6C5-1ACF461A284A}" type="slidenum">
              <a:rPr lang="nl-NL" smtClean="0"/>
              <a:t>20</a:t>
            </a:fld>
            <a:endParaRPr lang="nl-NL"/>
          </a:p>
        </p:txBody>
      </p:sp>
    </p:spTree>
    <p:extLst>
      <p:ext uri="{BB962C8B-B14F-4D97-AF65-F5344CB8AC3E}">
        <p14:creationId xmlns:p14="http://schemas.microsoft.com/office/powerpoint/2010/main" val="1608424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Uitleg WCAG 4.1.2:</a:t>
            </a:r>
          </a:p>
          <a:p>
            <a:pPr lvl="0"/>
            <a:r>
              <a:rPr lang="nl-NL" sz="1200" b="0" kern="1200" dirty="0">
                <a:solidFill>
                  <a:schemeClr val="tx1"/>
                </a:solidFill>
                <a:effectLst/>
                <a:latin typeface="+mn-lt"/>
                <a:ea typeface="+mn-ea"/>
                <a:cs typeface="+mn-cs"/>
              </a:rPr>
              <a:t>Elk UI-element moet hebben:</a:t>
            </a:r>
          </a:p>
          <a:p>
            <a:pPr lvl="1"/>
            <a:r>
              <a:rPr lang="nl-NL" sz="1200" b="0" kern="1200" dirty="0">
                <a:solidFill>
                  <a:schemeClr val="tx1"/>
                </a:solidFill>
                <a:effectLst/>
                <a:latin typeface="+mn-lt"/>
                <a:ea typeface="+mn-ea"/>
                <a:cs typeface="+mn-cs"/>
              </a:rPr>
              <a:t>Naam: Wat is het? ("Ja, dit was nuttig" / "Nee, dit was niet nuttig")</a:t>
            </a:r>
          </a:p>
          <a:p>
            <a:pPr lvl="1"/>
            <a:r>
              <a:rPr lang="nl-NL" sz="1200" b="0" kern="1200" dirty="0">
                <a:solidFill>
                  <a:schemeClr val="tx1"/>
                </a:solidFill>
                <a:effectLst/>
                <a:latin typeface="+mn-lt"/>
                <a:ea typeface="+mn-ea"/>
                <a:cs typeface="+mn-cs"/>
              </a:rPr>
              <a:t>Rol: Wat voor soort element? (button, link, </a:t>
            </a:r>
            <a:r>
              <a:rPr lang="nl-NL" sz="1200" b="0" kern="1200" dirty="0" err="1">
                <a:solidFill>
                  <a:schemeClr val="tx1"/>
                </a:solidFill>
                <a:effectLst/>
                <a:latin typeface="+mn-lt"/>
                <a:ea typeface="+mn-ea"/>
                <a:cs typeface="+mn-cs"/>
              </a:rPr>
              <a:t>checkbox</a:t>
            </a:r>
            <a:r>
              <a:rPr lang="nl-NL" sz="1200" b="0" kern="1200" dirty="0">
                <a:solidFill>
                  <a:schemeClr val="tx1"/>
                </a:solidFill>
                <a:effectLst/>
                <a:latin typeface="+mn-lt"/>
                <a:ea typeface="+mn-ea"/>
                <a:cs typeface="+mn-cs"/>
              </a:rPr>
              <a:t>, etc.)</a:t>
            </a:r>
          </a:p>
          <a:p>
            <a:pPr lvl="1"/>
            <a:r>
              <a:rPr lang="nl-NL" sz="1200" b="0" kern="1200" dirty="0">
                <a:solidFill>
                  <a:schemeClr val="tx1"/>
                </a:solidFill>
                <a:effectLst/>
                <a:latin typeface="+mn-lt"/>
                <a:ea typeface="+mn-ea"/>
                <a:cs typeface="+mn-cs"/>
              </a:rPr>
              <a:t>Waarde: Wat is de status? (</a:t>
            </a:r>
            <a:r>
              <a:rPr lang="nl-NL" sz="1200" b="0" kern="1200" dirty="0" err="1">
                <a:solidFill>
                  <a:schemeClr val="tx1"/>
                </a:solidFill>
                <a:effectLst/>
                <a:latin typeface="+mn-lt"/>
                <a:ea typeface="+mn-ea"/>
                <a:cs typeface="+mn-cs"/>
              </a:rPr>
              <a:t>checked</a:t>
            </a:r>
            <a:r>
              <a:rPr lang="nl-NL" sz="1200" b="0" kern="1200" dirty="0">
                <a:solidFill>
                  <a:schemeClr val="tx1"/>
                </a:solidFill>
                <a:effectLst/>
                <a:latin typeface="+mn-lt"/>
                <a:ea typeface="+mn-ea"/>
                <a:cs typeface="+mn-cs"/>
              </a:rPr>
              <a:t>, expanded, etc.)</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Voorbeeld op slide:</a:t>
            </a:r>
          </a:p>
          <a:p>
            <a:pPr lvl="0"/>
            <a:r>
              <a:rPr lang="nl-NL" sz="1200" b="0" kern="1200" dirty="0">
                <a:solidFill>
                  <a:schemeClr val="tx1"/>
                </a:solidFill>
                <a:effectLst/>
                <a:latin typeface="+mn-lt"/>
                <a:ea typeface="+mn-ea"/>
                <a:cs typeface="+mn-cs"/>
              </a:rPr>
              <a:t>Vraag: "Was dit antwoord nuttig?"</a:t>
            </a:r>
          </a:p>
          <a:p>
            <a:pPr lvl="0"/>
            <a:r>
              <a:rPr lang="nl-NL" sz="1200" b="0" kern="1200" dirty="0">
                <a:solidFill>
                  <a:schemeClr val="tx1"/>
                </a:solidFill>
                <a:effectLst/>
                <a:latin typeface="+mn-lt"/>
                <a:ea typeface="+mn-ea"/>
                <a:cs typeface="+mn-cs"/>
              </a:rPr>
              <a:t>Twee pictogrammen: duim omhoog en duim omlaag</a:t>
            </a:r>
          </a:p>
          <a:p>
            <a:pPr lvl="0"/>
            <a:r>
              <a:rPr lang="nl-NL" sz="1200" b="0" kern="1200" dirty="0">
                <a:solidFill>
                  <a:schemeClr val="tx1"/>
                </a:solidFill>
                <a:effectLst/>
                <a:latin typeface="+mn-lt"/>
                <a:ea typeface="+mn-ea"/>
                <a:cs typeface="+mn-cs"/>
              </a:rPr>
              <a:t>Probleem: Pictogrammen zijn aanklikbaar maar hebben geen naam</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Wat screenreader voorleest:</a:t>
            </a:r>
          </a:p>
          <a:p>
            <a:pPr lvl="0"/>
            <a:r>
              <a:rPr lang="nl-NL" sz="1200" b="0" kern="1200" dirty="0">
                <a:solidFill>
                  <a:schemeClr val="tx1"/>
                </a:solidFill>
                <a:effectLst/>
                <a:latin typeface="+mn-lt"/>
                <a:ea typeface="+mn-ea"/>
                <a:cs typeface="+mn-cs"/>
              </a:rPr>
              <a:t>"Was dit nuttig? Knop </a:t>
            </a:r>
            <a:r>
              <a:rPr lang="nl-NL" sz="1200" b="0" kern="1200" dirty="0" err="1">
                <a:solidFill>
                  <a:schemeClr val="tx1"/>
                </a:solidFill>
                <a:effectLst/>
                <a:latin typeface="+mn-lt"/>
                <a:ea typeface="+mn-ea"/>
                <a:cs typeface="+mn-cs"/>
              </a:rPr>
              <a:t>Knop</a:t>
            </a:r>
            <a:r>
              <a:rPr lang="nl-NL" sz="1200" b="0" kern="1200" dirty="0">
                <a:solidFill>
                  <a:schemeClr val="tx1"/>
                </a:solidFill>
                <a:effectLst/>
                <a:latin typeface="+mn-lt"/>
                <a:ea typeface="+mn-ea"/>
                <a:cs typeface="+mn-cs"/>
              </a:rPr>
              <a:t>"</a:t>
            </a:r>
          </a:p>
          <a:p>
            <a:pPr lvl="0"/>
            <a:r>
              <a:rPr lang="nl-NL" sz="1200" b="0" kern="1200" dirty="0">
                <a:solidFill>
                  <a:schemeClr val="tx1"/>
                </a:solidFill>
                <a:effectLst/>
                <a:latin typeface="+mn-lt"/>
                <a:ea typeface="+mn-ea"/>
                <a:cs typeface="+mn-cs"/>
              </a:rPr>
              <a:t>Gebruiker weet niet wat elke knop doet</a:t>
            </a:r>
          </a:p>
          <a:p>
            <a:pPr lvl="0"/>
            <a:endParaRPr lang="nl-NL" sz="1200" b="0" kern="1200" dirty="0">
              <a:solidFill>
                <a:schemeClr val="tx1"/>
              </a:solidFill>
              <a:effectLst/>
              <a:latin typeface="+mn-lt"/>
              <a:ea typeface="+mn-ea"/>
              <a:cs typeface="+mn-cs"/>
            </a:endParaRPr>
          </a:p>
          <a:p>
            <a:endParaRPr lang="nl-NL" sz="1200" b="1"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Oplossing</a:t>
            </a:r>
          </a:p>
          <a:p>
            <a:r>
              <a:rPr lang="nl-NL" sz="1200" b="0" i="0" kern="1200" dirty="0">
                <a:solidFill>
                  <a:schemeClr val="tx1"/>
                </a:solidFill>
                <a:effectLst/>
                <a:latin typeface="+mn-lt"/>
                <a:ea typeface="+mn-ea"/>
                <a:cs typeface="+mn-cs"/>
              </a:rPr>
              <a:t>1. Content van het element (beste optie)</a:t>
            </a:r>
          </a:p>
          <a:p>
            <a:r>
              <a:rPr lang="nl-NL" sz="1200" b="0" i="0" kern="1200" dirty="0">
                <a:solidFill>
                  <a:schemeClr val="tx1"/>
                </a:solidFill>
                <a:effectLst/>
                <a:latin typeface="+mn-lt"/>
                <a:ea typeface="+mn-ea"/>
                <a:cs typeface="+mn-cs"/>
              </a:rPr>
              <a:t>&lt;button&gt;Ja, dit was nuttig 👍&lt;/button&gt;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Tekst is zichtbaar voor iedereen</a:t>
            </a:r>
          </a:p>
          <a:p>
            <a:r>
              <a:rPr lang="nl-NL" sz="1200" b="0" i="0" kern="1200" dirty="0">
                <a:solidFill>
                  <a:schemeClr val="tx1"/>
                </a:solidFill>
                <a:effectLst/>
                <a:latin typeface="+mn-lt"/>
                <a:ea typeface="+mn-ea"/>
                <a:cs typeface="+mn-cs"/>
              </a:rPr>
              <a:t>4. Aria-label </a:t>
            </a:r>
          </a:p>
          <a:p>
            <a:r>
              <a:rPr lang="nl-NL" sz="1200" b="0" i="0" kern="1200" dirty="0">
                <a:solidFill>
                  <a:schemeClr val="tx1"/>
                </a:solidFill>
                <a:effectLst/>
                <a:latin typeface="+mn-lt"/>
                <a:ea typeface="+mn-ea"/>
                <a:cs typeface="+mn-cs"/>
              </a:rPr>
              <a:t>&lt;button aria-label="Ja, dit was nuttig"&gt;👍&lt;/button&gt;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Nadeel: alleen zichtbaar voor screenreaders</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Belangrijk principe: Zichtbare tekst is altijd beter dan alleen ARIA - het helpt álle gebruikers, niet alleen screenreader-gebruikers.</a:t>
            </a:r>
          </a:p>
          <a:p>
            <a:pPr lvl="0"/>
            <a:endParaRPr lang="nl-NL" sz="1200" b="0" kern="1200" dirty="0">
              <a:solidFill>
                <a:schemeClr val="tx1"/>
              </a:solidFill>
              <a:effectLst/>
              <a:latin typeface="+mn-lt"/>
              <a:ea typeface="+mn-ea"/>
              <a:cs typeface="+mn-cs"/>
            </a:endParaRPr>
          </a:p>
          <a:p>
            <a:endParaRPr lang="nl-NL" sz="1200" b="0" kern="1200" dirty="0">
              <a:solidFill>
                <a:schemeClr val="tx1"/>
              </a:solidFill>
              <a:effectLst/>
              <a:latin typeface="+mn-lt"/>
              <a:ea typeface="+mn-ea"/>
              <a:cs typeface="+mn-cs"/>
            </a:endParaRPr>
          </a:p>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21</a:t>
            </a:fld>
            <a:endParaRPr lang="nl-NL"/>
          </a:p>
        </p:txBody>
      </p:sp>
    </p:spTree>
    <p:extLst>
      <p:ext uri="{BB962C8B-B14F-4D97-AF65-F5344CB8AC3E}">
        <p14:creationId xmlns:p14="http://schemas.microsoft.com/office/powerpoint/2010/main" val="2692052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a:solidFill>
                  <a:schemeClr val="tx1"/>
                </a:solidFill>
                <a:effectLst/>
                <a:latin typeface="+mn-lt"/>
                <a:ea typeface="+mn-ea"/>
                <a:cs typeface="+mn-cs"/>
              </a:rPr>
              <a:t>Contrasteisen uitleggen:</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WCAG-eisen:</a:t>
            </a:r>
          </a:p>
          <a:p>
            <a:pPr lvl="0"/>
            <a:r>
              <a:rPr lang="nl-NL" sz="1200" b="0" kern="1200">
                <a:solidFill>
                  <a:schemeClr val="tx1"/>
                </a:solidFill>
                <a:effectLst/>
                <a:latin typeface="+mn-lt"/>
                <a:ea typeface="+mn-ea"/>
                <a:cs typeface="+mn-cs"/>
              </a:rPr>
              <a:t>Tekst: Minimaal 4,5:1 contrast</a:t>
            </a:r>
          </a:p>
          <a:p>
            <a:pPr lvl="0"/>
            <a:r>
              <a:rPr lang="nl-NL" sz="1200" b="0" kern="1200">
                <a:solidFill>
                  <a:schemeClr val="tx1"/>
                </a:solidFill>
                <a:effectLst/>
                <a:latin typeface="+mn-lt"/>
                <a:ea typeface="+mn-ea"/>
                <a:cs typeface="+mn-cs"/>
              </a:rPr>
              <a:t>Grote tekst: Minimaal 3:1 contrast (18pt+ normaal of 14pt+ vet)</a:t>
            </a:r>
          </a:p>
          <a:p>
            <a:pPr lvl="0"/>
            <a:r>
              <a:rPr lang="nl-NL" sz="1200" b="0" kern="1200">
                <a:solidFill>
                  <a:schemeClr val="tx1"/>
                </a:solidFill>
                <a:effectLst/>
                <a:latin typeface="+mn-lt"/>
                <a:ea typeface="+mn-ea"/>
                <a:cs typeface="+mn-cs"/>
              </a:rPr>
              <a:t>Niet-tekst: Minimaal 3:1 (UI-componenten, grafische objecten)</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Hoe controleren:</a:t>
            </a:r>
          </a:p>
          <a:p>
            <a:pPr lvl="0"/>
            <a:r>
              <a:rPr lang="en-US" sz="1200" b="0" kern="1200" err="1">
                <a:solidFill>
                  <a:schemeClr val="tx1"/>
                </a:solidFill>
                <a:effectLst/>
                <a:latin typeface="+mn-lt"/>
                <a:ea typeface="+mn-ea"/>
                <a:cs typeface="+mn-cs"/>
              </a:rPr>
              <a:t>Colour</a:t>
            </a:r>
            <a:r>
              <a:rPr lang="en-US" sz="1200" b="0" kern="1200">
                <a:solidFill>
                  <a:schemeClr val="tx1"/>
                </a:solidFill>
                <a:effectLst/>
                <a:latin typeface="+mn-lt"/>
                <a:ea typeface="+mn-ea"/>
                <a:cs typeface="+mn-cs"/>
              </a:rPr>
              <a:t> Contrast Analyzer (link: </a:t>
            </a:r>
            <a:r>
              <a:rPr lang="en-US" sz="1200" b="0" u="sng" kern="1200">
                <a:solidFill>
                  <a:schemeClr val="tx1"/>
                </a:solidFill>
                <a:effectLst/>
                <a:latin typeface="+mn-lt"/>
                <a:ea typeface="+mn-ea"/>
                <a:cs typeface="+mn-cs"/>
                <a:hlinkClick r:id="rId3"/>
              </a:rPr>
              <a:t>https://www.tpgi.com/color-contrast-checker</a:t>
            </a:r>
            <a:r>
              <a:rPr lang="en-US" sz="1200" b="0" kern="1200">
                <a:solidFill>
                  <a:schemeClr val="tx1"/>
                </a:solidFill>
                <a:effectLst/>
                <a:latin typeface="+mn-lt"/>
                <a:ea typeface="+mn-ea"/>
                <a:cs typeface="+mn-cs"/>
              </a:rPr>
              <a:t>)</a:t>
            </a:r>
            <a:endParaRPr lang="nl-NL" sz="1200" b="0" kern="1200">
              <a:solidFill>
                <a:schemeClr val="tx1"/>
              </a:solidFill>
              <a:effectLst/>
              <a:latin typeface="+mn-lt"/>
              <a:ea typeface="+mn-ea"/>
              <a:cs typeface="+mn-cs"/>
            </a:endParaRPr>
          </a:p>
          <a:p>
            <a:pPr lvl="1"/>
            <a:r>
              <a:rPr lang="nl-NL" sz="1200" b="0" kern="1200">
                <a:solidFill>
                  <a:schemeClr val="tx1"/>
                </a:solidFill>
                <a:effectLst/>
                <a:latin typeface="+mn-lt"/>
                <a:ea typeface="+mn-ea"/>
                <a:cs typeface="+mn-cs"/>
              </a:rPr>
              <a:t>Gratis tool van </a:t>
            </a:r>
            <a:r>
              <a:rPr lang="nl-NL" sz="1200" b="0" kern="1200" err="1">
                <a:solidFill>
                  <a:schemeClr val="tx1"/>
                </a:solidFill>
                <a:effectLst/>
                <a:latin typeface="+mn-lt"/>
                <a:ea typeface="+mn-ea"/>
                <a:cs typeface="+mn-cs"/>
              </a:rPr>
              <a:t>TPGi</a:t>
            </a:r>
            <a:endParaRPr lang="nl-NL" sz="1200" b="0" kern="1200">
              <a:solidFill>
                <a:schemeClr val="tx1"/>
              </a:solidFill>
              <a:effectLst/>
              <a:latin typeface="+mn-lt"/>
              <a:ea typeface="+mn-ea"/>
              <a:cs typeface="+mn-cs"/>
            </a:endParaRPr>
          </a:p>
          <a:p>
            <a:pPr lvl="1"/>
            <a:r>
              <a:rPr lang="nl-NL" sz="1200" b="0" kern="1200">
                <a:solidFill>
                  <a:schemeClr val="tx1"/>
                </a:solidFill>
                <a:effectLst/>
                <a:latin typeface="+mn-lt"/>
                <a:ea typeface="+mn-ea"/>
                <a:cs typeface="+mn-cs"/>
              </a:rPr>
              <a:t>Meet contrast tussen twee kleuren</a:t>
            </a:r>
          </a:p>
          <a:p>
            <a:pPr lvl="1"/>
            <a:r>
              <a:rPr lang="nl-NL" sz="1200" b="0" kern="1200">
                <a:solidFill>
                  <a:schemeClr val="tx1"/>
                </a:solidFill>
                <a:effectLst/>
                <a:latin typeface="+mn-lt"/>
                <a:ea typeface="+mn-ea"/>
                <a:cs typeface="+mn-cs"/>
              </a:rPr>
              <a:t>Geeft direct aan of het voldoet aan WCAG</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Andere tools:</a:t>
            </a:r>
          </a:p>
          <a:p>
            <a:pPr lvl="0"/>
            <a:r>
              <a:rPr lang="en-US" sz="1200" b="0" kern="1200">
                <a:solidFill>
                  <a:schemeClr val="tx1"/>
                </a:solidFill>
                <a:effectLst/>
                <a:latin typeface="+mn-lt"/>
                <a:ea typeface="+mn-ea"/>
                <a:cs typeface="+mn-cs"/>
              </a:rPr>
              <a:t>Browser plug-ins (</a:t>
            </a:r>
            <a:r>
              <a:rPr lang="en-US" sz="1200" b="0" kern="1200" err="1">
                <a:solidFill>
                  <a:schemeClr val="tx1"/>
                </a:solidFill>
                <a:effectLst/>
                <a:latin typeface="+mn-lt"/>
                <a:ea typeface="+mn-ea"/>
                <a:cs typeface="+mn-cs"/>
              </a:rPr>
              <a:t>bijv</a:t>
            </a:r>
            <a:r>
              <a:rPr lang="en-US" sz="1200" b="0" kern="1200">
                <a:solidFill>
                  <a:schemeClr val="tx1"/>
                </a:solidFill>
                <a:effectLst/>
                <a:latin typeface="+mn-lt"/>
                <a:ea typeface="+mn-ea"/>
                <a:cs typeface="+mn-cs"/>
              </a:rPr>
              <a:t>. WAVE, axe </a:t>
            </a:r>
            <a:r>
              <a:rPr lang="en-US" sz="1200" b="0" kern="1200" err="1">
                <a:solidFill>
                  <a:schemeClr val="tx1"/>
                </a:solidFill>
                <a:effectLst/>
                <a:latin typeface="+mn-lt"/>
                <a:ea typeface="+mn-ea"/>
                <a:cs typeface="+mn-cs"/>
              </a:rPr>
              <a:t>DevTools</a:t>
            </a:r>
            <a:r>
              <a:rPr lang="en-US" sz="1200" b="0" kern="1200">
                <a:solidFill>
                  <a:schemeClr val="tx1"/>
                </a:solidFill>
                <a:effectLst/>
                <a:latin typeface="+mn-lt"/>
                <a:ea typeface="+mn-ea"/>
                <a:cs typeface="+mn-cs"/>
              </a:rPr>
              <a:t>)</a:t>
            </a:r>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Online contrast checkers</a:t>
            </a:r>
          </a:p>
          <a:p>
            <a:pPr lvl="0"/>
            <a:r>
              <a:rPr lang="nl-NL" sz="1200" b="0" kern="1200">
                <a:solidFill>
                  <a:schemeClr val="tx1"/>
                </a:solidFill>
                <a:effectLst/>
                <a:latin typeface="+mn-lt"/>
                <a:ea typeface="+mn-ea"/>
                <a:cs typeface="+mn-cs"/>
              </a:rPr>
              <a:t>Design tools hebben vaak ingebouwde contrast checkers</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Waarom belangrijk:</a:t>
            </a:r>
          </a:p>
          <a:p>
            <a:pPr lvl="0"/>
            <a:r>
              <a:rPr lang="nl-NL" sz="1200" b="0" kern="1200">
                <a:solidFill>
                  <a:schemeClr val="tx1"/>
                </a:solidFill>
                <a:effectLst/>
                <a:latin typeface="+mn-lt"/>
                <a:ea typeface="+mn-ea"/>
                <a:cs typeface="+mn-cs"/>
              </a:rPr>
              <a:t>Essentieel voor slechtzienden</a:t>
            </a:r>
          </a:p>
          <a:p>
            <a:pPr lvl="0"/>
            <a:r>
              <a:rPr lang="nl-NL" sz="1200" b="0" kern="1200">
                <a:solidFill>
                  <a:schemeClr val="tx1"/>
                </a:solidFill>
                <a:effectLst/>
                <a:latin typeface="+mn-lt"/>
                <a:ea typeface="+mn-ea"/>
                <a:cs typeface="+mn-cs"/>
              </a:rPr>
              <a:t>Helpt in verschillende omstandigheden (zon, slechte verlichting)</a:t>
            </a:r>
          </a:p>
          <a:p>
            <a:pPr lvl="0"/>
            <a:r>
              <a:rPr lang="nl-NL" sz="1200" b="0" kern="1200">
                <a:solidFill>
                  <a:schemeClr val="tx1"/>
                </a:solidFill>
                <a:effectLst/>
                <a:latin typeface="+mn-lt"/>
                <a:ea typeface="+mn-ea"/>
                <a:cs typeface="+mn-cs"/>
              </a:rPr>
              <a:t>Verbetert leesbaarheid voor iedereen</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Demo mogelijk: Laat </a:t>
            </a:r>
            <a:r>
              <a:rPr lang="nl-NL" sz="1200" kern="1200">
                <a:solidFill>
                  <a:schemeClr val="tx1"/>
                </a:solidFill>
                <a:effectLst/>
                <a:latin typeface="+mn-lt"/>
                <a:ea typeface="+mn-ea"/>
                <a:cs typeface="+mn-cs"/>
              </a:rPr>
              <a:t>contrast checker zien met voorbeelden</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22</a:t>
            </a:fld>
            <a:endParaRPr lang="nl-NL"/>
          </a:p>
        </p:txBody>
      </p:sp>
    </p:spTree>
    <p:extLst>
      <p:ext uri="{BB962C8B-B14F-4D97-AF65-F5344CB8AC3E}">
        <p14:creationId xmlns:p14="http://schemas.microsoft.com/office/powerpoint/2010/main" val="1867646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a:solidFill>
                  <a:schemeClr val="tx1"/>
                </a:solidFill>
                <a:effectLst/>
                <a:latin typeface="+mn-lt"/>
                <a:ea typeface="+mn-ea"/>
                <a:cs typeface="+mn-cs"/>
              </a:rPr>
              <a:t>Regels voor alt-tekst:</a:t>
            </a:r>
          </a:p>
          <a:p>
            <a:r>
              <a:rPr lang="nl-NL" sz="1200" b="0" kern="1200">
                <a:solidFill>
                  <a:schemeClr val="tx1"/>
                </a:solidFill>
                <a:effectLst/>
                <a:latin typeface="+mn-lt"/>
                <a:ea typeface="+mn-ea"/>
                <a:cs typeface="+mn-cs"/>
              </a:rPr>
              <a:t>Informatieve afbeeldingen:</a:t>
            </a:r>
          </a:p>
          <a:p>
            <a:pPr lvl="0"/>
            <a:r>
              <a:rPr lang="nl-NL" sz="1200" b="0" kern="1200">
                <a:solidFill>
                  <a:schemeClr val="tx1"/>
                </a:solidFill>
                <a:effectLst/>
                <a:latin typeface="+mn-lt"/>
                <a:ea typeface="+mn-ea"/>
                <a:cs typeface="+mn-cs"/>
              </a:rPr>
              <a:t>Voeg alt-tekst toe: Beschrijf de informatie die de afbeelding overbrengt</a:t>
            </a:r>
          </a:p>
          <a:p>
            <a:pPr lvl="0"/>
            <a:r>
              <a:rPr lang="nl-NL" sz="1200" b="0" kern="1200">
                <a:solidFill>
                  <a:schemeClr val="tx1"/>
                </a:solidFill>
                <a:effectLst/>
                <a:latin typeface="+mn-lt"/>
                <a:ea typeface="+mn-ea"/>
                <a:cs typeface="+mn-cs"/>
              </a:rPr>
              <a:t>Focus op functie: Wat moet de gebruiker weten?</a:t>
            </a:r>
          </a:p>
          <a:p>
            <a:pPr lvl="0"/>
            <a:r>
              <a:rPr lang="nl-NL" sz="1200" b="0" kern="1200">
                <a:solidFill>
                  <a:schemeClr val="tx1"/>
                </a:solidFill>
                <a:effectLst/>
                <a:latin typeface="+mn-lt"/>
                <a:ea typeface="+mn-ea"/>
                <a:cs typeface="+mn-cs"/>
              </a:rPr>
              <a:t>Beknopt maar compleet: Meestal 1-2 zinnen</a:t>
            </a:r>
          </a:p>
          <a:p>
            <a:pPr lvl="0"/>
            <a:r>
              <a:rPr lang="nl-NL" sz="1200" b="0" kern="1200">
                <a:solidFill>
                  <a:schemeClr val="tx1"/>
                </a:solidFill>
                <a:effectLst/>
                <a:latin typeface="+mn-lt"/>
                <a:ea typeface="+mn-ea"/>
                <a:cs typeface="+mn-cs"/>
              </a:rPr>
              <a:t>Voorbeeld: alt="Goed kleurcontrast en leesbare lettergrootte" (niet alleen "Tekst met Aa icoon")</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Decoratieve afbeeldingen:</a:t>
            </a:r>
          </a:p>
          <a:p>
            <a:pPr lvl="0"/>
            <a:r>
              <a:rPr lang="nl-NL" sz="1200" b="0" kern="1200">
                <a:solidFill>
                  <a:schemeClr val="tx1"/>
                </a:solidFill>
                <a:effectLst/>
                <a:latin typeface="+mn-lt"/>
                <a:ea typeface="+mn-ea"/>
                <a:cs typeface="+mn-cs"/>
              </a:rPr>
              <a:t>Voeg leeg ALT-attribuut toe: alt=""</a:t>
            </a:r>
          </a:p>
          <a:p>
            <a:pPr lvl="0"/>
            <a:r>
              <a:rPr lang="nl-NL" sz="1200" b="0" kern="1200">
                <a:solidFill>
                  <a:schemeClr val="tx1"/>
                </a:solidFill>
                <a:effectLst/>
                <a:latin typeface="+mn-lt"/>
                <a:ea typeface="+mn-ea"/>
                <a:cs typeface="+mn-cs"/>
              </a:rPr>
              <a:t>Belangrijk: Niet weglaten, maar expliciet leeg maken</a:t>
            </a:r>
          </a:p>
          <a:p>
            <a:pPr lvl="0"/>
            <a:r>
              <a:rPr lang="nl-NL" sz="1200" b="0" kern="1200">
                <a:solidFill>
                  <a:schemeClr val="tx1"/>
                </a:solidFill>
                <a:effectLst/>
                <a:latin typeface="+mn-lt"/>
                <a:ea typeface="+mn-ea"/>
                <a:cs typeface="+mn-cs"/>
              </a:rPr>
              <a:t>Waarom: Screenreader slaat de afbeelding dan over</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Veelgemaakte fouten:</a:t>
            </a:r>
          </a:p>
          <a:p>
            <a:pPr lvl="0"/>
            <a:r>
              <a:rPr lang="nl-NL" sz="1200" b="0" kern="1200">
                <a:solidFill>
                  <a:schemeClr val="tx1"/>
                </a:solidFill>
                <a:effectLst/>
                <a:latin typeface="+mn-lt"/>
                <a:ea typeface="+mn-ea"/>
                <a:cs typeface="+mn-cs"/>
              </a:rPr>
              <a:t>Alt="afbeelding" → Niet informatief</a:t>
            </a:r>
          </a:p>
          <a:p>
            <a:pPr lvl="0"/>
            <a:r>
              <a:rPr lang="nl-NL" sz="1200" b="0" kern="1200">
                <a:solidFill>
                  <a:schemeClr val="tx1"/>
                </a:solidFill>
                <a:effectLst/>
                <a:latin typeface="+mn-lt"/>
                <a:ea typeface="+mn-ea"/>
                <a:cs typeface="+mn-cs"/>
              </a:rPr>
              <a:t>Alt weglaten → Screenreader leest bestandsnaam voor</a:t>
            </a:r>
          </a:p>
          <a:p>
            <a:pPr lvl="0"/>
            <a:r>
              <a:rPr lang="nl-NL" sz="1200" b="0" kern="1200">
                <a:solidFill>
                  <a:schemeClr val="tx1"/>
                </a:solidFill>
                <a:effectLst/>
                <a:latin typeface="+mn-lt"/>
                <a:ea typeface="+mn-ea"/>
                <a:cs typeface="+mn-cs"/>
              </a:rPr>
              <a:t>Placeholder-tekst als alt gebruiken</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23</a:t>
            </a:fld>
            <a:endParaRPr lang="nl-NL"/>
          </a:p>
        </p:txBody>
      </p:sp>
    </p:spTree>
    <p:extLst>
      <p:ext uri="{BB962C8B-B14F-4D97-AF65-F5344CB8AC3E}">
        <p14:creationId xmlns:p14="http://schemas.microsoft.com/office/powerpoint/2010/main" val="36031244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a:solidFill>
                  <a:schemeClr val="tx1"/>
                </a:solidFill>
                <a:effectLst/>
                <a:latin typeface="+mn-lt"/>
                <a:ea typeface="+mn-ea"/>
                <a:cs typeface="+mn-cs"/>
              </a:rPr>
              <a:t>Vereisten voor toegankelijke formulieren:</a:t>
            </a:r>
          </a:p>
          <a:p>
            <a:r>
              <a:rPr lang="nl-NL" sz="1200" b="0" kern="1200">
                <a:solidFill>
                  <a:schemeClr val="tx1"/>
                </a:solidFill>
                <a:effectLst/>
                <a:latin typeface="+mn-lt"/>
                <a:ea typeface="+mn-ea"/>
                <a:cs typeface="+mn-cs"/>
              </a:rPr>
              <a:t>1. Labels:</a:t>
            </a:r>
          </a:p>
          <a:p>
            <a:pPr lvl="0"/>
            <a:r>
              <a:rPr lang="nl-NL" sz="1200" b="0" kern="1200">
                <a:solidFill>
                  <a:schemeClr val="tx1"/>
                </a:solidFill>
                <a:effectLst/>
                <a:latin typeface="+mn-lt"/>
                <a:ea typeface="+mn-ea"/>
                <a:cs typeface="+mn-cs"/>
              </a:rPr>
              <a:t>Elk invoerveld moet een label hebben</a:t>
            </a:r>
          </a:p>
          <a:p>
            <a:pPr lvl="0"/>
            <a:r>
              <a:rPr lang="nl-NL" sz="1200" b="0" kern="1200">
                <a:solidFill>
                  <a:schemeClr val="tx1"/>
                </a:solidFill>
                <a:effectLst/>
                <a:latin typeface="+mn-lt"/>
                <a:ea typeface="+mn-ea"/>
                <a:cs typeface="+mn-cs"/>
              </a:rPr>
              <a:t>Label moet gekoppeld zijn aan invoerveld via </a:t>
            </a:r>
            <a:r>
              <a:rPr lang="nl-NL" sz="1200" b="0" kern="1200" err="1">
                <a:solidFill>
                  <a:schemeClr val="tx1"/>
                </a:solidFill>
                <a:effectLst/>
                <a:latin typeface="+mn-lt"/>
                <a:ea typeface="+mn-ea"/>
                <a:cs typeface="+mn-cs"/>
              </a:rPr>
              <a:t>for</a:t>
            </a:r>
            <a:r>
              <a:rPr lang="nl-NL" sz="1200" b="0" kern="1200">
                <a:solidFill>
                  <a:schemeClr val="tx1"/>
                </a:solidFill>
                <a:effectLst/>
                <a:latin typeface="+mn-lt"/>
                <a:ea typeface="+mn-ea"/>
                <a:cs typeface="+mn-cs"/>
              </a:rPr>
              <a:t>/</a:t>
            </a:r>
            <a:r>
              <a:rPr lang="nl-NL" sz="1200" b="0" kern="1200" err="1">
                <a:solidFill>
                  <a:schemeClr val="tx1"/>
                </a:solidFill>
                <a:effectLst/>
                <a:latin typeface="+mn-lt"/>
                <a:ea typeface="+mn-ea"/>
                <a:cs typeface="+mn-cs"/>
              </a:rPr>
              <a:t>id</a:t>
            </a:r>
            <a:r>
              <a:rPr lang="nl-NL" sz="1200" b="0" kern="1200">
                <a:solidFill>
                  <a:schemeClr val="tx1"/>
                </a:solidFill>
                <a:effectLst/>
                <a:latin typeface="+mn-lt"/>
                <a:ea typeface="+mn-ea"/>
                <a:cs typeface="+mn-cs"/>
              </a:rPr>
              <a:t> relatie</a:t>
            </a:r>
          </a:p>
          <a:p>
            <a:pPr lvl="0"/>
            <a:r>
              <a:rPr lang="nl-NL" sz="1200" b="0" kern="1200">
                <a:solidFill>
                  <a:schemeClr val="tx1"/>
                </a:solidFill>
                <a:effectLst/>
                <a:latin typeface="+mn-lt"/>
                <a:ea typeface="+mn-ea"/>
                <a:cs typeface="+mn-cs"/>
              </a:rPr>
              <a:t>Zichtbaar label: Niet alleen </a:t>
            </a:r>
            <a:r>
              <a:rPr lang="nl-NL" sz="1200" b="0" kern="1200" err="1">
                <a:solidFill>
                  <a:schemeClr val="tx1"/>
                </a:solidFill>
                <a:effectLst/>
                <a:latin typeface="+mn-lt"/>
                <a:ea typeface="+mn-ea"/>
                <a:cs typeface="+mn-cs"/>
              </a:rPr>
              <a:t>placeholder</a:t>
            </a:r>
            <a:endParaRPr lang="nl-NL" sz="1200" b="0" kern="1200">
              <a:solidFill>
                <a:schemeClr val="tx1"/>
              </a:solidFill>
              <a:effectLst/>
              <a:latin typeface="+mn-lt"/>
              <a:ea typeface="+mn-ea"/>
              <a:cs typeface="+mn-cs"/>
            </a:endParaRP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2. Knoppen:</a:t>
            </a:r>
          </a:p>
          <a:p>
            <a:pPr lvl="0"/>
            <a:r>
              <a:rPr lang="nl-NL" sz="1200" b="0" kern="1200">
                <a:solidFill>
                  <a:schemeClr val="tx1"/>
                </a:solidFill>
                <a:effectLst/>
                <a:latin typeface="+mn-lt"/>
                <a:ea typeface="+mn-ea"/>
                <a:cs typeface="+mn-cs"/>
              </a:rPr>
              <a:t>Elke knop moet een naam hebben</a:t>
            </a:r>
          </a:p>
          <a:p>
            <a:pPr lvl="0"/>
            <a:r>
              <a:rPr lang="nl-NL" sz="1200" b="0" kern="1200">
                <a:solidFill>
                  <a:schemeClr val="tx1"/>
                </a:solidFill>
                <a:effectLst/>
                <a:latin typeface="+mn-lt"/>
                <a:ea typeface="+mn-ea"/>
                <a:cs typeface="+mn-cs"/>
              </a:rPr>
              <a:t>Gebruik button-element met duidelijke tekst</a:t>
            </a:r>
          </a:p>
          <a:p>
            <a:pPr lvl="0"/>
            <a:r>
              <a:rPr lang="nl-NL" sz="1200" b="0" kern="1200">
                <a:solidFill>
                  <a:schemeClr val="tx1"/>
                </a:solidFill>
                <a:effectLst/>
                <a:latin typeface="+mn-lt"/>
                <a:ea typeface="+mn-ea"/>
                <a:cs typeface="+mn-cs"/>
              </a:rPr>
              <a:t>Of input met </a:t>
            </a:r>
            <a:r>
              <a:rPr lang="nl-NL" sz="1200" b="0" kern="1200" err="1">
                <a:solidFill>
                  <a:schemeClr val="tx1"/>
                </a:solidFill>
                <a:effectLst/>
                <a:latin typeface="+mn-lt"/>
                <a:ea typeface="+mn-ea"/>
                <a:cs typeface="+mn-cs"/>
              </a:rPr>
              <a:t>value</a:t>
            </a:r>
            <a:r>
              <a:rPr lang="nl-NL" sz="1200" b="0" kern="1200">
                <a:solidFill>
                  <a:schemeClr val="tx1"/>
                </a:solidFill>
                <a:effectLst/>
                <a:latin typeface="+mn-lt"/>
                <a:ea typeface="+mn-ea"/>
                <a:cs typeface="+mn-cs"/>
              </a:rPr>
              <a:t>-attribuut</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Waarom belangrijk:</a:t>
            </a:r>
          </a:p>
          <a:p>
            <a:pPr lvl="0"/>
            <a:r>
              <a:rPr lang="nl-NL" sz="1200" b="0" kern="1200">
                <a:solidFill>
                  <a:schemeClr val="tx1"/>
                </a:solidFill>
                <a:effectLst/>
                <a:latin typeface="+mn-lt"/>
                <a:ea typeface="+mn-ea"/>
                <a:cs typeface="+mn-cs"/>
              </a:rPr>
              <a:t>Screenreaders lezen label voor</a:t>
            </a:r>
          </a:p>
          <a:p>
            <a:pPr lvl="0"/>
            <a:r>
              <a:rPr lang="nl-NL" sz="1200" b="0" kern="1200">
                <a:solidFill>
                  <a:schemeClr val="tx1"/>
                </a:solidFill>
                <a:effectLst/>
                <a:latin typeface="+mn-lt"/>
                <a:ea typeface="+mn-ea"/>
                <a:cs typeface="+mn-cs"/>
              </a:rPr>
              <a:t>Klikken op label activeert veld (grotere klikbare oppervlak)</a:t>
            </a:r>
          </a:p>
          <a:p>
            <a:pPr lvl="0"/>
            <a:r>
              <a:rPr lang="nl-NL" sz="1200" b="0" kern="1200">
                <a:solidFill>
                  <a:schemeClr val="tx1"/>
                </a:solidFill>
                <a:effectLst/>
                <a:latin typeface="+mn-lt"/>
                <a:ea typeface="+mn-ea"/>
                <a:cs typeface="+mn-cs"/>
              </a:rPr>
              <a:t>Helpt iedereen om te begrijpen wat er verwacht wordt</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Veelgemaakte fouten:</a:t>
            </a:r>
          </a:p>
          <a:p>
            <a:pPr lvl="0"/>
            <a:r>
              <a:rPr lang="nl-NL" sz="1200" b="0" kern="1200">
                <a:solidFill>
                  <a:schemeClr val="tx1"/>
                </a:solidFill>
                <a:effectLst/>
                <a:latin typeface="+mn-lt"/>
                <a:ea typeface="+mn-ea"/>
                <a:cs typeface="+mn-cs"/>
              </a:rPr>
              <a:t>Alleen </a:t>
            </a:r>
            <a:r>
              <a:rPr lang="nl-NL" sz="1200" b="0" kern="1200" err="1">
                <a:solidFill>
                  <a:schemeClr val="tx1"/>
                </a:solidFill>
                <a:effectLst/>
                <a:latin typeface="+mn-lt"/>
                <a:ea typeface="+mn-ea"/>
                <a:cs typeface="+mn-cs"/>
              </a:rPr>
              <a:t>placeholder</a:t>
            </a:r>
            <a:r>
              <a:rPr lang="nl-NL" sz="1200" b="0" kern="1200">
                <a:solidFill>
                  <a:schemeClr val="tx1"/>
                </a:solidFill>
                <a:effectLst/>
                <a:latin typeface="+mn-lt"/>
                <a:ea typeface="+mn-ea"/>
                <a:cs typeface="+mn-cs"/>
              </a:rPr>
              <a:t>, geen </a:t>
            </a:r>
            <a:r>
              <a:rPr lang="nl-NL" sz="1200" kern="1200">
                <a:solidFill>
                  <a:schemeClr val="tx1"/>
                </a:solidFill>
                <a:effectLst/>
                <a:latin typeface="+mn-lt"/>
                <a:ea typeface="+mn-ea"/>
                <a:cs typeface="+mn-cs"/>
              </a:rPr>
              <a:t>label</a:t>
            </a:r>
          </a:p>
          <a:p>
            <a:pPr lvl="0"/>
            <a:r>
              <a:rPr lang="nl-NL" sz="1200" kern="1200">
                <a:solidFill>
                  <a:schemeClr val="tx1"/>
                </a:solidFill>
                <a:effectLst/>
                <a:latin typeface="+mn-lt"/>
                <a:ea typeface="+mn-ea"/>
                <a:cs typeface="+mn-cs"/>
              </a:rPr>
              <a:t>Label niet gekoppeld aan veld</a:t>
            </a:r>
          </a:p>
          <a:p>
            <a:pPr lvl="0"/>
            <a:r>
              <a:rPr lang="nl-NL" sz="1200" kern="1200">
                <a:solidFill>
                  <a:schemeClr val="tx1"/>
                </a:solidFill>
                <a:effectLst/>
                <a:latin typeface="+mn-lt"/>
                <a:ea typeface="+mn-ea"/>
                <a:cs typeface="+mn-cs"/>
              </a:rPr>
              <a:t>Knop zonder tekst (alleen icoon zonder aria-label)</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24</a:t>
            </a:fld>
            <a:endParaRPr lang="nl-NL"/>
          </a:p>
        </p:txBody>
      </p:sp>
    </p:spTree>
    <p:extLst>
      <p:ext uri="{BB962C8B-B14F-4D97-AF65-F5344CB8AC3E}">
        <p14:creationId xmlns:p14="http://schemas.microsoft.com/office/powerpoint/2010/main" val="4111036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Goede foutmeldingen moeten aangeven:</a:t>
            </a:r>
          </a:p>
          <a:p>
            <a:r>
              <a:rPr lang="nl-NL" sz="1200" b="0" kern="1200" dirty="0">
                <a:solidFill>
                  <a:schemeClr val="tx1"/>
                </a:solidFill>
                <a:effectLst/>
                <a:latin typeface="+mn-lt"/>
                <a:ea typeface="+mn-ea"/>
                <a:cs typeface="+mn-cs"/>
              </a:rPr>
              <a:t>1. </a:t>
            </a:r>
            <a:r>
              <a:rPr lang="nl-NL" sz="1200" b="1" kern="1200" dirty="0">
                <a:solidFill>
                  <a:schemeClr val="tx1"/>
                </a:solidFill>
                <a:effectLst/>
                <a:latin typeface="+mn-lt"/>
                <a:ea typeface="+mn-ea"/>
                <a:cs typeface="+mn-cs"/>
              </a:rPr>
              <a:t>DAT</a:t>
            </a:r>
            <a:r>
              <a:rPr lang="nl-NL" sz="1200" b="0" kern="1200" dirty="0">
                <a:solidFill>
                  <a:schemeClr val="tx1"/>
                </a:solidFill>
                <a:effectLst/>
                <a:latin typeface="+mn-lt"/>
                <a:ea typeface="+mn-ea"/>
                <a:cs typeface="+mn-cs"/>
              </a:rPr>
              <a:t> er iets mis is gegaan</a:t>
            </a:r>
          </a:p>
          <a:p>
            <a:pPr lvl="0"/>
            <a:r>
              <a:rPr lang="nl-NL" sz="1200" b="0" kern="1200" dirty="0">
                <a:solidFill>
                  <a:schemeClr val="tx1"/>
                </a:solidFill>
                <a:effectLst/>
                <a:latin typeface="+mn-lt"/>
                <a:ea typeface="+mn-ea"/>
                <a:cs typeface="+mn-cs"/>
              </a:rPr>
              <a:t>Algemene foutmelding bovenaan formulier</a:t>
            </a:r>
          </a:p>
          <a:p>
            <a:pPr lvl="0"/>
            <a:r>
              <a:rPr lang="nl-NL" sz="1200" b="0" kern="1200" dirty="0">
                <a:solidFill>
                  <a:schemeClr val="tx1"/>
                </a:solidFill>
                <a:effectLst/>
                <a:latin typeface="+mn-lt"/>
                <a:ea typeface="+mn-ea"/>
                <a:cs typeface="+mn-cs"/>
              </a:rPr>
              <a:t>Bijvoorbeeld: "Er zijn fouten gevonden in het formulier"</a:t>
            </a:r>
          </a:p>
          <a:p>
            <a:pPr lvl="0"/>
            <a:r>
              <a:rPr lang="nl-NL" sz="1200" b="0" kern="1200" dirty="0">
                <a:solidFill>
                  <a:schemeClr val="tx1"/>
                </a:solidFill>
                <a:effectLst/>
                <a:latin typeface="+mn-lt"/>
                <a:ea typeface="+mn-ea"/>
                <a:cs typeface="+mn-cs"/>
              </a:rPr>
              <a:t>Duidelijk zichtbaar (kleur + tekst)</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2. </a:t>
            </a:r>
            <a:r>
              <a:rPr lang="nl-NL" sz="1200" b="1" kern="1200" dirty="0">
                <a:solidFill>
                  <a:schemeClr val="tx1"/>
                </a:solidFill>
                <a:effectLst/>
                <a:latin typeface="+mn-lt"/>
                <a:ea typeface="+mn-ea"/>
                <a:cs typeface="+mn-cs"/>
              </a:rPr>
              <a:t>WAT </a:t>
            </a:r>
            <a:r>
              <a:rPr lang="nl-NL" sz="1200" b="0" kern="1200" dirty="0">
                <a:solidFill>
                  <a:schemeClr val="tx1"/>
                </a:solidFill>
                <a:effectLst/>
                <a:latin typeface="+mn-lt"/>
                <a:ea typeface="+mn-ea"/>
                <a:cs typeface="+mn-cs"/>
              </a:rPr>
              <a:t>er mis is gegaan</a:t>
            </a:r>
          </a:p>
          <a:p>
            <a:pPr lvl="0"/>
            <a:r>
              <a:rPr lang="nl-NL" sz="1200" b="0" kern="1200" dirty="0">
                <a:solidFill>
                  <a:schemeClr val="tx1"/>
                </a:solidFill>
                <a:effectLst/>
                <a:latin typeface="+mn-lt"/>
                <a:ea typeface="+mn-ea"/>
                <a:cs typeface="+mn-cs"/>
              </a:rPr>
              <a:t>Specifieke foutmelding per veld</a:t>
            </a:r>
          </a:p>
          <a:p>
            <a:pPr lvl="0"/>
            <a:r>
              <a:rPr lang="nl-NL" sz="1200" b="0" kern="1200" dirty="0">
                <a:solidFill>
                  <a:schemeClr val="tx1"/>
                </a:solidFill>
                <a:effectLst/>
                <a:latin typeface="+mn-lt"/>
                <a:ea typeface="+mn-ea"/>
                <a:cs typeface="+mn-cs"/>
              </a:rPr>
              <a:t>Bijvoorbeeld: "Het verplichte veld 'voornaam' is niet ingevuld"</a:t>
            </a:r>
          </a:p>
          <a:p>
            <a:pPr lvl="0"/>
            <a:r>
              <a:rPr lang="nl-NL" sz="1200" b="0" kern="1200" dirty="0">
                <a:solidFill>
                  <a:schemeClr val="tx1"/>
                </a:solidFill>
                <a:effectLst/>
                <a:latin typeface="+mn-lt"/>
                <a:ea typeface="+mn-ea"/>
                <a:cs typeface="+mn-cs"/>
              </a:rPr>
              <a:t>Of: "Het e-mailadres heeft niet het juiste formaat"</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3.</a:t>
            </a:r>
            <a:r>
              <a:rPr lang="nl-NL" sz="1200" b="1" kern="1200" dirty="0">
                <a:solidFill>
                  <a:schemeClr val="tx1"/>
                </a:solidFill>
                <a:effectLst/>
                <a:latin typeface="+mn-lt"/>
                <a:ea typeface="+mn-ea"/>
                <a:cs typeface="+mn-cs"/>
              </a:rPr>
              <a:t> WAAR </a:t>
            </a:r>
            <a:r>
              <a:rPr lang="nl-NL" sz="1200" b="0" kern="1200" dirty="0">
                <a:solidFill>
                  <a:schemeClr val="tx1"/>
                </a:solidFill>
                <a:effectLst/>
                <a:latin typeface="+mn-lt"/>
                <a:ea typeface="+mn-ea"/>
                <a:cs typeface="+mn-cs"/>
              </a:rPr>
              <a:t>het mis is gegaan</a:t>
            </a:r>
          </a:p>
          <a:p>
            <a:pPr lvl="0"/>
            <a:r>
              <a:rPr lang="nl-NL" sz="1200" b="0" kern="1200" dirty="0">
                <a:solidFill>
                  <a:schemeClr val="tx1"/>
                </a:solidFill>
                <a:effectLst/>
                <a:latin typeface="+mn-lt"/>
                <a:ea typeface="+mn-ea"/>
                <a:cs typeface="+mn-cs"/>
              </a:rPr>
              <a:t>Foutmelding bij het juiste veld</a:t>
            </a:r>
          </a:p>
          <a:p>
            <a:pPr lvl="0"/>
            <a:r>
              <a:rPr lang="nl-NL" sz="1200" b="0" kern="1200" dirty="0">
                <a:solidFill>
                  <a:schemeClr val="tx1"/>
                </a:solidFill>
                <a:effectLst/>
                <a:latin typeface="+mn-lt"/>
                <a:ea typeface="+mn-ea"/>
                <a:cs typeface="+mn-cs"/>
              </a:rPr>
              <a:t>Link van algemene foutmelding naar veld</a:t>
            </a:r>
          </a:p>
          <a:p>
            <a:pPr lvl="0"/>
            <a:r>
              <a:rPr lang="nl-NL" sz="1200" b="0" kern="1200" dirty="0">
                <a:solidFill>
                  <a:schemeClr val="tx1"/>
                </a:solidFill>
                <a:effectLst/>
                <a:latin typeface="+mn-lt"/>
                <a:ea typeface="+mn-ea"/>
                <a:cs typeface="+mn-cs"/>
              </a:rPr>
              <a:t>Veld krijgt aria-</a:t>
            </a:r>
            <a:r>
              <a:rPr lang="nl-NL" sz="1200" b="0" kern="1200" dirty="0" err="1">
                <a:solidFill>
                  <a:schemeClr val="tx1"/>
                </a:solidFill>
                <a:effectLst/>
                <a:latin typeface="+mn-lt"/>
                <a:ea typeface="+mn-ea"/>
                <a:cs typeface="+mn-cs"/>
              </a:rPr>
              <a:t>invalid</a:t>
            </a:r>
            <a:r>
              <a:rPr lang="nl-NL" sz="1200" b="0" kern="1200" dirty="0">
                <a:solidFill>
                  <a:schemeClr val="tx1"/>
                </a:solidFill>
                <a:effectLst/>
                <a:latin typeface="+mn-lt"/>
                <a:ea typeface="+mn-ea"/>
                <a:cs typeface="+mn-cs"/>
              </a:rPr>
              <a:t>="</a:t>
            </a:r>
            <a:r>
              <a:rPr lang="nl-NL" sz="1200" b="0" kern="1200" dirty="0" err="1">
                <a:solidFill>
                  <a:schemeClr val="tx1"/>
                </a:solidFill>
                <a:effectLst/>
                <a:latin typeface="+mn-lt"/>
                <a:ea typeface="+mn-ea"/>
                <a:cs typeface="+mn-cs"/>
              </a:rPr>
              <a:t>true</a:t>
            </a:r>
            <a:r>
              <a:rPr lang="nl-NL" sz="1200" b="0" kern="1200" dirty="0">
                <a:solidFill>
                  <a:schemeClr val="tx1"/>
                </a:solidFill>
                <a:effectLst/>
                <a:latin typeface="+mn-lt"/>
                <a:ea typeface="+mn-ea"/>
                <a:cs typeface="+mn-cs"/>
              </a:rPr>
              <a:t>" attribuut</a:t>
            </a:r>
          </a:p>
          <a:p>
            <a:pPr lvl="0"/>
            <a:r>
              <a:rPr lang="nl-NL" sz="1200" b="0" kern="1200" dirty="0">
                <a:solidFill>
                  <a:schemeClr val="tx1"/>
                </a:solidFill>
                <a:effectLst/>
                <a:latin typeface="+mn-lt"/>
                <a:ea typeface="+mn-ea"/>
                <a:cs typeface="+mn-cs"/>
              </a:rPr>
              <a:t>Visuele indicator bij veld (kleur + icoon)</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Voorbeelden van fout meldingen:</a:t>
            </a:r>
          </a:p>
          <a:p>
            <a:pPr lvl="0"/>
            <a:r>
              <a:rPr lang="nl-NL" sz="1200" b="0" kern="1200" dirty="0">
                <a:solidFill>
                  <a:schemeClr val="tx1"/>
                </a:solidFill>
                <a:effectLst/>
                <a:latin typeface="+mn-lt"/>
                <a:ea typeface="+mn-ea"/>
                <a:cs typeface="+mn-cs"/>
              </a:rPr>
              <a:t>"Er zijn 2 fouten in het formulier“,</a:t>
            </a:r>
          </a:p>
          <a:p>
            <a:pPr lvl="0"/>
            <a:r>
              <a:rPr lang="nl-NL" sz="1200" b="0" kern="1200" dirty="0">
                <a:solidFill>
                  <a:schemeClr val="tx1"/>
                </a:solidFill>
                <a:effectLst/>
                <a:latin typeface="+mn-lt"/>
                <a:ea typeface="+mn-ea"/>
                <a:cs typeface="+mn-cs"/>
              </a:rPr>
              <a:t>“Veld is verkeerd ingevuld”.</a:t>
            </a:r>
          </a:p>
          <a:p>
            <a:pPr lvl="0"/>
            <a:r>
              <a:rPr lang="nl-NL" sz="1200" b="0" kern="1200" dirty="0">
                <a:solidFill>
                  <a:schemeClr val="tx1"/>
                </a:solidFill>
                <a:effectLst/>
                <a:latin typeface="+mn-lt"/>
                <a:ea typeface="+mn-ea"/>
                <a:cs typeface="+mn-cs"/>
              </a:rPr>
              <a:t>“Fout”,</a:t>
            </a:r>
            <a:br>
              <a:rPr lang="nl-NL" sz="1200" b="0" kern="1200" dirty="0">
                <a:solidFill>
                  <a:schemeClr val="tx1"/>
                </a:solidFill>
                <a:effectLst/>
                <a:latin typeface="+mn-lt"/>
                <a:ea typeface="+mn-ea"/>
                <a:cs typeface="+mn-cs"/>
              </a:rPr>
            </a:br>
            <a:r>
              <a:rPr lang="nl-NL" sz="1200" b="0" kern="1200" dirty="0">
                <a:solidFill>
                  <a:schemeClr val="tx1"/>
                </a:solidFill>
                <a:effectLst/>
                <a:latin typeface="+mn-lt"/>
                <a:ea typeface="+mn-ea"/>
                <a:cs typeface="+mn-cs"/>
              </a:rPr>
              <a:t>“Het is verplicht”,</a:t>
            </a:r>
          </a:p>
          <a:p>
            <a:pPr lvl="0"/>
            <a:r>
              <a:rPr lang="nl-NL" sz="1200" b="0" kern="1200" dirty="0">
                <a:solidFill>
                  <a:schemeClr val="tx1"/>
                </a:solidFill>
                <a:effectLst/>
                <a:latin typeface="+mn-lt"/>
                <a:ea typeface="+mn-ea"/>
                <a:cs typeface="+mn-cs"/>
              </a:rPr>
              <a:t>“Dit veld is verplicht”,</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Extra tips:</a:t>
            </a:r>
          </a:p>
          <a:p>
            <a:pPr lvl="0"/>
            <a:r>
              <a:rPr lang="nl-NL" sz="1200" b="0" kern="1200" dirty="0">
                <a:solidFill>
                  <a:schemeClr val="tx1"/>
                </a:solidFill>
                <a:effectLst/>
                <a:latin typeface="+mn-lt"/>
                <a:ea typeface="+mn-ea"/>
                <a:cs typeface="+mn-cs"/>
              </a:rPr>
              <a:t>Duidelijke taal: Geen technisch jargon</a:t>
            </a:r>
          </a:p>
          <a:p>
            <a:pPr lvl="0"/>
            <a:r>
              <a:rPr lang="nl-NL" sz="1200" b="0" kern="1200" dirty="0">
                <a:solidFill>
                  <a:schemeClr val="tx1"/>
                </a:solidFill>
                <a:effectLst/>
                <a:latin typeface="+mn-lt"/>
                <a:ea typeface="+mn-ea"/>
                <a:cs typeface="+mn-cs"/>
              </a:rPr>
              <a:t>Hulp bieden: Vertel hoe het op te lossen</a:t>
            </a:r>
          </a:p>
          <a:p>
            <a:pPr lvl="0"/>
            <a:r>
              <a:rPr lang="nl-NL" sz="1200" b="0" kern="1200" dirty="0">
                <a:solidFill>
                  <a:schemeClr val="tx1"/>
                </a:solidFill>
                <a:effectLst/>
                <a:latin typeface="+mn-lt"/>
                <a:ea typeface="+mn-ea"/>
                <a:cs typeface="+mn-cs"/>
              </a:rPr>
              <a:t>Niet alleen kleur: Ook tekst en/of icoon</a:t>
            </a:r>
          </a:p>
          <a:p>
            <a:pPr lvl="0"/>
            <a:r>
              <a:rPr lang="nl-NL" sz="1200" b="0" kern="1200" dirty="0" err="1">
                <a:solidFill>
                  <a:schemeClr val="tx1"/>
                </a:solidFill>
                <a:effectLst/>
                <a:latin typeface="+mn-lt"/>
                <a:ea typeface="+mn-ea"/>
                <a:cs typeface="+mn-cs"/>
              </a:rPr>
              <a:t>Inline</a:t>
            </a:r>
            <a:r>
              <a:rPr lang="nl-NL" sz="1200" b="0" kern="1200" dirty="0">
                <a:solidFill>
                  <a:schemeClr val="tx1"/>
                </a:solidFill>
                <a:effectLst/>
                <a:latin typeface="+mn-lt"/>
                <a:ea typeface="+mn-ea"/>
                <a:cs typeface="+mn-cs"/>
              </a:rPr>
              <a:t> validatie: Direct feedback kan helpen, maar wacht tot gebruiker klaar is met typen</a:t>
            </a:r>
          </a:p>
          <a:p>
            <a:pPr lvl="1"/>
            <a:endParaRPr lang="nl-NL" sz="1200" b="0" kern="1200" dirty="0">
              <a:solidFill>
                <a:schemeClr val="tx1"/>
              </a:solidFill>
              <a:effectLst/>
              <a:latin typeface="+mn-lt"/>
              <a:ea typeface="+mn-ea"/>
              <a:cs typeface="+mn-cs"/>
            </a:endParaRP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25</a:t>
            </a:fld>
            <a:endParaRPr lang="nl-NL"/>
          </a:p>
        </p:txBody>
      </p:sp>
    </p:spTree>
    <p:extLst>
      <p:ext uri="{BB962C8B-B14F-4D97-AF65-F5344CB8AC3E}">
        <p14:creationId xmlns:p14="http://schemas.microsoft.com/office/powerpoint/2010/main" val="2254187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Eisen voor focusindicatie:</a:t>
            </a:r>
          </a:p>
          <a:p>
            <a:r>
              <a:rPr lang="nl-NL" sz="1200" b="0" kern="1200" dirty="0">
                <a:solidFill>
                  <a:schemeClr val="tx1"/>
                </a:solidFill>
                <a:effectLst/>
                <a:latin typeface="+mn-lt"/>
                <a:ea typeface="+mn-ea"/>
                <a:cs typeface="+mn-cs"/>
              </a:rPr>
              <a:t>1. Focus moet altijd zichtbaar zijn (SC 2.4.7)</a:t>
            </a:r>
          </a:p>
          <a:p>
            <a:pPr lvl="0"/>
            <a:r>
              <a:rPr lang="nl-NL" sz="1200" b="0" kern="1200" dirty="0">
                <a:solidFill>
                  <a:schemeClr val="tx1"/>
                </a:solidFill>
                <a:effectLst/>
                <a:latin typeface="+mn-lt"/>
                <a:ea typeface="+mn-ea"/>
                <a:cs typeface="+mn-cs"/>
              </a:rPr>
              <a:t>Toetsenbordgebruikers moeten kunnen zien waar ze zijn</a:t>
            </a:r>
          </a:p>
          <a:p>
            <a:pPr lvl="0"/>
            <a:r>
              <a:rPr lang="nl-NL" sz="1200" b="0" kern="1200" dirty="0">
                <a:solidFill>
                  <a:schemeClr val="tx1"/>
                </a:solidFill>
                <a:effectLst/>
                <a:latin typeface="+mn-lt"/>
                <a:ea typeface="+mn-ea"/>
                <a:cs typeface="+mn-cs"/>
              </a:rPr>
              <a:t>Duidelijke focusindicator (</a:t>
            </a:r>
            <a:r>
              <a:rPr lang="nl-NL" sz="1200" b="0" kern="1200" dirty="0" err="1">
                <a:solidFill>
                  <a:schemeClr val="tx1"/>
                </a:solidFill>
                <a:effectLst/>
                <a:latin typeface="+mn-lt"/>
                <a:ea typeface="+mn-ea"/>
                <a:cs typeface="+mn-cs"/>
              </a:rPr>
              <a:t>outline</a:t>
            </a:r>
            <a:r>
              <a:rPr lang="nl-NL" sz="1200" b="0" kern="1200" dirty="0">
                <a:solidFill>
                  <a:schemeClr val="tx1"/>
                </a:solidFill>
                <a:effectLst/>
                <a:latin typeface="+mn-lt"/>
                <a:ea typeface="+mn-ea"/>
                <a:cs typeface="+mn-cs"/>
              </a:rPr>
              <a:t>, border, achtergrondkleur)</a:t>
            </a:r>
          </a:p>
          <a:p>
            <a:pPr lvl="0"/>
            <a:r>
              <a:rPr lang="nl-NL" sz="1200" b="0" kern="1200" dirty="0">
                <a:solidFill>
                  <a:schemeClr val="tx1"/>
                </a:solidFill>
                <a:effectLst/>
                <a:latin typeface="+mn-lt"/>
                <a:ea typeface="+mn-ea"/>
                <a:cs typeface="+mn-cs"/>
              </a:rPr>
              <a:t>Vaak verwijderd door designers (</a:t>
            </a:r>
            <a:r>
              <a:rPr lang="nl-NL" sz="1200" b="0" kern="1200" dirty="0" err="1">
                <a:solidFill>
                  <a:schemeClr val="tx1"/>
                </a:solidFill>
                <a:effectLst/>
                <a:latin typeface="+mn-lt"/>
                <a:ea typeface="+mn-ea"/>
                <a:cs typeface="+mn-cs"/>
              </a:rPr>
              <a:t>outline</a:t>
            </a:r>
            <a:r>
              <a:rPr lang="nl-NL" sz="1200" b="0" kern="1200" dirty="0">
                <a:solidFill>
                  <a:schemeClr val="tx1"/>
                </a:solidFill>
                <a:effectLst/>
                <a:latin typeface="+mn-lt"/>
                <a:ea typeface="+mn-ea"/>
                <a:cs typeface="+mn-cs"/>
              </a:rPr>
              <a:t>: none) → NIET DOEN zonder vervanging</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2. Verborgen elementen zichtbaar maken bij focus (SC 2.4.11)</a:t>
            </a:r>
          </a:p>
          <a:p>
            <a:pPr lvl="0"/>
            <a:r>
              <a:rPr lang="nl-NL" sz="1200" b="0" kern="1200" dirty="0">
                <a:solidFill>
                  <a:schemeClr val="tx1"/>
                </a:solidFill>
                <a:effectLst/>
                <a:latin typeface="+mn-lt"/>
                <a:ea typeface="+mn-ea"/>
                <a:cs typeface="+mn-cs"/>
              </a:rPr>
              <a:t>Skip-links: Verborgen tot tab gedrukt wordt</a:t>
            </a:r>
          </a:p>
          <a:p>
            <a:pPr lvl="0"/>
            <a:r>
              <a:rPr lang="nl-NL" sz="1200" b="0" kern="1200" dirty="0" err="1">
                <a:solidFill>
                  <a:schemeClr val="tx1"/>
                </a:solidFill>
                <a:effectLst/>
                <a:latin typeface="+mn-lt"/>
                <a:ea typeface="+mn-ea"/>
                <a:cs typeface="+mn-cs"/>
              </a:rPr>
              <a:t>Dropdown</a:t>
            </a:r>
            <a:r>
              <a:rPr lang="nl-NL" sz="1200" b="0" kern="1200" dirty="0">
                <a:solidFill>
                  <a:schemeClr val="tx1"/>
                </a:solidFill>
                <a:effectLst/>
                <a:latin typeface="+mn-lt"/>
                <a:ea typeface="+mn-ea"/>
                <a:cs typeface="+mn-cs"/>
              </a:rPr>
              <a:t> menu's: Submenu's verschijnen bij focus</a:t>
            </a:r>
          </a:p>
          <a:p>
            <a:pPr lvl="0"/>
            <a:r>
              <a:rPr lang="nl-NL" sz="1200" b="0" kern="1200" dirty="0">
                <a:solidFill>
                  <a:schemeClr val="tx1"/>
                </a:solidFill>
                <a:effectLst/>
                <a:latin typeface="+mn-lt"/>
                <a:ea typeface="+mn-ea"/>
                <a:cs typeface="+mn-cs"/>
              </a:rPr>
              <a:t>Element moet zichtbaar worden als het focus krijgt</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3. Niet alleen kleur gebruiken (SC 1.4.1)</a:t>
            </a:r>
          </a:p>
          <a:p>
            <a:pPr lvl="0"/>
            <a:r>
              <a:rPr lang="nl-NL" sz="1200" b="0" kern="1200" dirty="0">
                <a:solidFill>
                  <a:schemeClr val="tx1"/>
                </a:solidFill>
                <a:effectLst/>
                <a:latin typeface="+mn-lt"/>
                <a:ea typeface="+mn-ea"/>
                <a:cs typeface="+mn-cs"/>
              </a:rPr>
              <a:t>Kleur alléén is niet genoeg</a:t>
            </a:r>
          </a:p>
          <a:p>
            <a:pPr lvl="0"/>
            <a:r>
              <a:rPr lang="nl-NL" sz="1200" b="0" kern="1200" dirty="0">
                <a:solidFill>
                  <a:schemeClr val="tx1"/>
                </a:solidFill>
                <a:effectLst/>
                <a:latin typeface="+mn-lt"/>
                <a:ea typeface="+mn-ea"/>
                <a:cs typeface="+mn-cs"/>
              </a:rPr>
              <a:t>Gebruik kleur + vorm/border/icoon</a:t>
            </a:r>
          </a:p>
          <a:p>
            <a:pPr lvl="0"/>
            <a:r>
              <a:rPr lang="nl-NL" sz="1200" b="0" kern="1200" dirty="0">
                <a:solidFill>
                  <a:schemeClr val="tx1"/>
                </a:solidFill>
                <a:effectLst/>
                <a:latin typeface="+mn-lt"/>
                <a:ea typeface="+mn-ea"/>
                <a:cs typeface="+mn-cs"/>
              </a:rPr>
              <a:t>Voor kleurenblinden moet het ook duidelijk zijn</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Best </a:t>
            </a:r>
            <a:r>
              <a:rPr lang="nl-NL" sz="1200" b="0" kern="1200" dirty="0" err="1">
                <a:solidFill>
                  <a:schemeClr val="tx1"/>
                </a:solidFill>
                <a:effectLst/>
                <a:latin typeface="+mn-lt"/>
                <a:ea typeface="+mn-ea"/>
                <a:cs typeface="+mn-cs"/>
              </a:rPr>
              <a:t>practices</a:t>
            </a:r>
            <a:r>
              <a:rPr lang="nl-NL" sz="1200" b="0" kern="1200" dirty="0">
                <a:solidFill>
                  <a:schemeClr val="tx1"/>
                </a:solidFill>
                <a:effectLst/>
                <a:latin typeface="+mn-lt"/>
                <a:ea typeface="+mn-ea"/>
                <a:cs typeface="+mn-cs"/>
              </a:rPr>
              <a:t>:</a:t>
            </a:r>
          </a:p>
          <a:p>
            <a:pPr lvl="0"/>
            <a:r>
              <a:rPr lang="nl-NL" sz="1200" b="0" kern="1200" dirty="0">
                <a:solidFill>
                  <a:schemeClr val="tx1"/>
                </a:solidFill>
                <a:effectLst/>
                <a:latin typeface="+mn-lt"/>
                <a:ea typeface="+mn-ea"/>
                <a:cs typeface="+mn-cs"/>
              </a:rPr>
              <a:t>Minimaal 3:1 contrast tussen gefocust en </a:t>
            </a:r>
            <a:r>
              <a:rPr lang="nl-NL" sz="1200" b="0" kern="1200" dirty="0" err="1">
                <a:solidFill>
                  <a:schemeClr val="tx1"/>
                </a:solidFill>
                <a:effectLst/>
                <a:latin typeface="+mn-lt"/>
                <a:ea typeface="+mn-ea"/>
                <a:cs typeface="+mn-cs"/>
              </a:rPr>
              <a:t>ongefocust</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Duidelijk onderscheid met standaard styling</a:t>
            </a:r>
          </a:p>
          <a:p>
            <a:pPr lvl="0"/>
            <a:r>
              <a:rPr lang="nl-NL" sz="1200" b="0" kern="1200" dirty="0">
                <a:solidFill>
                  <a:schemeClr val="tx1"/>
                </a:solidFill>
                <a:effectLst/>
                <a:latin typeface="+mn-lt"/>
                <a:ea typeface="+mn-ea"/>
                <a:cs typeface="+mn-cs"/>
              </a:rPr>
              <a:t>Consistente focus-stijl door hele site</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Veelgemaakte fout:</a:t>
            </a:r>
          </a:p>
          <a:p>
            <a:r>
              <a:rPr lang="nl-NL" sz="1200" b="0" kern="1200" dirty="0" err="1">
                <a:solidFill>
                  <a:schemeClr val="tx1"/>
                </a:solidFill>
                <a:effectLst/>
                <a:latin typeface="+mn-lt"/>
                <a:ea typeface="+mn-ea"/>
                <a:cs typeface="+mn-cs"/>
              </a:rPr>
              <a:t>css</a:t>
            </a:r>
            <a:endParaRPr lang="nl-NL" sz="1200" b="0" kern="1200" dirty="0">
              <a:solidFill>
                <a:schemeClr val="tx1"/>
              </a:solidFill>
              <a:effectLst/>
              <a:latin typeface="+mn-lt"/>
              <a:ea typeface="+mn-ea"/>
              <a:cs typeface="+mn-cs"/>
            </a:endParaRPr>
          </a:p>
          <a:p>
            <a:r>
              <a:rPr lang="nl-NL" sz="1200" b="0" i="1" kern="1200" dirty="0">
                <a:solidFill>
                  <a:schemeClr val="tx1"/>
                </a:solidFill>
                <a:effectLst/>
                <a:latin typeface="+mn-lt"/>
                <a:ea typeface="+mn-ea"/>
                <a:cs typeface="+mn-cs"/>
              </a:rPr>
              <a:t>/* NIET DOEN zonder vervanging: */</a:t>
            </a:r>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:focus {</a:t>
            </a:r>
          </a:p>
          <a:p>
            <a:r>
              <a:rPr lang="nl-NL" sz="1200" b="0" kern="1200" dirty="0">
                <a:solidFill>
                  <a:schemeClr val="tx1"/>
                </a:solidFill>
                <a:effectLst/>
                <a:latin typeface="+mn-lt"/>
                <a:ea typeface="+mn-ea"/>
                <a:cs typeface="+mn-cs"/>
              </a:rPr>
              <a:t>  </a:t>
            </a:r>
            <a:r>
              <a:rPr lang="nl-NL" sz="1200" b="0" kern="1200" dirty="0" err="1">
                <a:solidFill>
                  <a:schemeClr val="tx1"/>
                </a:solidFill>
                <a:effectLst/>
                <a:latin typeface="+mn-lt"/>
                <a:ea typeface="+mn-ea"/>
                <a:cs typeface="+mn-cs"/>
              </a:rPr>
              <a:t>outline</a:t>
            </a:r>
            <a:r>
              <a:rPr lang="nl-NL" sz="1200" b="0" kern="1200" dirty="0">
                <a:solidFill>
                  <a:schemeClr val="tx1"/>
                </a:solidFill>
                <a:effectLst/>
                <a:latin typeface="+mn-lt"/>
                <a:ea typeface="+mn-ea"/>
                <a:cs typeface="+mn-cs"/>
              </a:rPr>
              <a:t>: none;</a:t>
            </a:r>
          </a:p>
          <a:p>
            <a:r>
              <a:rPr lang="nl-NL" sz="1200" b="0" kern="1200" dirty="0">
                <a:solidFill>
                  <a:schemeClr val="tx1"/>
                </a:solidFill>
                <a:effectLst/>
                <a:latin typeface="+mn-lt"/>
                <a:ea typeface="+mn-ea"/>
                <a:cs typeface="+mn-cs"/>
              </a:rPr>
              <a:t>}</a:t>
            </a: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26</a:t>
            </a:fld>
            <a:endParaRPr lang="nl-NL"/>
          </a:p>
        </p:txBody>
      </p:sp>
    </p:spTree>
    <p:extLst>
      <p:ext uri="{BB962C8B-B14F-4D97-AF65-F5344CB8AC3E}">
        <p14:creationId xmlns:p14="http://schemas.microsoft.com/office/powerpoint/2010/main" val="3706510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a:solidFill>
                  <a:schemeClr val="tx1"/>
                </a:solidFill>
                <a:effectLst/>
                <a:latin typeface="+mn-lt"/>
                <a:ea typeface="+mn-ea"/>
                <a:cs typeface="+mn-cs"/>
              </a:rPr>
              <a:t>Taal aangeven is essentieel voor screenreaders:</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1. Basistaal van webpagina (SC 3.1.1)</a:t>
            </a:r>
          </a:p>
          <a:p>
            <a:pPr lvl="0"/>
            <a:r>
              <a:rPr lang="nl-NL" sz="1200" b="0" kern="1200">
                <a:solidFill>
                  <a:schemeClr val="tx1"/>
                </a:solidFill>
                <a:effectLst/>
                <a:latin typeface="+mn-lt"/>
                <a:ea typeface="+mn-ea"/>
                <a:cs typeface="+mn-cs"/>
              </a:rPr>
              <a:t>Aangeven in HTML-tag: &lt;html lang="nl"&gt;</a:t>
            </a:r>
          </a:p>
          <a:p>
            <a:pPr lvl="0"/>
            <a:r>
              <a:rPr lang="nl-NL" sz="1200" b="0" kern="1200">
                <a:solidFill>
                  <a:schemeClr val="tx1"/>
                </a:solidFill>
                <a:effectLst/>
                <a:latin typeface="+mn-lt"/>
                <a:ea typeface="+mn-ea"/>
                <a:cs typeface="+mn-cs"/>
              </a:rPr>
              <a:t>Screenreader weet welke uitspraak/stemmen te gebruiken</a:t>
            </a:r>
          </a:p>
          <a:p>
            <a:pPr lvl="0"/>
            <a:r>
              <a:rPr lang="nl-NL" sz="1200" b="0" kern="1200">
                <a:solidFill>
                  <a:schemeClr val="tx1"/>
                </a:solidFill>
                <a:effectLst/>
                <a:latin typeface="+mn-lt"/>
                <a:ea typeface="+mn-ea"/>
                <a:cs typeface="+mn-cs"/>
              </a:rPr>
              <a:t>Essentieel voor goede voorlezing</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2. Taalwijzigingen aangeven (SC 3.1.2)</a:t>
            </a:r>
          </a:p>
          <a:p>
            <a:pPr lvl="0"/>
            <a:r>
              <a:rPr lang="nl-NL" sz="1200" b="0" kern="1200">
                <a:solidFill>
                  <a:schemeClr val="tx1"/>
                </a:solidFill>
                <a:effectLst/>
                <a:latin typeface="+mn-lt"/>
                <a:ea typeface="+mn-ea"/>
                <a:cs typeface="+mn-cs"/>
              </a:rPr>
              <a:t>Als tekst in andere taal voorkomt, aangeven met lang attribuut</a:t>
            </a:r>
          </a:p>
          <a:p>
            <a:pPr lvl="0"/>
            <a:r>
              <a:rPr lang="nl-NL" sz="1200" b="0" kern="1200">
                <a:solidFill>
                  <a:schemeClr val="tx1"/>
                </a:solidFill>
                <a:effectLst/>
                <a:latin typeface="+mn-lt"/>
                <a:ea typeface="+mn-ea"/>
                <a:cs typeface="+mn-cs"/>
              </a:rPr>
              <a:t>Voorkomt dat Nederlands met Engelse uitspraak wordt gelezen</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Let op bij:</a:t>
            </a:r>
          </a:p>
          <a:p>
            <a:pPr lvl="0"/>
            <a:r>
              <a:rPr lang="nl-NL" sz="1200" b="0" kern="1200">
                <a:solidFill>
                  <a:schemeClr val="tx1"/>
                </a:solidFill>
                <a:effectLst/>
                <a:latin typeface="+mn-lt"/>
                <a:ea typeface="+mn-ea"/>
                <a:cs typeface="+mn-cs"/>
              </a:rPr>
              <a:t>Menu-items: Als menu in Engels is, aangeven</a:t>
            </a:r>
          </a:p>
          <a:p>
            <a:pPr lvl="0"/>
            <a:r>
              <a:rPr lang="nl-NL" sz="1200" b="0" kern="1200">
                <a:solidFill>
                  <a:schemeClr val="tx1"/>
                </a:solidFill>
                <a:effectLst/>
                <a:latin typeface="+mn-lt"/>
                <a:ea typeface="+mn-ea"/>
                <a:cs typeface="+mn-cs"/>
              </a:rPr>
              <a:t>Cookiemeldingen: Vaak in Engels</a:t>
            </a:r>
          </a:p>
          <a:p>
            <a:pPr lvl="0"/>
            <a:r>
              <a:rPr lang="nl-NL" sz="1200" b="0" kern="1200">
                <a:solidFill>
                  <a:schemeClr val="tx1"/>
                </a:solidFill>
                <a:effectLst/>
                <a:latin typeface="+mn-lt"/>
                <a:ea typeface="+mn-ea"/>
                <a:cs typeface="+mn-cs"/>
              </a:rPr>
              <a:t>Koppen/kopteksten: Engelse titels in Nederlandse tekst</a:t>
            </a:r>
          </a:p>
          <a:p>
            <a:pPr lvl="0"/>
            <a:r>
              <a:rPr lang="nl-NL" sz="1200" b="0" kern="1200">
                <a:solidFill>
                  <a:schemeClr val="tx1"/>
                </a:solidFill>
                <a:effectLst/>
                <a:latin typeface="+mn-lt"/>
                <a:ea typeface="+mn-ea"/>
                <a:cs typeface="+mn-cs"/>
              </a:rPr>
              <a:t>Tekstalternatieven: Alt-tekst van afbeelding met Engelse tekst</a:t>
            </a:r>
          </a:p>
          <a:p>
            <a:pPr lvl="0"/>
            <a:r>
              <a:rPr lang="nl-NL" sz="1200" b="0" kern="1200">
                <a:solidFill>
                  <a:schemeClr val="tx1"/>
                </a:solidFill>
                <a:effectLst/>
                <a:latin typeface="+mn-lt"/>
                <a:ea typeface="+mn-ea"/>
                <a:cs typeface="+mn-cs"/>
              </a:rPr>
              <a:t>Engelse publicaties: Hele sectie of document in Engels</a:t>
            </a:r>
          </a:p>
          <a:p>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Voorbeelden:</a:t>
            </a:r>
          </a:p>
          <a:p>
            <a:endParaRPr lang="nl-NL" sz="1200" b="0" i="1" kern="1200">
              <a:solidFill>
                <a:schemeClr val="tx1"/>
              </a:solidFill>
              <a:effectLst/>
              <a:latin typeface="+mn-lt"/>
              <a:ea typeface="+mn-ea"/>
              <a:cs typeface="+mn-cs"/>
            </a:endParaRPr>
          </a:p>
          <a:p>
            <a:r>
              <a:rPr lang="nl-NL" sz="1200" b="0" i="1" kern="1200">
                <a:solidFill>
                  <a:schemeClr val="tx1"/>
                </a:solidFill>
                <a:effectLst/>
                <a:latin typeface="+mn-lt"/>
                <a:ea typeface="+mn-ea"/>
                <a:cs typeface="+mn-cs"/>
              </a:rPr>
              <a:t>&lt;!-- Basistaal --&gt;</a:t>
            </a:r>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&lt;html lang="nl"&gt;</a:t>
            </a:r>
          </a:p>
          <a:p>
            <a:r>
              <a:rPr lang="nl-NL" sz="1200" b="0" kern="1200">
                <a:solidFill>
                  <a:schemeClr val="tx1"/>
                </a:solidFill>
                <a:effectLst/>
                <a:latin typeface="+mn-lt"/>
                <a:ea typeface="+mn-ea"/>
                <a:cs typeface="+mn-cs"/>
              </a:rPr>
              <a:t> </a:t>
            </a:r>
          </a:p>
          <a:p>
            <a:r>
              <a:rPr lang="nl-NL" sz="1200" b="0" i="1" kern="1200">
                <a:solidFill>
                  <a:schemeClr val="tx1"/>
                </a:solidFill>
                <a:effectLst/>
                <a:latin typeface="+mn-lt"/>
                <a:ea typeface="+mn-ea"/>
                <a:cs typeface="+mn-cs"/>
              </a:rPr>
              <a:t>&lt;!-- Taalwissel --&gt;</a:t>
            </a:r>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&lt;p&gt;Het woord &lt;span lang="en"&gt;accessibility&lt;/span&gt; betekent toegankelijkheid.&lt;/p&gt;</a:t>
            </a:r>
          </a:p>
          <a:p>
            <a:r>
              <a:rPr lang="nl-NL" sz="1200" b="0" kern="1200">
                <a:solidFill>
                  <a:schemeClr val="tx1"/>
                </a:solidFill>
                <a:effectLst/>
                <a:latin typeface="+mn-lt"/>
                <a:ea typeface="+mn-ea"/>
                <a:cs typeface="+mn-cs"/>
              </a:rPr>
              <a:t> </a:t>
            </a:r>
          </a:p>
          <a:p>
            <a:r>
              <a:rPr lang="nl-NL" sz="1200" b="0" i="1" kern="1200">
                <a:solidFill>
                  <a:schemeClr val="tx1"/>
                </a:solidFill>
                <a:effectLst/>
                <a:latin typeface="+mn-lt"/>
                <a:ea typeface="+mn-ea"/>
                <a:cs typeface="+mn-cs"/>
              </a:rPr>
              <a:t>&lt;!-- Engelse kop in Nederlands artikel --&gt;</a:t>
            </a:r>
            <a:endParaRPr lang="nl-NL" sz="1200" b="0" kern="1200">
              <a:solidFill>
                <a:schemeClr val="tx1"/>
              </a:solidFill>
              <a:effectLst/>
              <a:latin typeface="+mn-lt"/>
              <a:ea typeface="+mn-ea"/>
              <a:cs typeface="+mn-cs"/>
            </a:endParaRPr>
          </a:p>
          <a:p>
            <a:r>
              <a:rPr lang="nl-NL" sz="1200" b="0" kern="1200">
                <a:solidFill>
                  <a:schemeClr val="tx1"/>
                </a:solidFill>
                <a:effectLst/>
                <a:latin typeface="+mn-lt"/>
                <a:ea typeface="+mn-ea"/>
                <a:cs typeface="+mn-cs"/>
              </a:rPr>
              <a:t>&lt;h2 lang="en"&gt;Web Content Accessibility </a:t>
            </a:r>
            <a:r>
              <a:rPr lang="nl-NL" sz="1200" b="0" kern="1200" err="1">
                <a:solidFill>
                  <a:schemeClr val="tx1"/>
                </a:solidFill>
                <a:effectLst/>
                <a:latin typeface="+mn-lt"/>
                <a:ea typeface="+mn-ea"/>
                <a:cs typeface="+mn-cs"/>
              </a:rPr>
              <a:t>Guidelines</a:t>
            </a:r>
            <a:r>
              <a:rPr lang="nl-NL" sz="1200" b="0" kern="1200">
                <a:solidFill>
                  <a:schemeClr val="tx1"/>
                </a:solidFill>
                <a:effectLst/>
                <a:latin typeface="+mn-lt"/>
                <a:ea typeface="+mn-ea"/>
                <a:cs typeface="+mn-cs"/>
              </a:rPr>
              <a:t>&lt;/h2&gt;</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Waarom belangrijk: Nederlands met Engelse uitspraak is onbegrijpelijk voor screenreader-gebruikers</a:t>
            </a:r>
          </a:p>
          <a:p>
            <a:endParaRPr lang="nl-NL" b="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27</a:t>
            </a:fld>
            <a:endParaRPr lang="nl-NL"/>
          </a:p>
        </p:txBody>
      </p:sp>
    </p:spTree>
    <p:extLst>
      <p:ext uri="{BB962C8B-B14F-4D97-AF65-F5344CB8AC3E}">
        <p14:creationId xmlns:p14="http://schemas.microsoft.com/office/powerpoint/2010/main" val="27355617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kern="1200" dirty="0">
                <a:solidFill>
                  <a:schemeClr val="tx1"/>
                </a:solidFill>
                <a:effectLst/>
                <a:latin typeface="+mn-lt"/>
                <a:ea typeface="+mn-ea"/>
                <a:cs typeface="+mn-cs"/>
              </a:rPr>
              <a:t>Een voorbeeld van verkeerd ingestelde taal</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kern="1200" dirty="0">
                <a:solidFill>
                  <a:schemeClr val="tx1"/>
                </a:solidFill>
                <a:effectLst/>
                <a:latin typeface="+mn-lt"/>
                <a:ea typeface="+mn-ea"/>
                <a:cs typeface="+mn-cs"/>
              </a:rPr>
              <a:t>Doel: Bewustzijn creëren over wat gebeurt als taal niet (correct) ingesteld is en over </a:t>
            </a:r>
            <a:r>
              <a:rPr lang="nl-NL" sz="1200" kern="1200" dirty="0">
                <a:solidFill>
                  <a:schemeClr val="tx1"/>
                </a:solidFill>
                <a:effectLst/>
                <a:latin typeface="+mn-lt"/>
                <a:ea typeface="+mn-ea"/>
                <a:cs typeface="+mn-cs"/>
              </a:rPr>
              <a:t>complexe ambtelijke/vaktaal die voor veel mensen onbegrijpelijk is</a:t>
            </a:r>
          </a:p>
          <a:p>
            <a:endParaRPr lang="nl-NL" sz="1200" b="0" kern="1200" dirty="0">
              <a:solidFill>
                <a:schemeClr val="tx1"/>
              </a:solidFill>
              <a:effectLst/>
              <a:latin typeface="+mn-lt"/>
              <a:ea typeface="+mn-ea"/>
              <a:cs typeface="+mn-cs"/>
            </a:endParaRP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Wat willen ze hiermee zeggen?</a:t>
            </a:r>
          </a:p>
          <a:p>
            <a:pPr lvl="0"/>
            <a:r>
              <a:rPr lang="nl-NL" sz="1200" b="0" kern="1200" dirty="0">
                <a:solidFill>
                  <a:schemeClr val="tx1"/>
                </a:solidFill>
                <a:effectLst/>
                <a:latin typeface="+mn-lt"/>
                <a:ea typeface="+mn-ea"/>
                <a:cs typeface="+mn-cs"/>
              </a:rPr>
              <a:t>Interactief element – Taal instelling:</a:t>
            </a:r>
          </a:p>
          <a:p>
            <a:r>
              <a:rPr lang="nl-NL" sz="1200" b="0" kern="1200" dirty="0">
                <a:solidFill>
                  <a:schemeClr val="tx1"/>
                </a:solidFill>
                <a:effectLst/>
                <a:latin typeface="+mn-lt"/>
                <a:ea typeface="+mn-ea"/>
                <a:cs typeface="+mn-cs"/>
              </a:rPr>
              <a:t>Voorbereiding:</a:t>
            </a:r>
          </a:p>
          <a:p>
            <a:pPr lvl="1"/>
            <a:r>
              <a:rPr lang="nl-NL" sz="1200" b="0" kern="1200" dirty="0">
                <a:solidFill>
                  <a:schemeClr val="tx1"/>
                </a:solidFill>
                <a:effectLst/>
                <a:latin typeface="+mn-lt"/>
                <a:ea typeface="+mn-ea"/>
                <a:cs typeface="+mn-cs"/>
              </a:rPr>
              <a:t>Dit is een opmaat naar de volgende slide</a:t>
            </a:r>
          </a:p>
          <a:p>
            <a:pPr lvl="1"/>
            <a:r>
              <a:rPr lang="nl-NL" sz="1200" b="0" kern="1200" dirty="0">
                <a:solidFill>
                  <a:schemeClr val="tx1"/>
                </a:solidFill>
                <a:effectLst/>
                <a:latin typeface="+mn-lt"/>
                <a:ea typeface="+mn-ea"/>
                <a:cs typeface="+mn-cs"/>
              </a:rPr>
              <a:t>Gaat over het belang van instellen van de juiste taal</a:t>
            </a:r>
          </a:p>
          <a:p>
            <a:endParaRPr lang="nl-NL" sz="1200" b="0" kern="1200" dirty="0">
              <a:solidFill>
                <a:schemeClr val="tx1"/>
              </a:solidFill>
              <a:effectLst/>
              <a:latin typeface="+mn-lt"/>
              <a:ea typeface="+mn-ea"/>
              <a:cs typeface="+mn-cs"/>
            </a:endParaRPr>
          </a:p>
          <a:p>
            <a:endParaRPr lang="nl-NL" sz="1200" b="0" kern="1200" dirty="0">
              <a:solidFill>
                <a:schemeClr val="tx1"/>
              </a:solidFill>
              <a:effectLst/>
              <a:latin typeface="+mn-lt"/>
              <a:ea typeface="+mn-ea"/>
              <a:cs typeface="+mn-cs"/>
            </a:endParaRP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28</a:t>
            </a:fld>
            <a:endParaRPr lang="nl-NL"/>
          </a:p>
        </p:txBody>
      </p:sp>
    </p:spTree>
    <p:extLst>
      <p:ext uri="{BB962C8B-B14F-4D97-AF65-F5344CB8AC3E}">
        <p14:creationId xmlns:p14="http://schemas.microsoft.com/office/powerpoint/2010/main" val="3562769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Naast de juiste taalinstelling is ook gebruik van begrijpelijke taal belangrijk. </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Analyse met de groep:</a:t>
            </a:r>
          </a:p>
          <a:p>
            <a:pPr lvl="0"/>
            <a:r>
              <a:rPr lang="nl-NL" sz="1200" b="0" kern="1200" dirty="0">
                <a:solidFill>
                  <a:schemeClr val="tx1"/>
                </a:solidFill>
                <a:effectLst/>
                <a:latin typeface="+mn-lt"/>
                <a:ea typeface="+mn-ea"/>
                <a:cs typeface="+mn-cs"/>
              </a:rPr>
              <a:t>"Wie begrijpt meteen wat hier staat?"</a:t>
            </a:r>
          </a:p>
          <a:p>
            <a:pPr lvl="0"/>
            <a:r>
              <a:rPr lang="nl-NL" sz="1200" b="0" kern="1200" dirty="0">
                <a:solidFill>
                  <a:schemeClr val="tx1"/>
                </a:solidFill>
                <a:effectLst/>
                <a:latin typeface="+mn-lt"/>
                <a:ea typeface="+mn-ea"/>
                <a:cs typeface="+mn-cs"/>
              </a:rPr>
              <a:t>"Voor wie is deze tekst onduidelijk?"</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Probleem met de audio: </a:t>
            </a:r>
          </a:p>
          <a:p>
            <a:pPr lvl="0"/>
            <a:r>
              <a:rPr lang="nl-NL" sz="1200" b="0" kern="1200" dirty="0">
                <a:solidFill>
                  <a:schemeClr val="tx1"/>
                </a:solidFill>
                <a:effectLst/>
                <a:latin typeface="+mn-lt"/>
                <a:ea typeface="+mn-ea"/>
                <a:cs typeface="+mn-cs"/>
              </a:rPr>
              <a:t>De tekst is niet ingesteld op de juiste taal</a:t>
            </a:r>
          </a:p>
          <a:p>
            <a:pPr lvl="0"/>
            <a:r>
              <a:rPr lang="nl-NL" sz="1200" b="0" kern="1200" dirty="0">
                <a:solidFill>
                  <a:schemeClr val="tx1"/>
                </a:solidFill>
                <a:effectLst/>
                <a:latin typeface="+mn-lt"/>
                <a:ea typeface="+mn-ea"/>
                <a:cs typeface="+mn-cs"/>
              </a:rPr>
              <a:t>Onbegrijpelijk voor gebruikers van schermlezers </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Problemen in deze tekst:</a:t>
            </a:r>
          </a:p>
          <a:p>
            <a:pPr lvl="0"/>
            <a:r>
              <a:rPr lang="nl-NL" sz="1200" b="0" kern="1200" dirty="0">
                <a:solidFill>
                  <a:schemeClr val="tx1"/>
                </a:solidFill>
                <a:effectLst/>
                <a:latin typeface="+mn-lt"/>
                <a:ea typeface="+mn-ea"/>
                <a:cs typeface="+mn-cs"/>
              </a:rPr>
              <a:t>Lange zinnen: Meerdere bijzinnen</a:t>
            </a:r>
          </a:p>
          <a:p>
            <a:pPr lvl="0"/>
            <a:r>
              <a:rPr lang="nl-NL" sz="1200" b="0" kern="1200" dirty="0">
                <a:solidFill>
                  <a:schemeClr val="tx1"/>
                </a:solidFill>
                <a:effectLst/>
                <a:latin typeface="+mn-lt"/>
                <a:ea typeface="+mn-ea"/>
                <a:cs typeface="+mn-cs"/>
              </a:rPr>
              <a:t>Jargon: "bezuinigingstaakstelling", "financiële dekking"</a:t>
            </a:r>
          </a:p>
          <a:p>
            <a:pPr lvl="0"/>
            <a:r>
              <a:rPr lang="nl-NL" sz="1200" b="0" kern="1200" dirty="0">
                <a:solidFill>
                  <a:schemeClr val="tx1"/>
                </a:solidFill>
                <a:effectLst/>
                <a:latin typeface="+mn-lt"/>
                <a:ea typeface="+mn-ea"/>
                <a:cs typeface="+mn-cs"/>
              </a:rPr>
              <a:t>Passieve constructies: "valt weg", "ontstane"</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Abstracte begrippen: "stagnatie", "taakstelling"</a:t>
            </a:r>
          </a:p>
          <a:p>
            <a:pPr lvl="0"/>
            <a:r>
              <a:rPr lang="nl-NL" sz="1200" b="0" kern="1200" dirty="0">
                <a:solidFill>
                  <a:schemeClr val="tx1"/>
                </a:solidFill>
                <a:effectLst/>
                <a:latin typeface="+mn-lt"/>
                <a:ea typeface="+mn-ea"/>
                <a:cs typeface="+mn-cs"/>
              </a:rPr>
              <a:t>Genominaliseerde werkwoorden: "bezuiniging" in plaats van "bezuinigen"</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Impact:</a:t>
            </a:r>
          </a:p>
          <a:p>
            <a:pPr lvl="0"/>
            <a:r>
              <a:rPr lang="nl-NL" sz="1200" b="0" kern="1200" dirty="0">
                <a:solidFill>
                  <a:schemeClr val="tx1"/>
                </a:solidFill>
                <a:effectLst/>
                <a:latin typeface="+mn-lt"/>
                <a:ea typeface="+mn-ea"/>
                <a:cs typeface="+mn-cs"/>
              </a:rPr>
              <a:t>Laaggeletterde begrijpen dit niet</a:t>
            </a:r>
          </a:p>
          <a:p>
            <a:pPr lvl="0"/>
            <a:r>
              <a:rPr lang="nl-NL" sz="1200" b="0" kern="1200" dirty="0">
                <a:solidFill>
                  <a:schemeClr val="tx1"/>
                </a:solidFill>
                <a:effectLst/>
                <a:latin typeface="+mn-lt"/>
                <a:ea typeface="+mn-ea"/>
                <a:cs typeface="+mn-cs"/>
              </a:rPr>
              <a:t>Mensen met cognitieve beperkingen worstelen ermee</a:t>
            </a:r>
          </a:p>
          <a:p>
            <a:pPr lvl="0"/>
            <a:r>
              <a:rPr lang="nl-NL" sz="1200" b="0" kern="1200" dirty="0">
                <a:solidFill>
                  <a:schemeClr val="tx1"/>
                </a:solidFill>
                <a:effectLst/>
                <a:latin typeface="+mn-lt"/>
                <a:ea typeface="+mn-ea"/>
                <a:cs typeface="+mn-cs"/>
              </a:rPr>
              <a:t>Mensen met dyslexie hebben moeite</a:t>
            </a:r>
          </a:p>
          <a:p>
            <a:pPr lvl="0"/>
            <a:r>
              <a:rPr lang="nl-NL" sz="1200" b="0" kern="1200" dirty="0">
                <a:solidFill>
                  <a:schemeClr val="tx1"/>
                </a:solidFill>
                <a:effectLst/>
                <a:latin typeface="+mn-lt"/>
                <a:ea typeface="+mn-ea"/>
                <a:cs typeface="+mn-cs"/>
              </a:rPr>
              <a:t>Zelfs hoogopgeleiden moeten de tekst meerdere keren lezen</a:t>
            </a:r>
          </a:p>
          <a:p>
            <a:pPr lvl="0"/>
            <a:r>
              <a:rPr lang="nl-NL" sz="1200" b="0" kern="1200" dirty="0">
                <a:solidFill>
                  <a:schemeClr val="tx1"/>
                </a:solidFill>
                <a:effectLst/>
                <a:latin typeface="+mn-lt"/>
                <a:ea typeface="+mn-ea"/>
                <a:cs typeface="+mn-cs"/>
              </a:rPr>
              <a:t>Volledig onbegrijpelijk voor mensen die schermlezers gebruiken</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Betere versie:</a:t>
            </a:r>
            <a:br>
              <a:rPr lang="nl-NL" sz="1200" b="0" kern="1200" dirty="0">
                <a:solidFill>
                  <a:schemeClr val="tx1"/>
                </a:solidFill>
                <a:effectLst/>
                <a:latin typeface="+mn-lt"/>
                <a:ea typeface="+mn-ea"/>
                <a:cs typeface="+mn-cs"/>
              </a:rPr>
            </a:br>
            <a:r>
              <a:rPr lang="nl-NL" sz="1200" b="0" kern="1200" dirty="0">
                <a:solidFill>
                  <a:schemeClr val="tx1"/>
                </a:solidFill>
                <a:effectLst/>
                <a:latin typeface="+mn-lt"/>
                <a:ea typeface="+mn-ea"/>
                <a:cs typeface="+mn-cs"/>
              </a:rPr>
              <a:t>"Door de crisis op de woningmarkt kunnen we minder huizen bouwen. Daardoor krijgen we minder geld binnen. We moeten daarom nog meer bezuinigen dan we al dachten."</a:t>
            </a: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29</a:t>
            </a:fld>
            <a:endParaRPr lang="nl-NL"/>
          </a:p>
        </p:txBody>
      </p:sp>
    </p:spTree>
    <p:extLst>
      <p:ext uri="{BB962C8B-B14F-4D97-AF65-F5344CB8AC3E}">
        <p14:creationId xmlns:p14="http://schemas.microsoft.com/office/powerpoint/2010/main" val="3288237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De </a:t>
            </a:r>
            <a:r>
              <a:rPr lang="nl-NL" sz="1200" b="0" kern="1200" dirty="0" err="1">
                <a:solidFill>
                  <a:schemeClr val="tx1"/>
                </a:solidFill>
                <a:effectLst/>
                <a:latin typeface="+mn-lt"/>
                <a:ea typeface="+mn-ea"/>
                <a:cs typeface="+mn-cs"/>
              </a:rPr>
              <a:t>quick</a:t>
            </a:r>
            <a:r>
              <a:rPr lang="nl-NL" sz="1200" b="0" kern="1200" dirty="0">
                <a:solidFill>
                  <a:schemeClr val="tx1"/>
                </a:solidFill>
                <a:effectLst/>
                <a:latin typeface="+mn-lt"/>
                <a:ea typeface="+mn-ea"/>
                <a:cs typeface="+mn-cs"/>
              </a:rPr>
              <a:t> </a:t>
            </a:r>
            <a:r>
              <a:rPr lang="nl-NL" sz="1200" b="0" kern="1200" dirty="0" err="1">
                <a:solidFill>
                  <a:schemeClr val="tx1"/>
                </a:solidFill>
                <a:effectLst/>
                <a:latin typeface="+mn-lt"/>
                <a:ea typeface="+mn-ea"/>
                <a:cs typeface="+mn-cs"/>
              </a:rPr>
              <a:t>wins</a:t>
            </a:r>
            <a:r>
              <a:rPr lang="nl-NL" sz="1200" b="0" kern="1200" dirty="0">
                <a:solidFill>
                  <a:schemeClr val="tx1"/>
                </a:solidFill>
                <a:effectLst/>
                <a:latin typeface="+mn-lt"/>
                <a:ea typeface="+mn-ea"/>
                <a:cs typeface="+mn-cs"/>
              </a:rPr>
              <a:t>:</a:t>
            </a:r>
          </a:p>
          <a:p>
            <a:pPr>
              <a:lnSpc>
                <a:spcPct val="150000"/>
              </a:lnSpc>
            </a:pPr>
            <a:endParaRPr lang="nl-NL" b="0" dirty="0"/>
          </a:p>
          <a:p>
            <a:pPr>
              <a:lnSpc>
                <a:spcPct val="150000"/>
              </a:lnSpc>
            </a:pPr>
            <a:r>
              <a:rPr lang="nl-NL" b="0" dirty="0"/>
              <a:t>Kopstructuur</a:t>
            </a:r>
          </a:p>
          <a:p>
            <a:pPr>
              <a:lnSpc>
                <a:spcPct val="150000"/>
              </a:lnSpc>
            </a:pPr>
            <a:r>
              <a:rPr lang="nl-NL" b="0" dirty="0"/>
              <a:t>Naam, rol en waarde</a:t>
            </a:r>
          </a:p>
          <a:p>
            <a:pPr>
              <a:lnSpc>
                <a:spcPct val="150000"/>
              </a:lnSpc>
            </a:pPr>
            <a:r>
              <a:rPr lang="nl-NL" b="0" dirty="0"/>
              <a:t>Kleurcontrast</a:t>
            </a:r>
          </a:p>
          <a:p>
            <a:pPr>
              <a:lnSpc>
                <a:spcPct val="150000"/>
              </a:lnSpc>
            </a:pPr>
            <a:r>
              <a:rPr lang="nl-NL" b="0" dirty="0"/>
              <a:t>Alternatieve teksten</a:t>
            </a:r>
          </a:p>
          <a:p>
            <a:pPr>
              <a:lnSpc>
                <a:spcPct val="150000"/>
              </a:lnSpc>
            </a:pPr>
            <a:r>
              <a:rPr lang="nl-NL" b="0" dirty="0"/>
              <a:t>Formulieren en  Foutmeldingen</a:t>
            </a:r>
          </a:p>
          <a:p>
            <a:pPr>
              <a:lnSpc>
                <a:spcPct val="150000"/>
              </a:lnSpc>
            </a:pPr>
            <a:r>
              <a:rPr lang="nl-NL" b="0" dirty="0"/>
              <a:t>Focus</a:t>
            </a:r>
          </a:p>
          <a:p>
            <a:pPr>
              <a:lnSpc>
                <a:spcPct val="150000"/>
              </a:lnSpc>
            </a:pPr>
            <a:r>
              <a:rPr lang="nl-NL" b="0" dirty="0"/>
              <a:t>Taal</a:t>
            </a:r>
          </a:p>
          <a:p>
            <a:pPr>
              <a:lnSpc>
                <a:spcPct val="150000"/>
              </a:lnSpc>
            </a:pP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Boodschap:</a:t>
            </a:r>
          </a:p>
          <a:p>
            <a:pPr lvl="0"/>
            <a:r>
              <a:rPr lang="nl-NL" sz="1200" b="0" kern="1200" dirty="0">
                <a:solidFill>
                  <a:schemeClr val="tx1"/>
                </a:solidFill>
                <a:effectLst/>
                <a:latin typeface="+mn-lt"/>
                <a:ea typeface="+mn-ea"/>
                <a:cs typeface="+mn-cs"/>
              </a:rPr>
              <a:t>Dit zijn de belangrijkste problemen die steeds weer voorkomen</a:t>
            </a:r>
          </a:p>
          <a:p>
            <a:pPr lvl="0"/>
            <a:r>
              <a:rPr lang="nl-NL" sz="1200" b="0" kern="1200" dirty="0">
                <a:solidFill>
                  <a:schemeClr val="tx1"/>
                </a:solidFill>
                <a:effectLst/>
                <a:latin typeface="+mn-lt"/>
                <a:ea typeface="+mn-ea"/>
                <a:cs typeface="+mn-cs"/>
              </a:rPr>
              <a:t>Relatief eenvoudig op te lossen</a:t>
            </a:r>
          </a:p>
          <a:p>
            <a:pPr lvl="0"/>
            <a:r>
              <a:rPr lang="nl-NL" sz="1200" b="0" kern="1200" dirty="0">
                <a:solidFill>
                  <a:schemeClr val="tx1"/>
                </a:solidFill>
                <a:effectLst/>
                <a:latin typeface="+mn-lt"/>
                <a:ea typeface="+mn-ea"/>
                <a:cs typeface="+mn-cs"/>
              </a:rPr>
              <a:t>Grote impact op toegankelijkheid</a:t>
            </a:r>
          </a:p>
          <a:p>
            <a:pPr lvl="0"/>
            <a:r>
              <a:rPr lang="nl-NL" sz="1200" b="0" kern="1200" dirty="0">
                <a:solidFill>
                  <a:schemeClr val="tx1"/>
                </a:solidFill>
                <a:effectLst/>
                <a:latin typeface="+mn-lt"/>
                <a:ea typeface="+mn-ea"/>
                <a:cs typeface="+mn-cs"/>
              </a:rPr>
              <a:t>Als je deze dingen goed doet, ben je al een heel eind</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Aanmoediging:</a:t>
            </a:r>
          </a:p>
          <a:p>
            <a:pPr lvl="0"/>
            <a:r>
              <a:rPr lang="nl-NL" sz="1200" b="0" kern="1200" dirty="0">
                <a:solidFill>
                  <a:schemeClr val="tx1"/>
                </a:solidFill>
                <a:effectLst/>
                <a:latin typeface="+mn-lt"/>
                <a:ea typeface="+mn-ea"/>
                <a:cs typeface="+mn-cs"/>
              </a:rPr>
              <a:t>Begin met deze </a:t>
            </a:r>
            <a:r>
              <a:rPr lang="nl-NL" sz="1200" b="0" kern="1200" dirty="0" err="1">
                <a:solidFill>
                  <a:schemeClr val="tx1"/>
                </a:solidFill>
                <a:effectLst/>
                <a:latin typeface="+mn-lt"/>
                <a:ea typeface="+mn-ea"/>
                <a:cs typeface="+mn-cs"/>
              </a:rPr>
              <a:t>quick</a:t>
            </a:r>
            <a:r>
              <a:rPr lang="nl-NL" sz="1200" b="0" kern="1200" dirty="0">
                <a:solidFill>
                  <a:schemeClr val="tx1"/>
                </a:solidFill>
                <a:effectLst/>
                <a:latin typeface="+mn-lt"/>
                <a:ea typeface="+mn-ea"/>
                <a:cs typeface="+mn-cs"/>
              </a:rPr>
              <a:t> </a:t>
            </a:r>
            <a:r>
              <a:rPr lang="nl-NL" sz="1200" b="0" kern="1200" dirty="0" err="1">
                <a:solidFill>
                  <a:schemeClr val="tx1"/>
                </a:solidFill>
                <a:effectLst/>
                <a:latin typeface="+mn-lt"/>
                <a:ea typeface="+mn-ea"/>
                <a:cs typeface="+mn-cs"/>
              </a:rPr>
              <a:t>wins</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Je hoeft niet alles tegelijk te doen</a:t>
            </a:r>
          </a:p>
          <a:p>
            <a:pPr lvl="0"/>
            <a:r>
              <a:rPr lang="nl-NL" sz="1200" b="0" kern="1200" dirty="0">
                <a:solidFill>
                  <a:schemeClr val="tx1"/>
                </a:solidFill>
                <a:effectLst/>
                <a:latin typeface="+mn-lt"/>
                <a:ea typeface="+mn-ea"/>
                <a:cs typeface="+mn-cs"/>
              </a:rPr>
              <a:t>Elke verbetering telt</a:t>
            </a:r>
          </a:p>
          <a:p>
            <a:pPr lvl="0"/>
            <a:r>
              <a:rPr lang="nl-NL" sz="1200" b="0" kern="1200" dirty="0">
                <a:solidFill>
                  <a:schemeClr val="tx1"/>
                </a:solidFill>
                <a:effectLst/>
                <a:latin typeface="+mn-lt"/>
                <a:ea typeface="+mn-ea"/>
                <a:cs typeface="+mn-cs"/>
              </a:rPr>
              <a:t>Deze zijn een goede start naar volledige toegankelijkheid</a:t>
            </a: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30</a:t>
            </a:fld>
            <a:endParaRPr lang="nl-NL"/>
          </a:p>
        </p:txBody>
      </p:sp>
    </p:spTree>
    <p:extLst>
      <p:ext uri="{BB962C8B-B14F-4D97-AF65-F5344CB8AC3E}">
        <p14:creationId xmlns:p14="http://schemas.microsoft.com/office/powerpoint/2010/main" val="28182765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dirty="0"/>
              <a:t>Om digitale toegankelijkheid te testen kun je gebruik maken van diverse tools. Je kunt zowel handmatig als ook automatisch testen.</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31</a:t>
            </a:fld>
            <a:endParaRPr lang="nl-NL"/>
          </a:p>
        </p:txBody>
      </p:sp>
    </p:spTree>
    <p:extLst>
      <p:ext uri="{BB962C8B-B14F-4D97-AF65-F5344CB8AC3E}">
        <p14:creationId xmlns:p14="http://schemas.microsoft.com/office/powerpoint/2010/main" val="17822487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a:solidFill>
                  <a:schemeClr val="tx1"/>
                </a:solidFill>
                <a:effectLst/>
                <a:latin typeface="+mn-lt"/>
                <a:ea typeface="+mn-ea"/>
                <a:cs typeface="+mn-cs"/>
              </a:rPr>
              <a:t>Tools voor geautomatiseerd testen:</a:t>
            </a:r>
          </a:p>
          <a:p>
            <a:pPr lvl="0"/>
            <a:r>
              <a:rPr lang="nl-NL" sz="1200" b="0" kern="1200">
                <a:solidFill>
                  <a:schemeClr val="tx1"/>
                </a:solidFill>
                <a:effectLst/>
                <a:latin typeface="+mn-lt"/>
                <a:ea typeface="+mn-ea"/>
                <a:cs typeface="+mn-cs"/>
              </a:rPr>
              <a:t>WAVE: Browser extensie en web tool</a:t>
            </a:r>
          </a:p>
          <a:p>
            <a:pPr lvl="0"/>
            <a:r>
              <a:rPr lang="nl-NL" sz="1200" b="0" kern="1200" err="1">
                <a:solidFill>
                  <a:schemeClr val="tx1"/>
                </a:solidFill>
                <a:effectLst/>
                <a:latin typeface="+mn-lt"/>
                <a:ea typeface="+mn-ea"/>
                <a:cs typeface="+mn-cs"/>
              </a:rPr>
              <a:t>Axe</a:t>
            </a:r>
            <a:r>
              <a:rPr lang="nl-NL" sz="1200" b="0" kern="1200">
                <a:solidFill>
                  <a:schemeClr val="tx1"/>
                </a:solidFill>
                <a:effectLst/>
                <a:latin typeface="+mn-lt"/>
                <a:ea typeface="+mn-ea"/>
                <a:cs typeface="+mn-cs"/>
              </a:rPr>
              <a:t>: Browser extensie, </a:t>
            </a:r>
            <a:r>
              <a:rPr lang="nl-NL" sz="1200" b="0" kern="1200" err="1">
                <a:solidFill>
                  <a:schemeClr val="tx1"/>
                </a:solidFill>
                <a:effectLst/>
                <a:latin typeface="+mn-lt"/>
                <a:ea typeface="+mn-ea"/>
                <a:cs typeface="+mn-cs"/>
              </a:rPr>
              <a:t>developer</a:t>
            </a:r>
            <a:r>
              <a:rPr lang="nl-NL" sz="1200" b="0" kern="1200">
                <a:solidFill>
                  <a:schemeClr val="tx1"/>
                </a:solidFill>
                <a:effectLst/>
                <a:latin typeface="+mn-lt"/>
                <a:ea typeface="+mn-ea"/>
                <a:cs typeface="+mn-cs"/>
              </a:rPr>
              <a:t> tools</a:t>
            </a:r>
          </a:p>
          <a:p>
            <a:pPr lvl="0"/>
            <a:r>
              <a:rPr lang="nl-NL" sz="1200" b="0" kern="1200" err="1">
                <a:solidFill>
                  <a:schemeClr val="tx1"/>
                </a:solidFill>
                <a:effectLst/>
                <a:latin typeface="+mn-lt"/>
                <a:ea typeface="+mn-ea"/>
                <a:cs typeface="+mn-cs"/>
              </a:rPr>
              <a:t>SiteImprove</a:t>
            </a:r>
            <a:r>
              <a:rPr lang="nl-NL" sz="1200" b="0" kern="1200">
                <a:solidFill>
                  <a:schemeClr val="tx1"/>
                </a:solidFill>
                <a:effectLst/>
                <a:latin typeface="+mn-lt"/>
                <a:ea typeface="+mn-ea"/>
                <a:cs typeface="+mn-cs"/>
              </a:rPr>
              <a:t>: Enterprise oplossing</a:t>
            </a:r>
          </a:p>
          <a:p>
            <a:pPr lvl="0"/>
            <a:r>
              <a:rPr lang="nl-NL" sz="1200" b="0" kern="1200" err="1">
                <a:solidFill>
                  <a:schemeClr val="tx1"/>
                </a:solidFill>
                <a:effectLst/>
                <a:latin typeface="+mn-lt"/>
                <a:ea typeface="+mn-ea"/>
                <a:cs typeface="+mn-cs"/>
              </a:rPr>
              <a:t>Lighthouse</a:t>
            </a:r>
            <a:r>
              <a:rPr lang="nl-NL" sz="1200" b="0" kern="1200">
                <a:solidFill>
                  <a:schemeClr val="tx1"/>
                </a:solidFill>
                <a:effectLst/>
                <a:latin typeface="+mn-lt"/>
                <a:ea typeface="+mn-ea"/>
                <a:cs typeface="+mn-cs"/>
              </a:rPr>
              <a:t>: Ingebouwd in Chrome </a:t>
            </a:r>
            <a:r>
              <a:rPr lang="nl-NL" sz="1200" b="0" kern="1200" err="1">
                <a:solidFill>
                  <a:schemeClr val="tx1"/>
                </a:solidFill>
                <a:effectLst/>
                <a:latin typeface="+mn-lt"/>
                <a:ea typeface="+mn-ea"/>
                <a:cs typeface="+mn-cs"/>
              </a:rPr>
              <a:t>DevTools</a:t>
            </a:r>
            <a:endParaRPr lang="nl-NL" sz="1200" b="0" kern="1200">
              <a:solidFill>
                <a:schemeClr val="tx1"/>
              </a:solidFill>
              <a:effectLst/>
              <a:latin typeface="+mn-lt"/>
              <a:ea typeface="+mn-ea"/>
              <a:cs typeface="+mn-cs"/>
            </a:endParaRP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Belangrijke kanttekening:</a:t>
            </a:r>
          </a:p>
          <a:p>
            <a:pPr lvl="0"/>
            <a:r>
              <a:rPr lang="nl-NL" sz="1200" b="0" kern="1200">
                <a:solidFill>
                  <a:schemeClr val="tx1"/>
                </a:solidFill>
                <a:effectLst/>
                <a:latin typeface="+mn-lt"/>
                <a:ea typeface="+mn-ea"/>
                <a:cs typeface="+mn-cs"/>
              </a:rPr>
              <a:t>Detecteert slechts 10-20% van toegankelijkheidsproblemen</a:t>
            </a:r>
          </a:p>
          <a:p>
            <a:pPr lvl="0"/>
            <a:r>
              <a:rPr lang="nl-NL" sz="1200" b="0" kern="1200">
                <a:solidFill>
                  <a:schemeClr val="tx1"/>
                </a:solidFill>
                <a:effectLst/>
                <a:latin typeface="+mn-lt"/>
                <a:ea typeface="+mn-ea"/>
                <a:cs typeface="+mn-cs"/>
              </a:rPr>
              <a:t>Veel hangt af van context: Is deze alt-tekst passend? Is deze kopstructuur logisch?</a:t>
            </a:r>
          </a:p>
          <a:p>
            <a:pPr lvl="0"/>
            <a:r>
              <a:rPr lang="nl-NL" sz="1200" b="0" kern="1200">
                <a:solidFill>
                  <a:schemeClr val="tx1"/>
                </a:solidFill>
                <a:effectLst/>
                <a:latin typeface="+mn-lt"/>
                <a:ea typeface="+mn-ea"/>
                <a:cs typeface="+mn-cs"/>
              </a:rPr>
              <a:t>Alternatieven mogelijk: Soms zijn er meerdere manieren om iets toegankelijk te maken</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Wat tools NIET kunnen:</a:t>
            </a:r>
          </a:p>
          <a:p>
            <a:pPr lvl="0"/>
            <a:r>
              <a:rPr lang="nl-NL" sz="1200" b="0" kern="1200">
                <a:solidFill>
                  <a:schemeClr val="tx1"/>
                </a:solidFill>
                <a:effectLst/>
                <a:latin typeface="+mn-lt"/>
                <a:ea typeface="+mn-ea"/>
                <a:cs typeface="+mn-cs"/>
              </a:rPr>
              <a:t>Beoordelen of alt-tekst zinvol is</a:t>
            </a:r>
          </a:p>
          <a:p>
            <a:pPr lvl="0"/>
            <a:r>
              <a:rPr lang="nl-NL" sz="1200" b="0" kern="1200">
                <a:solidFill>
                  <a:schemeClr val="tx1"/>
                </a:solidFill>
                <a:effectLst/>
                <a:latin typeface="+mn-lt"/>
                <a:ea typeface="+mn-ea"/>
                <a:cs typeface="+mn-cs"/>
              </a:rPr>
              <a:t>Beoordelen of kopstructuur logisch is</a:t>
            </a:r>
          </a:p>
          <a:p>
            <a:pPr lvl="0"/>
            <a:r>
              <a:rPr lang="nl-NL" sz="1200" b="0" kern="1200">
                <a:solidFill>
                  <a:schemeClr val="tx1"/>
                </a:solidFill>
                <a:effectLst/>
                <a:latin typeface="+mn-lt"/>
                <a:ea typeface="+mn-ea"/>
                <a:cs typeface="+mn-cs"/>
              </a:rPr>
              <a:t>Complexe interacties testen</a:t>
            </a:r>
          </a:p>
          <a:p>
            <a:pPr lvl="0"/>
            <a:endParaRPr lang="nl-NL" sz="1200" b="0" kern="1200">
              <a:solidFill>
                <a:schemeClr val="tx1"/>
              </a:solidFill>
              <a:effectLst/>
              <a:latin typeface="+mn-lt"/>
              <a:ea typeface="+mn-ea"/>
              <a:cs typeface="+mn-cs"/>
            </a:endParaRPr>
          </a:p>
          <a:p>
            <a:pPr lvl="0"/>
            <a:r>
              <a:rPr lang="nl-NL" sz="1200" b="0" kern="1200">
                <a:solidFill>
                  <a:schemeClr val="tx1"/>
                </a:solidFill>
                <a:effectLst/>
                <a:latin typeface="+mn-lt"/>
                <a:ea typeface="+mn-ea"/>
                <a:cs typeface="+mn-cs"/>
              </a:rPr>
              <a:t>Context begrijpen</a:t>
            </a:r>
          </a:p>
          <a:p>
            <a:pPr lvl="0"/>
            <a:r>
              <a:rPr lang="nl-NL" sz="1200" b="0" kern="1200">
                <a:solidFill>
                  <a:schemeClr val="tx1"/>
                </a:solidFill>
                <a:effectLst/>
                <a:latin typeface="+mn-lt"/>
                <a:ea typeface="+mn-ea"/>
                <a:cs typeface="+mn-cs"/>
              </a:rPr>
              <a:t>Advies:</a:t>
            </a:r>
          </a:p>
          <a:p>
            <a:pPr lvl="0"/>
            <a:r>
              <a:rPr lang="nl-NL" sz="1200" b="0" kern="1200">
                <a:solidFill>
                  <a:schemeClr val="tx1"/>
                </a:solidFill>
                <a:effectLst/>
                <a:latin typeface="+mn-lt"/>
                <a:ea typeface="+mn-ea"/>
                <a:cs typeface="+mn-cs"/>
              </a:rPr>
              <a:t>Gebruik tools als eerste check</a:t>
            </a:r>
          </a:p>
          <a:p>
            <a:pPr lvl="0"/>
            <a:r>
              <a:rPr lang="nl-NL" sz="1200" b="0" kern="1200">
                <a:solidFill>
                  <a:schemeClr val="tx1"/>
                </a:solidFill>
                <a:effectLst/>
                <a:latin typeface="+mn-lt"/>
                <a:ea typeface="+mn-ea"/>
                <a:cs typeface="+mn-cs"/>
              </a:rPr>
              <a:t>Combineer met handmatig testen</a:t>
            </a:r>
          </a:p>
          <a:p>
            <a:pPr lvl="0"/>
            <a:r>
              <a:rPr lang="nl-NL" sz="1200" b="0" kern="1200">
                <a:solidFill>
                  <a:schemeClr val="tx1"/>
                </a:solidFill>
                <a:effectLst/>
                <a:latin typeface="+mn-lt"/>
                <a:ea typeface="+mn-ea"/>
                <a:cs typeface="+mn-cs"/>
              </a:rPr>
              <a:t>Laat echte gebruikers testen indien mogelijk</a:t>
            </a:r>
          </a:p>
          <a:p>
            <a:endParaRPr lang="nl-NL" b="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32</a:t>
            </a:fld>
            <a:endParaRPr lang="nl-NL"/>
          </a:p>
        </p:txBody>
      </p:sp>
    </p:spTree>
    <p:extLst>
      <p:ext uri="{BB962C8B-B14F-4D97-AF65-F5344CB8AC3E}">
        <p14:creationId xmlns:p14="http://schemas.microsoft.com/office/powerpoint/2010/main" val="10522080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Handmatige testmethoden:</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Probeer alleen toetsenbord te gebruiken</a:t>
            </a:r>
          </a:p>
          <a:p>
            <a:pPr lvl="0"/>
            <a:r>
              <a:rPr lang="nl-NL" sz="1200" b="0" kern="1200" dirty="0">
                <a:solidFill>
                  <a:schemeClr val="tx1"/>
                </a:solidFill>
                <a:effectLst/>
                <a:latin typeface="+mn-lt"/>
                <a:ea typeface="+mn-ea"/>
                <a:cs typeface="+mn-cs"/>
              </a:rPr>
              <a:t>Navigeer met Tab, </a:t>
            </a:r>
            <a:r>
              <a:rPr lang="nl-NL" sz="1200" b="0" kern="1200" dirty="0" err="1">
                <a:solidFill>
                  <a:schemeClr val="tx1"/>
                </a:solidFill>
                <a:effectLst/>
                <a:latin typeface="+mn-lt"/>
                <a:ea typeface="+mn-ea"/>
                <a:cs typeface="+mn-cs"/>
              </a:rPr>
              <a:t>Shift+Tab</a:t>
            </a:r>
            <a:r>
              <a:rPr lang="nl-NL" sz="1200" b="0" kern="1200" dirty="0">
                <a:solidFill>
                  <a:schemeClr val="tx1"/>
                </a:solidFill>
                <a:effectLst/>
                <a:latin typeface="+mn-lt"/>
                <a:ea typeface="+mn-ea"/>
                <a:cs typeface="+mn-cs"/>
              </a:rPr>
              <a:t>, Enter, Spatie, pijltjestoetsen</a:t>
            </a:r>
          </a:p>
          <a:p>
            <a:pPr lvl="0"/>
            <a:r>
              <a:rPr lang="nl-NL" sz="1200" b="0" kern="1200" dirty="0">
                <a:solidFill>
                  <a:schemeClr val="tx1"/>
                </a:solidFill>
                <a:effectLst/>
                <a:latin typeface="+mn-lt"/>
                <a:ea typeface="+mn-ea"/>
                <a:cs typeface="+mn-cs"/>
              </a:rPr>
              <a:t>Check:</a:t>
            </a:r>
          </a:p>
          <a:p>
            <a:pPr lvl="1"/>
            <a:r>
              <a:rPr lang="nl-NL" sz="1200" b="0" kern="1200" dirty="0">
                <a:solidFill>
                  <a:schemeClr val="tx1"/>
                </a:solidFill>
                <a:effectLst/>
                <a:latin typeface="+mn-lt"/>
                <a:ea typeface="+mn-ea"/>
                <a:cs typeface="+mn-cs"/>
              </a:rPr>
              <a:t>Kun je alle interactieve elementen bedienen?</a:t>
            </a:r>
          </a:p>
          <a:p>
            <a:pPr lvl="1"/>
            <a:r>
              <a:rPr lang="nl-NL" sz="1200" b="0" kern="1200" dirty="0">
                <a:solidFill>
                  <a:schemeClr val="tx1"/>
                </a:solidFill>
                <a:effectLst/>
                <a:latin typeface="+mn-lt"/>
                <a:ea typeface="+mn-ea"/>
                <a:cs typeface="+mn-cs"/>
              </a:rPr>
              <a:t>Is de focusindicator zichtbaar?</a:t>
            </a:r>
          </a:p>
          <a:p>
            <a:pPr lvl="1"/>
            <a:r>
              <a:rPr lang="nl-NL" sz="1200" b="0" kern="1200" dirty="0">
                <a:solidFill>
                  <a:schemeClr val="tx1"/>
                </a:solidFill>
                <a:effectLst/>
                <a:latin typeface="+mn-lt"/>
                <a:ea typeface="+mn-ea"/>
                <a:cs typeface="+mn-cs"/>
              </a:rPr>
              <a:t>Is alles in een logische volgorde?</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Test met schermlezer</a:t>
            </a:r>
          </a:p>
          <a:p>
            <a:pPr lvl="0"/>
            <a:r>
              <a:rPr lang="nl-NL" sz="1200" b="0" kern="1200" dirty="0" err="1">
                <a:solidFill>
                  <a:schemeClr val="tx1"/>
                </a:solidFill>
                <a:effectLst/>
                <a:latin typeface="+mn-lt"/>
                <a:ea typeface="+mn-ea"/>
                <a:cs typeface="+mn-cs"/>
              </a:rPr>
              <a:t>VoiceOver</a:t>
            </a:r>
            <a:r>
              <a:rPr lang="nl-NL" sz="1200" b="0" kern="1200" dirty="0">
                <a:solidFill>
                  <a:schemeClr val="tx1"/>
                </a:solidFill>
                <a:effectLst/>
                <a:latin typeface="+mn-lt"/>
                <a:ea typeface="+mn-ea"/>
                <a:cs typeface="+mn-cs"/>
              </a:rPr>
              <a:t> (Mac/iOS): ingebouwd</a:t>
            </a:r>
          </a:p>
          <a:p>
            <a:pPr lvl="0"/>
            <a:r>
              <a:rPr lang="en-US" sz="1200" b="0" kern="1200" dirty="0">
                <a:solidFill>
                  <a:schemeClr val="tx1"/>
                </a:solidFill>
                <a:effectLst/>
                <a:latin typeface="+mn-lt"/>
                <a:ea typeface="+mn-ea"/>
                <a:cs typeface="+mn-cs"/>
              </a:rPr>
              <a:t>NVDA (Windows): gratis download (logo </a:t>
            </a:r>
            <a:r>
              <a:rPr lang="en-US" sz="1200" b="0" kern="1200" dirty="0" err="1">
                <a:solidFill>
                  <a:schemeClr val="tx1"/>
                </a:solidFill>
                <a:effectLst/>
                <a:latin typeface="+mn-lt"/>
                <a:ea typeface="+mn-ea"/>
                <a:cs typeface="+mn-cs"/>
              </a:rPr>
              <a:t>getoond</a:t>
            </a:r>
            <a:r>
              <a:rPr lang="en-US" sz="1200" b="0" kern="1200" dirty="0">
                <a:solidFill>
                  <a:schemeClr val="tx1"/>
                </a:solidFill>
                <a:effectLst/>
                <a:latin typeface="+mn-lt"/>
                <a:ea typeface="+mn-ea"/>
                <a:cs typeface="+mn-cs"/>
              </a:rPr>
              <a:t> op slide)</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Check:</a:t>
            </a:r>
          </a:p>
          <a:p>
            <a:pPr lvl="1"/>
            <a:r>
              <a:rPr lang="nl-NL" sz="1200" b="0" kern="1200" dirty="0">
                <a:solidFill>
                  <a:schemeClr val="tx1"/>
                </a:solidFill>
                <a:effectLst/>
                <a:latin typeface="+mn-lt"/>
                <a:ea typeface="+mn-ea"/>
                <a:cs typeface="+mn-cs"/>
              </a:rPr>
              <a:t>Worden alle informatieve afbeeldingen en pictogrammen goed voorgelezen?</a:t>
            </a:r>
          </a:p>
          <a:p>
            <a:pPr lvl="1"/>
            <a:r>
              <a:rPr lang="nl-NL" sz="1200" b="0" kern="1200" dirty="0">
                <a:solidFill>
                  <a:schemeClr val="tx1"/>
                </a:solidFill>
                <a:effectLst/>
                <a:latin typeface="+mn-lt"/>
                <a:ea typeface="+mn-ea"/>
                <a:cs typeface="+mn-cs"/>
              </a:rPr>
              <a:t>Is de structuur duidelijk?</a:t>
            </a:r>
          </a:p>
          <a:p>
            <a:pPr lvl="1"/>
            <a:r>
              <a:rPr lang="nl-NL" sz="1200" b="0" kern="1200" dirty="0">
                <a:solidFill>
                  <a:schemeClr val="tx1"/>
                </a:solidFill>
                <a:effectLst/>
                <a:latin typeface="+mn-lt"/>
                <a:ea typeface="+mn-ea"/>
                <a:cs typeface="+mn-cs"/>
              </a:rPr>
              <a:t>Zijn alle knoppen en links duidelijk?</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Link voor meer tools:</a:t>
            </a:r>
          </a:p>
          <a:p>
            <a:pPr lvl="0"/>
            <a:r>
              <a:rPr lang="nl-NL" sz="1200" b="0" u="sng" kern="1200" dirty="0">
                <a:solidFill>
                  <a:schemeClr val="tx1"/>
                </a:solidFill>
                <a:effectLst/>
                <a:latin typeface="+mn-lt"/>
                <a:ea typeface="+mn-ea"/>
                <a:cs typeface="+mn-cs"/>
                <a:hlinkClick r:id="rId3"/>
              </a:rPr>
              <a:t>https://www.w3.org/WAI/ER/tools/</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Lijst met veel meer evaluatie tools</a:t>
            </a:r>
          </a:p>
          <a:p>
            <a:pPr lvl="0"/>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Tips voor beginners:</a:t>
            </a:r>
          </a:p>
          <a:p>
            <a:pPr lvl="0"/>
            <a:r>
              <a:rPr lang="nl-NL" sz="1200" b="0" kern="1200" dirty="0">
                <a:solidFill>
                  <a:schemeClr val="tx1"/>
                </a:solidFill>
                <a:effectLst/>
                <a:latin typeface="+mn-lt"/>
                <a:ea typeface="+mn-ea"/>
                <a:cs typeface="+mn-cs"/>
              </a:rPr>
              <a:t>Begin met toetsenbord - dat is het eenvoudigst</a:t>
            </a:r>
          </a:p>
          <a:p>
            <a:pPr lvl="0"/>
            <a:r>
              <a:rPr lang="nl-NL" sz="1200" b="0" kern="1200" dirty="0">
                <a:solidFill>
                  <a:schemeClr val="tx1"/>
                </a:solidFill>
                <a:effectLst/>
                <a:latin typeface="+mn-lt"/>
                <a:ea typeface="+mn-ea"/>
                <a:cs typeface="+mn-cs"/>
              </a:rPr>
              <a:t>Screenreader heeft leercurve, maar is zeer waardevol</a:t>
            </a:r>
          </a:p>
          <a:p>
            <a:pPr lvl="0"/>
            <a:r>
              <a:rPr lang="nl-NL" sz="1200" b="0" kern="1200" dirty="0">
                <a:solidFill>
                  <a:schemeClr val="tx1"/>
                </a:solidFill>
                <a:effectLst/>
                <a:latin typeface="+mn-lt"/>
                <a:ea typeface="+mn-ea"/>
                <a:cs typeface="+mn-cs"/>
              </a:rPr>
              <a:t>Kijk </a:t>
            </a:r>
            <a:r>
              <a:rPr lang="nl-NL" sz="1200" b="0" kern="1200" dirty="0" err="1">
                <a:solidFill>
                  <a:schemeClr val="tx1"/>
                </a:solidFill>
                <a:effectLst/>
                <a:latin typeface="+mn-lt"/>
                <a:ea typeface="+mn-ea"/>
                <a:cs typeface="+mn-cs"/>
              </a:rPr>
              <a:t>TouTube</a:t>
            </a:r>
            <a:r>
              <a:rPr lang="nl-NL" sz="1200" b="0" kern="1200" dirty="0">
                <a:solidFill>
                  <a:schemeClr val="tx1"/>
                </a:solidFill>
                <a:effectLst/>
                <a:latin typeface="+mn-lt"/>
                <a:ea typeface="+mn-ea"/>
                <a:cs typeface="+mn-cs"/>
              </a:rPr>
              <a:t> tutorial ’s voor schermlezersgebruik.</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33</a:t>
            </a:fld>
            <a:endParaRPr lang="nl-NL"/>
          </a:p>
        </p:txBody>
      </p:sp>
    </p:spTree>
    <p:extLst>
      <p:ext uri="{BB962C8B-B14F-4D97-AF65-F5344CB8AC3E}">
        <p14:creationId xmlns:p14="http://schemas.microsoft.com/office/powerpoint/2010/main" val="1458909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0" kern="1200" dirty="0">
                <a:solidFill>
                  <a:schemeClr val="tx1"/>
                </a:solidFill>
                <a:effectLst/>
                <a:latin typeface="+mn-lt"/>
                <a:ea typeface="+mn-ea"/>
                <a:cs typeface="+mn-cs"/>
              </a:rPr>
              <a:t>Handige browser extensies:</a:t>
            </a:r>
          </a:p>
          <a:p>
            <a:r>
              <a:rPr lang="nl-NL" sz="1200" b="0" kern="1200" dirty="0">
                <a:solidFill>
                  <a:schemeClr val="tx1"/>
                </a:solidFill>
                <a:effectLst/>
                <a:latin typeface="+mn-lt"/>
                <a:ea typeface="+mn-ea"/>
                <a:cs typeface="+mn-cs"/>
              </a:rPr>
              <a:t>1. </a:t>
            </a:r>
            <a:r>
              <a:rPr lang="nl-NL" sz="1200" b="0" kern="1200" dirty="0" err="1">
                <a:solidFill>
                  <a:schemeClr val="tx1"/>
                </a:solidFill>
                <a:effectLst/>
                <a:latin typeface="+mn-lt"/>
                <a:ea typeface="+mn-ea"/>
                <a:cs typeface="+mn-cs"/>
              </a:rPr>
              <a:t>HeadingsMap</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Toont koppenstructuur van pagina</a:t>
            </a:r>
          </a:p>
          <a:p>
            <a:pPr lvl="0"/>
            <a:r>
              <a:rPr lang="nl-NL" sz="1200" b="0" kern="1200" dirty="0">
                <a:solidFill>
                  <a:schemeClr val="tx1"/>
                </a:solidFill>
                <a:effectLst/>
                <a:latin typeface="+mn-lt"/>
                <a:ea typeface="+mn-ea"/>
                <a:cs typeface="+mn-cs"/>
              </a:rPr>
              <a:t>Snel overzicht van hiërarchie</a:t>
            </a:r>
          </a:p>
          <a:p>
            <a:pPr lvl="0"/>
            <a:r>
              <a:rPr lang="nl-NL" sz="1200" b="0" kern="1200" dirty="0">
                <a:solidFill>
                  <a:schemeClr val="tx1"/>
                </a:solidFill>
                <a:effectLst/>
                <a:latin typeface="+mn-lt"/>
                <a:ea typeface="+mn-ea"/>
                <a:cs typeface="+mn-cs"/>
              </a:rPr>
              <a:t>Spot gauw problemen (ontbrekende niveaus, verkeerde volgorde)</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2. WCAG Colour contrast checker</a:t>
            </a:r>
          </a:p>
          <a:p>
            <a:pPr lvl="0"/>
            <a:r>
              <a:rPr lang="nl-NL" sz="1200" b="0" kern="1200" dirty="0">
                <a:solidFill>
                  <a:schemeClr val="tx1"/>
                </a:solidFill>
                <a:effectLst/>
                <a:latin typeface="+mn-lt"/>
                <a:ea typeface="+mn-ea"/>
                <a:cs typeface="+mn-cs"/>
              </a:rPr>
              <a:t>Meet contrast tussen kleuren</a:t>
            </a:r>
          </a:p>
          <a:p>
            <a:pPr lvl="0"/>
            <a:r>
              <a:rPr lang="nl-NL" sz="1200" b="0" kern="1200" dirty="0">
                <a:solidFill>
                  <a:schemeClr val="tx1"/>
                </a:solidFill>
                <a:effectLst/>
                <a:latin typeface="+mn-lt"/>
                <a:ea typeface="+mn-ea"/>
                <a:cs typeface="+mn-cs"/>
              </a:rPr>
              <a:t>Geeft direct aan of het voldoet</a:t>
            </a:r>
          </a:p>
          <a:p>
            <a:pPr lvl="0"/>
            <a:r>
              <a:rPr lang="nl-NL" sz="1200" b="0" kern="1200" dirty="0">
                <a:solidFill>
                  <a:schemeClr val="tx1"/>
                </a:solidFill>
                <a:effectLst/>
                <a:latin typeface="+mn-lt"/>
                <a:ea typeface="+mn-ea"/>
                <a:cs typeface="+mn-cs"/>
              </a:rPr>
              <a:t>Pipet-tool om kleuren van pagina te pakken</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3. Web Developer </a:t>
            </a:r>
            <a:r>
              <a:rPr lang="nl-NL" sz="1200" b="0" kern="1200" dirty="0" err="1">
                <a:solidFill>
                  <a:schemeClr val="tx1"/>
                </a:solidFill>
                <a:effectLst/>
                <a:latin typeface="+mn-lt"/>
                <a:ea typeface="+mn-ea"/>
                <a:cs typeface="+mn-cs"/>
              </a:rPr>
              <a:t>toolbar</a:t>
            </a:r>
            <a:endParaRPr lang="nl-NL" sz="1200" b="0" kern="1200" dirty="0">
              <a:solidFill>
                <a:schemeClr val="tx1"/>
              </a:solidFill>
              <a:effectLst/>
              <a:latin typeface="+mn-lt"/>
              <a:ea typeface="+mn-ea"/>
              <a:cs typeface="+mn-cs"/>
            </a:endParaRPr>
          </a:p>
          <a:p>
            <a:pPr lvl="0"/>
            <a:r>
              <a:rPr lang="nl-NL" sz="1200" b="0" kern="1200" dirty="0">
                <a:solidFill>
                  <a:schemeClr val="tx1"/>
                </a:solidFill>
                <a:effectLst/>
                <a:latin typeface="+mn-lt"/>
                <a:ea typeface="+mn-ea"/>
                <a:cs typeface="+mn-cs"/>
              </a:rPr>
              <a:t>Veel functionaliteiten</a:t>
            </a:r>
          </a:p>
          <a:p>
            <a:pPr lvl="0"/>
            <a:r>
              <a:rPr lang="nl-NL" sz="1200" b="0" kern="1200" dirty="0">
                <a:solidFill>
                  <a:schemeClr val="tx1"/>
                </a:solidFill>
                <a:effectLst/>
                <a:latin typeface="+mn-lt"/>
                <a:ea typeface="+mn-ea"/>
                <a:cs typeface="+mn-cs"/>
              </a:rPr>
              <a:t>Toon alt-teksten, </a:t>
            </a:r>
            <a:r>
              <a:rPr lang="nl-NL" sz="1200" b="0" kern="1200" dirty="0" err="1">
                <a:solidFill>
                  <a:schemeClr val="tx1"/>
                </a:solidFill>
                <a:effectLst/>
                <a:latin typeface="+mn-lt"/>
                <a:ea typeface="+mn-ea"/>
                <a:cs typeface="+mn-cs"/>
              </a:rPr>
              <a:t>headings</a:t>
            </a:r>
            <a:r>
              <a:rPr lang="nl-NL" sz="1200" b="0" kern="1200" dirty="0">
                <a:solidFill>
                  <a:schemeClr val="tx1"/>
                </a:solidFill>
                <a:effectLst/>
                <a:latin typeface="+mn-lt"/>
                <a:ea typeface="+mn-ea"/>
                <a:cs typeface="+mn-cs"/>
              </a:rPr>
              <a:t>, ARIA</a:t>
            </a:r>
          </a:p>
          <a:p>
            <a:pPr lvl="0"/>
            <a:r>
              <a:rPr lang="nl-NL" sz="1200" b="0" kern="1200" dirty="0" err="1">
                <a:solidFill>
                  <a:schemeClr val="tx1"/>
                </a:solidFill>
                <a:effectLst/>
                <a:latin typeface="+mn-lt"/>
                <a:ea typeface="+mn-ea"/>
                <a:cs typeface="+mn-cs"/>
              </a:rPr>
              <a:t>Disable</a:t>
            </a:r>
            <a:r>
              <a:rPr lang="nl-NL" sz="1200" b="0" kern="1200" dirty="0">
                <a:solidFill>
                  <a:schemeClr val="tx1"/>
                </a:solidFill>
                <a:effectLst/>
                <a:latin typeface="+mn-lt"/>
                <a:ea typeface="+mn-ea"/>
                <a:cs typeface="+mn-cs"/>
              </a:rPr>
              <a:t> </a:t>
            </a:r>
            <a:r>
              <a:rPr lang="nl-NL" sz="1200" b="0" kern="1200" dirty="0" err="1">
                <a:solidFill>
                  <a:schemeClr val="tx1"/>
                </a:solidFill>
                <a:effectLst/>
                <a:latin typeface="+mn-lt"/>
                <a:ea typeface="+mn-ea"/>
                <a:cs typeface="+mn-cs"/>
              </a:rPr>
              <a:t>JavaScript</a:t>
            </a:r>
            <a:r>
              <a:rPr lang="nl-NL" sz="1200" b="0" kern="1200" dirty="0">
                <a:solidFill>
                  <a:schemeClr val="tx1"/>
                </a:solidFill>
                <a:effectLst/>
                <a:latin typeface="+mn-lt"/>
                <a:ea typeface="+mn-ea"/>
                <a:cs typeface="+mn-cs"/>
              </a:rPr>
              <a:t>, CSS</a:t>
            </a:r>
          </a:p>
          <a:p>
            <a:pPr lvl="0"/>
            <a:r>
              <a:rPr lang="nl-NL" sz="1200" b="0" kern="1200" dirty="0">
                <a:solidFill>
                  <a:schemeClr val="tx1"/>
                </a:solidFill>
                <a:effectLst/>
                <a:latin typeface="+mn-lt"/>
                <a:ea typeface="+mn-ea"/>
                <a:cs typeface="+mn-cs"/>
              </a:rPr>
              <a:t>Validatie tools</a:t>
            </a: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4. AXE </a:t>
            </a:r>
            <a:r>
              <a:rPr lang="nl-NL" sz="1200" b="0" kern="1200" dirty="0" err="1">
                <a:solidFill>
                  <a:schemeClr val="tx1"/>
                </a:solidFill>
                <a:effectLst/>
                <a:latin typeface="+mn-lt"/>
                <a:ea typeface="+mn-ea"/>
                <a:cs typeface="+mn-cs"/>
              </a:rPr>
              <a:t>developer</a:t>
            </a:r>
            <a:r>
              <a:rPr lang="nl-NL" sz="1200" b="0" kern="1200" dirty="0">
                <a:solidFill>
                  <a:schemeClr val="tx1"/>
                </a:solidFill>
                <a:effectLst/>
                <a:latin typeface="+mn-lt"/>
                <a:ea typeface="+mn-ea"/>
                <a:cs typeface="+mn-cs"/>
              </a:rPr>
              <a:t> tools </a:t>
            </a:r>
            <a:r>
              <a:rPr lang="nl-NL" sz="1200" b="0" kern="1200" dirty="0" err="1">
                <a:solidFill>
                  <a:schemeClr val="tx1"/>
                </a:solidFill>
                <a:effectLst/>
                <a:latin typeface="+mn-lt"/>
                <a:ea typeface="+mn-ea"/>
                <a:cs typeface="+mn-cs"/>
              </a:rPr>
              <a:t>plugin</a:t>
            </a:r>
            <a:br>
              <a:rPr lang="nl-NL" sz="1200" b="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Automatische toegankelijkheidsscans.</a:t>
            </a:r>
            <a:br>
              <a:rPr lang="nl-NL" dirty="0"/>
            </a:br>
            <a:r>
              <a:rPr lang="nl-NL" sz="1200" b="0" i="0" kern="1200" dirty="0">
                <a:solidFill>
                  <a:schemeClr val="tx1"/>
                </a:solidFill>
                <a:effectLst/>
                <a:latin typeface="+mn-lt"/>
                <a:ea typeface="+mn-ea"/>
                <a:cs typeface="+mn-cs"/>
              </a:rPr>
              <a:t>Vindt en </a:t>
            </a:r>
            <a:r>
              <a:rPr lang="nl-NL" sz="1200" b="0" i="0" kern="1200" dirty="0" err="1">
                <a:solidFill>
                  <a:schemeClr val="tx1"/>
                </a:solidFill>
                <a:effectLst/>
                <a:latin typeface="+mn-lt"/>
                <a:ea typeface="+mn-ea"/>
                <a:cs typeface="+mn-cs"/>
              </a:rPr>
              <a:t>fixt</a:t>
            </a:r>
            <a:r>
              <a:rPr lang="nl-NL" sz="1200" b="0" i="0" kern="1200" dirty="0">
                <a:solidFill>
                  <a:schemeClr val="tx1"/>
                </a:solidFill>
                <a:effectLst/>
                <a:latin typeface="+mn-lt"/>
                <a:ea typeface="+mn-ea"/>
                <a:cs typeface="+mn-cs"/>
              </a:rPr>
              <a:t> WCAG-problemen (A/AA/AAA).</a:t>
            </a:r>
            <a:br>
              <a:rPr lang="nl-NL" dirty="0"/>
            </a:br>
            <a:r>
              <a:rPr lang="nl-NL" sz="1200" b="0" i="0" kern="1200" dirty="0">
                <a:solidFill>
                  <a:schemeClr val="tx1"/>
                </a:solidFill>
                <a:effectLst/>
                <a:latin typeface="+mn-lt"/>
                <a:ea typeface="+mn-ea"/>
                <a:cs typeface="+mn-cs"/>
              </a:rPr>
              <a:t>Gedetailleerde rapporten en reparatiehulp.</a:t>
            </a:r>
            <a:endParaRPr lang="nl-NL" sz="1200" b="0" kern="1200" dirty="0">
              <a:solidFill>
                <a:schemeClr val="tx1"/>
              </a:solidFill>
              <a:effectLst/>
              <a:latin typeface="+mn-lt"/>
              <a:ea typeface="+mn-ea"/>
              <a:cs typeface="+mn-cs"/>
            </a:endParaRPr>
          </a:p>
          <a:p>
            <a:endParaRPr lang="nl-NL" sz="1200" b="0" kern="1200" dirty="0">
              <a:solidFill>
                <a:schemeClr val="tx1"/>
              </a:solidFill>
              <a:effectLst/>
              <a:latin typeface="+mn-lt"/>
              <a:ea typeface="+mn-ea"/>
              <a:cs typeface="+mn-cs"/>
            </a:endParaRPr>
          </a:p>
          <a:p>
            <a:r>
              <a:rPr lang="nl-NL" sz="1200" b="0" kern="1200" dirty="0">
                <a:solidFill>
                  <a:schemeClr val="tx1"/>
                </a:solidFill>
                <a:effectLst/>
                <a:latin typeface="+mn-lt"/>
                <a:ea typeface="+mn-ea"/>
                <a:cs typeface="+mn-cs"/>
              </a:rPr>
              <a:t>5. WAVE </a:t>
            </a:r>
          </a:p>
          <a:p>
            <a:r>
              <a:rPr lang="nl-NL" sz="1200" b="0" i="0" kern="1200" dirty="0">
                <a:solidFill>
                  <a:schemeClr val="tx1"/>
                </a:solidFill>
                <a:effectLst/>
                <a:latin typeface="+mn-lt"/>
                <a:ea typeface="+mn-ea"/>
                <a:cs typeface="+mn-cs"/>
              </a:rPr>
              <a:t>Visuele </a:t>
            </a:r>
            <a:r>
              <a:rPr lang="nl-NL" sz="1200" b="0" i="0" kern="1200" dirty="0" err="1">
                <a:solidFill>
                  <a:schemeClr val="tx1"/>
                </a:solidFill>
                <a:effectLst/>
                <a:latin typeface="+mn-lt"/>
                <a:ea typeface="+mn-ea"/>
                <a:cs typeface="+mn-cs"/>
              </a:rPr>
              <a:t>overlay</a:t>
            </a:r>
            <a:r>
              <a:rPr lang="nl-NL" sz="1200" b="0" i="0" kern="1200" dirty="0">
                <a:solidFill>
                  <a:schemeClr val="tx1"/>
                </a:solidFill>
                <a:effectLst/>
                <a:latin typeface="+mn-lt"/>
                <a:ea typeface="+mn-ea"/>
                <a:cs typeface="+mn-cs"/>
              </a:rPr>
              <a:t> van toegankelijkheidsfouten.</a:t>
            </a:r>
            <a:br>
              <a:rPr lang="nl-NL" dirty="0"/>
            </a:br>
            <a:r>
              <a:rPr lang="nl-NL" sz="1200" b="0" i="0" kern="1200" dirty="0">
                <a:solidFill>
                  <a:schemeClr val="tx1"/>
                </a:solidFill>
                <a:effectLst/>
                <a:latin typeface="+mn-lt"/>
                <a:ea typeface="+mn-ea"/>
                <a:cs typeface="+mn-cs"/>
              </a:rPr>
              <a:t>Toont contrast-, </a:t>
            </a:r>
            <a:r>
              <a:rPr lang="nl-NL" sz="1200" b="0" i="0" kern="1200" dirty="0" err="1">
                <a:solidFill>
                  <a:schemeClr val="tx1"/>
                </a:solidFill>
                <a:effectLst/>
                <a:latin typeface="+mn-lt"/>
                <a:ea typeface="+mn-ea"/>
                <a:cs typeface="+mn-cs"/>
              </a:rPr>
              <a:t>alttekst</a:t>
            </a:r>
            <a:r>
              <a:rPr lang="nl-NL" sz="1200" b="0" i="0" kern="1200" dirty="0">
                <a:solidFill>
                  <a:schemeClr val="tx1"/>
                </a:solidFill>
                <a:effectLst/>
                <a:latin typeface="+mn-lt"/>
                <a:ea typeface="+mn-ea"/>
                <a:cs typeface="+mn-cs"/>
              </a:rPr>
              <a:t>- en structuurissues.</a:t>
            </a:r>
            <a:br>
              <a:rPr lang="nl-NL" dirty="0"/>
            </a:br>
            <a:r>
              <a:rPr lang="nl-NL" sz="1200" b="0" i="0" kern="1200" dirty="0">
                <a:solidFill>
                  <a:schemeClr val="tx1"/>
                </a:solidFill>
                <a:effectLst/>
                <a:latin typeface="+mn-lt"/>
                <a:ea typeface="+mn-ea"/>
                <a:cs typeface="+mn-cs"/>
              </a:rPr>
              <a:t>Gedetailleerde WCAG-checks met voorbeelden.</a:t>
            </a:r>
            <a:br>
              <a:rPr lang="nl-NL" dirty="0"/>
            </a:br>
            <a:endParaRPr lang="nl-NL" sz="1200" b="0" kern="1200" dirty="0">
              <a:solidFill>
                <a:schemeClr val="tx1"/>
              </a:solidFill>
              <a:effectLst/>
              <a:latin typeface="+mn-lt"/>
              <a:ea typeface="+mn-ea"/>
              <a:cs typeface="+mn-cs"/>
            </a:endParaRPr>
          </a:p>
          <a:p>
            <a:r>
              <a:rPr lang="nl-NL" dirty="0"/>
              <a:t>Belangrijk:</a:t>
            </a:r>
            <a:br>
              <a:rPr lang="nl-NL" dirty="0"/>
            </a:br>
            <a:r>
              <a:rPr lang="nl-NL" dirty="0"/>
              <a:t>Automatische analyses zijn nuttig, maar verre van perfect. Ze kunnen slechts een klein percentage van de fouten detecteren. Gebruik ze alleen als ondersteunend hulpmiddel. </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34</a:t>
            </a:fld>
            <a:endParaRPr lang="nl-NL"/>
          </a:p>
        </p:txBody>
      </p:sp>
    </p:spTree>
    <p:extLst>
      <p:ext uri="{BB962C8B-B14F-4D97-AF65-F5344CB8AC3E}">
        <p14:creationId xmlns:p14="http://schemas.microsoft.com/office/powerpoint/2010/main" val="7165922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dirty="0"/>
              <a:t>Om digitale toegankelijkheid te testen kun je gebruik maken van diverse tools. Je kunt zowel handmatig als ook automatisch testen.</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35</a:t>
            </a:fld>
            <a:endParaRPr lang="nl-NL"/>
          </a:p>
        </p:txBody>
      </p:sp>
    </p:spTree>
    <p:extLst>
      <p:ext uri="{BB962C8B-B14F-4D97-AF65-F5344CB8AC3E}">
        <p14:creationId xmlns:p14="http://schemas.microsoft.com/office/powerpoint/2010/main" val="2876441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dirty="0">
                <a:solidFill>
                  <a:schemeClr val="tx1"/>
                </a:solidFill>
                <a:effectLst/>
                <a:latin typeface="+mn-lt"/>
                <a:ea typeface="+mn-ea"/>
                <a:cs typeface="+mn-cs"/>
              </a:rPr>
              <a:t>Doeldoel van deze slide:</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Studenten laten begrijpen wanneer en hoe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en WAI-ARIA ingezet kunnen worden voor toegankelijkheid.</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Historische context - WCAG evolutie:</a:t>
            </a:r>
          </a:p>
          <a:p>
            <a:r>
              <a:rPr lang="nl-NL" sz="1200" b="0" i="0" kern="1200" dirty="0">
                <a:solidFill>
                  <a:schemeClr val="tx1"/>
                </a:solidFill>
                <a:effectLst/>
                <a:latin typeface="+mn-lt"/>
                <a:ea typeface="+mn-ea"/>
                <a:cs typeface="+mn-cs"/>
              </a:rPr>
              <a:t>WCAG 1.0 (oud standpunt):</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"Alles moet werken zonder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Dit was in de vroege jaren 2000, toen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minder betrouwbaar was</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Sites moesten volledig functioneel zijn met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uitgeschakeld</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WCAG 2.0/2.1/2.2 (huidige standpunt):</a:t>
            </a:r>
          </a:p>
          <a:p>
            <a:pPr marL="171450" indent="-171450">
              <a:buFont typeface="Arial" panose="020B0604020202020204" pitchFamily="34" charset="0"/>
              <a:buChar char="•"/>
            </a:pP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MAG gebruikt worden en kan toegankelijkheid zelfs VERBETEREN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Voorwaarde: het moet op een toegankelijke manier geïmplementeerd worden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Focus ligt op de eindervaring, niet op de technologie</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Waarom deze verandering?</a:t>
            </a:r>
          </a:p>
          <a:p>
            <a:pPr marL="171450" indent="-171450">
              <a:buFont typeface="Arial" panose="020B0604020202020204" pitchFamily="34" charset="0"/>
              <a:buChar char="•"/>
            </a:pP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is nu standaard in alle moderne browsers</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Rijke, interactieve applicaties zijn de norm geworden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Met goede implementatie kan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de gebruikerservaring voor mensen met beperkingen juist verbeteren</a:t>
            </a: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36</a:t>
            </a:fld>
            <a:endParaRPr lang="nl-NL"/>
          </a:p>
        </p:txBody>
      </p:sp>
    </p:spTree>
    <p:extLst>
      <p:ext uri="{BB962C8B-B14F-4D97-AF65-F5344CB8AC3E}">
        <p14:creationId xmlns:p14="http://schemas.microsoft.com/office/powerpoint/2010/main" val="32070421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b="0" i="0" kern="1200" dirty="0">
                <a:solidFill>
                  <a:schemeClr val="tx1"/>
                </a:solidFill>
                <a:effectLst/>
                <a:latin typeface="+mn-lt"/>
                <a:ea typeface="+mn-ea"/>
                <a:cs typeface="+mn-cs"/>
              </a:rPr>
              <a:t>Wat doet ARIA?</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Voegt extra semantische informatie toe aan HTML-elementen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Communiceert de rol, staat en eigenschappen van componenten aan hulptechnologie</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Bijvoorbeeld: een &lt;div&gt; kan via ARIA de rol "button" krijgen</a:t>
            </a:r>
          </a:p>
          <a:p>
            <a:endParaRPr lang="nl-NL"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BELANGRIJK om te benadrukken:</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ARIA biedt ALLEEN informatie, GEEN functionaliteit!</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Als je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="button" toevoegt aan een &lt;div&gt;, wordt het niet automatisch </a:t>
            </a:r>
            <a:r>
              <a:rPr lang="nl-NL" sz="1200" b="0" i="0" kern="1200" dirty="0" err="1">
                <a:solidFill>
                  <a:schemeClr val="tx1"/>
                </a:solidFill>
                <a:effectLst/>
                <a:latin typeface="+mn-lt"/>
                <a:ea typeface="+mn-ea"/>
                <a:cs typeface="+mn-cs"/>
              </a:rPr>
              <a:t>klikbaar</a:t>
            </a:r>
            <a:endParaRPr lang="nl-NL"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Je moet zelf de toetsenbordinteractie (Enter/Space) en muisklik programmeren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De Eerste Regel van ARIA (CRUCIAAL!):</a:t>
            </a:r>
            <a:br>
              <a:rPr lang="nl-NL" sz="1200" b="0" i="0" kern="1200" dirty="0">
                <a:solidFill>
                  <a:schemeClr val="tx1"/>
                </a:solidFill>
                <a:effectLst/>
                <a:latin typeface="+mn-lt"/>
                <a:ea typeface="+mn-ea"/>
                <a:cs typeface="+mn-cs"/>
              </a:rPr>
            </a:br>
            <a:r>
              <a:rPr lang="nl-NL" sz="1200" b="1" i="0" kern="1200" dirty="0">
                <a:solidFill>
                  <a:schemeClr val="tx1"/>
                </a:solidFill>
                <a:effectLst/>
                <a:latin typeface="+mn-lt"/>
                <a:ea typeface="+mn-ea"/>
                <a:cs typeface="+mn-cs"/>
              </a:rPr>
              <a:t>"Gebruik native HTML elementen waar mogelijk!"</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Waarom?</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Native HTML heeft semantiek en gedrag al ingebouwd</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Een &lt;button&gt; is standaard toetsenbordtoegankelijk, </a:t>
            </a:r>
            <a:r>
              <a:rPr lang="nl-NL" sz="1200" b="0" i="0" kern="1200" dirty="0" err="1">
                <a:solidFill>
                  <a:schemeClr val="tx1"/>
                </a:solidFill>
                <a:effectLst/>
                <a:latin typeface="+mn-lt"/>
                <a:ea typeface="+mn-ea"/>
                <a:cs typeface="+mn-cs"/>
              </a:rPr>
              <a:t>focusbaar</a:t>
            </a:r>
            <a:r>
              <a:rPr lang="nl-NL" sz="1200" b="0" i="0" kern="1200" dirty="0">
                <a:solidFill>
                  <a:schemeClr val="tx1"/>
                </a:solidFill>
                <a:effectLst/>
                <a:latin typeface="+mn-lt"/>
                <a:ea typeface="+mn-ea"/>
                <a:cs typeface="+mn-cs"/>
              </a:rPr>
              <a:t> en communiceert zijn rol</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Een &lt;div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="button"&gt; vereist extra code voor al deze functionaliteiten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Voorbeelden:</a:t>
            </a:r>
          </a:p>
          <a:p>
            <a:r>
              <a:rPr lang="nl-NL" sz="1200" b="0" i="0" kern="1200" dirty="0">
                <a:solidFill>
                  <a:schemeClr val="tx1"/>
                </a:solidFill>
                <a:effectLst/>
                <a:latin typeface="+mn-lt"/>
                <a:ea typeface="+mn-ea"/>
                <a:cs typeface="+mn-cs"/>
              </a:rPr>
              <a:t>Goed: &lt;button&gt;Klik hier&lt;/button&gt;</a:t>
            </a:r>
          </a:p>
          <a:p>
            <a:r>
              <a:rPr lang="nl-NL" sz="1200" b="0" i="0" kern="1200" dirty="0">
                <a:solidFill>
                  <a:schemeClr val="tx1"/>
                </a:solidFill>
                <a:effectLst/>
                <a:latin typeface="+mn-lt"/>
                <a:ea typeface="+mn-ea"/>
                <a:cs typeface="+mn-cs"/>
              </a:rPr>
              <a:t>Slecht: &lt;div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="button" </a:t>
            </a:r>
            <a:r>
              <a:rPr lang="nl-NL" sz="1200" b="0" i="0" kern="1200" dirty="0" err="1">
                <a:solidFill>
                  <a:schemeClr val="tx1"/>
                </a:solidFill>
                <a:effectLst/>
                <a:latin typeface="+mn-lt"/>
                <a:ea typeface="+mn-ea"/>
                <a:cs typeface="+mn-cs"/>
              </a:rPr>
              <a:t>tabindex</a:t>
            </a:r>
            <a:r>
              <a:rPr lang="nl-NL" sz="1200" b="0" i="0" kern="1200" dirty="0">
                <a:solidFill>
                  <a:schemeClr val="tx1"/>
                </a:solidFill>
                <a:effectLst/>
                <a:latin typeface="+mn-lt"/>
                <a:ea typeface="+mn-ea"/>
                <a:cs typeface="+mn-cs"/>
              </a:rPr>
              <a:t>="0" </a:t>
            </a:r>
            <a:r>
              <a:rPr lang="nl-NL" sz="1200" b="0" i="0" kern="1200" dirty="0" err="1">
                <a:solidFill>
                  <a:schemeClr val="tx1"/>
                </a:solidFill>
                <a:effectLst/>
                <a:latin typeface="+mn-lt"/>
                <a:ea typeface="+mn-ea"/>
                <a:cs typeface="+mn-cs"/>
              </a:rPr>
              <a:t>onclick</a:t>
            </a:r>
            <a:r>
              <a:rPr lang="nl-NL" sz="1200" b="0" i="0" kern="1200" dirty="0">
                <a:solidFill>
                  <a:schemeClr val="tx1"/>
                </a:solidFill>
                <a:effectLst/>
                <a:latin typeface="+mn-lt"/>
                <a:ea typeface="+mn-ea"/>
                <a:cs typeface="+mn-cs"/>
              </a:rPr>
              <a:t>="..."&gt;Klik hier&lt;/div&gt;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Wanneer WEL ARIA gebruiken:</a:t>
            </a:r>
          </a:p>
          <a:p>
            <a:pPr marL="171450" indent="-171450">
              <a:buFont typeface="Arial" panose="020B0604020202020204" pitchFamily="34" charset="0"/>
              <a:buChar char="•"/>
            </a:pPr>
            <a:r>
              <a:rPr lang="nl-NL" sz="1200" b="0" i="0" kern="1200" dirty="0" err="1">
                <a:solidFill>
                  <a:schemeClr val="tx1"/>
                </a:solidFill>
                <a:effectLst/>
                <a:latin typeface="+mn-lt"/>
                <a:ea typeface="+mn-ea"/>
                <a:cs typeface="+mn-cs"/>
              </a:rPr>
              <a:t>Custom</a:t>
            </a:r>
            <a:r>
              <a:rPr lang="nl-NL" sz="1200" b="0" i="0" kern="1200" dirty="0">
                <a:solidFill>
                  <a:schemeClr val="tx1"/>
                </a:solidFill>
                <a:effectLst/>
                <a:latin typeface="+mn-lt"/>
                <a:ea typeface="+mn-ea"/>
                <a:cs typeface="+mn-cs"/>
              </a:rPr>
              <a:t> componenten die niet met native HTML mogelijk zijn (tabs, tree views)</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Het verrijken van bestaande elementen met extra context (aria-label, aria-</a:t>
            </a:r>
            <a:r>
              <a:rPr lang="nl-NL" sz="1200" b="0" i="0" kern="1200" dirty="0" err="1">
                <a:solidFill>
                  <a:schemeClr val="tx1"/>
                </a:solidFill>
                <a:effectLst/>
                <a:latin typeface="+mn-lt"/>
                <a:ea typeface="+mn-ea"/>
                <a:cs typeface="+mn-cs"/>
              </a:rPr>
              <a:t>describedby</a:t>
            </a:r>
            <a:r>
              <a:rPr lang="nl-NL"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Live </a:t>
            </a:r>
            <a:r>
              <a:rPr lang="nl-NL" sz="1200" b="0" i="0" kern="1200" dirty="0" err="1">
                <a:solidFill>
                  <a:schemeClr val="tx1"/>
                </a:solidFill>
                <a:effectLst/>
                <a:latin typeface="+mn-lt"/>
                <a:ea typeface="+mn-ea"/>
                <a:cs typeface="+mn-cs"/>
              </a:rPr>
              <a:t>regions</a:t>
            </a:r>
            <a:r>
              <a:rPr lang="nl-NL" sz="1200" b="0" i="0" kern="1200" dirty="0">
                <a:solidFill>
                  <a:schemeClr val="tx1"/>
                </a:solidFill>
                <a:effectLst/>
                <a:latin typeface="+mn-lt"/>
                <a:ea typeface="+mn-ea"/>
                <a:cs typeface="+mn-cs"/>
              </a:rPr>
              <a:t> voor dynamische content updates (aria-live)</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Verkeerd ARIA-gebruik kan ERGER zijn dan geen ARIA! Het kan gebruikers verwarren en navigatie onmogelijk maken.</a:t>
            </a:r>
          </a:p>
          <a:p>
            <a:endParaRPr lang="nl-NL" sz="1200" b="1"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Transitie naar afsluiting:</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"ARIA is een krachtig maar complex onderwerp. Voor de meeste situaties volstaat native HTML. Onthoud: eerst proberen met standaard HTML, alleen ARIA gebruiken wanneer echt noodzakelijk."</a:t>
            </a:r>
          </a:p>
          <a:p>
            <a:endParaRPr lang="nl-NL" sz="1200" b="0" i="0" kern="1200" dirty="0">
              <a:solidFill>
                <a:schemeClr val="tx1"/>
              </a:solidFill>
              <a:effectLst/>
              <a:latin typeface="+mn-lt"/>
              <a:ea typeface="+mn-ea"/>
              <a:cs typeface="+mn-cs"/>
            </a:endParaRP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37</a:t>
            </a:fld>
            <a:endParaRPr lang="nl-NL"/>
          </a:p>
        </p:txBody>
      </p:sp>
    </p:spTree>
    <p:extLst>
      <p:ext uri="{BB962C8B-B14F-4D97-AF65-F5344CB8AC3E}">
        <p14:creationId xmlns:p14="http://schemas.microsoft.com/office/powerpoint/2010/main" val="211479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Deze sheet is letterlijk vertaald. In eenvoudigere taal:</a:t>
            </a:r>
          </a:p>
          <a:p>
            <a:r>
              <a:rPr lang="nl-NL" dirty="0"/>
              <a:t>Gebruik bij voorkeur een standaard HTML-element of HTML-attribuut als dat al de juiste betekenis en werking heeft. Gebruik ARIA alleen als er geen geschikte HTML-oplossing is.</a:t>
            </a:r>
            <a:endParaRPr lang="nl-NL" dirty="0">
              <a:ea typeface="+mn-ea"/>
              <a:cs typeface="+mn-cs"/>
            </a:endParaRPr>
          </a:p>
          <a:p>
            <a:endParaRPr lang="nl-NL" sz="1200" b="0" i="0" kern="1200" dirty="0">
              <a:solidFill>
                <a:schemeClr val="tx1"/>
              </a:solidFill>
              <a:effectLst/>
              <a:latin typeface="+mn-lt"/>
              <a:ea typeface="+mn-ea"/>
              <a:cs typeface="+mn-cs"/>
            </a:endParaRP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Doel van deze slide:</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De belangrijkste les over ARIA extra benadrukken door herhaling en concrete voorbeelden.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Kernboodschap: </a:t>
            </a:r>
            <a:br>
              <a:rPr lang="nl-NL" sz="1200" b="0" i="0" kern="1200" dirty="0">
                <a:effectLst/>
                <a:cs typeface="+mn-lt"/>
              </a:rPr>
            </a:br>
            <a:r>
              <a:rPr lang="nl-NL" sz="1200" b="0" i="0" kern="1200" dirty="0">
                <a:solidFill>
                  <a:schemeClr val="tx1"/>
                </a:solidFill>
                <a:effectLst/>
                <a:latin typeface="+mn-lt"/>
                <a:ea typeface="+mn-ea"/>
                <a:cs typeface="+mn-cs"/>
              </a:rPr>
              <a:t>"Native HTML first, ARIA </a:t>
            </a:r>
            <a:r>
              <a:rPr lang="nl-NL" sz="1200" b="0" i="0" kern="1200" dirty="0" err="1">
                <a:solidFill>
                  <a:schemeClr val="tx1"/>
                </a:solidFill>
                <a:effectLst/>
                <a:latin typeface="+mn-lt"/>
                <a:ea typeface="+mn-ea"/>
                <a:cs typeface="+mn-cs"/>
              </a:rPr>
              <a:t>only</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when</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necessary</a:t>
            </a:r>
            <a:r>
              <a:rPr lang="nl-NL" sz="1200" b="0" i="0" kern="1200" dirty="0">
                <a:solidFill>
                  <a:schemeClr val="tx1"/>
                </a:solidFill>
                <a:effectLst/>
                <a:latin typeface="+mn-lt"/>
                <a:ea typeface="+mn-ea"/>
                <a:cs typeface="+mn-cs"/>
              </a:rPr>
              <a:t>"</a:t>
            </a:r>
          </a:p>
          <a:p>
            <a:pPr marL="0" indent="0">
              <a:buFont typeface="Arial" panose="020B0604020202020204" pitchFamily="34" charset="0"/>
              <a:buNone/>
            </a:pPr>
            <a:endParaRPr lang="nl-NL" sz="1200" b="0" i="0" kern="1200" dirty="0">
              <a:solidFill>
                <a:schemeClr val="tx1"/>
              </a:solidFill>
              <a:effectLst/>
              <a:latin typeface="+mn-lt"/>
              <a:ea typeface="+mn-ea"/>
              <a:cs typeface="+mn-cs"/>
            </a:endParaRPr>
          </a:p>
          <a:p>
            <a:pPr marL="0" indent="0">
              <a:buFont typeface="Arial" panose="020B0604020202020204" pitchFamily="34" charset="0"/>
              <a:buNone/>
            </a:pPr>
            <a:r>
              <a:rPr lang="nl-NL" sz="1200" b="0" i="0" kern="1200" dirty="0">
                <a:solidFill>
                  <a:schemeClr val="tx1"/>
                </a:solidFill>
                <a:effectLst/>
                <a:latin typeface="+mn-lt"/>
                <a:ea typeface="+mn-ea"/>
                <a:cs typeface="+mn-cs"/>
              </a:rPr>
              <a:t>Waarom is deze regel zo belangrijk?</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Native HTML is getest en bewezen over vele jaren</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Het werkt out-of-</a:t>
            </a:r>
            <a:r>
              <a:rPr lang="nl-NL" sz="1200" b="0" i="0" kern="1200" dirty="0" err="1">
                <a:solidFill>
                  <a:schemeClr val="tx1"/>
                </a:solidFill>
                <a:effectLst/>
                <a:latin typeface="+mn-lt"/>
                <a:ea typeface="+mn-ea"/>
                <a:cs typeface="+mn-cs"/>
              </a:rPr>
              <a:t>the</a:t>
            </a:r>
            <a:r>
              <a:rPr lang="nl-NL" sz="1200" b="0" i="0" kern="1200" dirty="0">
                <a:solidFill>
                  <a:schemeClr val="tx1"/>
                </a:solidFill>
                <a:effectLst/>
                <a:latin typeface="+mn-lt"/>
                <a:ea typeface="+mn-ea"/>
                <a:cs typeface="+mn-cs"/>
              </a:rPr>
              <a:t>-box met alle hulptechnologie</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Het is onderhoudsvriendelijker en minder foutgevoelig</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Ontwikkelaars maken vaak fouten met ARIA die toegankelijkheid juist schaden</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Concrete voorbeelden ter illustratie:</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Voorbeeld 1: Knoppen</a:t>
            </a:r>
          </a:p>
          <a:p>
            <a:r>
              <a:rPr lang="nl-NL" sz="1200" b="0" i="0" kern="1200" dirty="0">
                <a:solidFill>
                  <a:schemeClr val="tx1"/>
                </a:solidFill>
                <a:effectLst/>
                <a:latin typeface="+mn-lt"/>
                <a:ea typeface="+mn-ea"/>
                <a:cs typeface="+mn-cs"/>
              </a:rPr>
              <a:t>Slecht: &lt;div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="button" </a:t>
            </a:r>
            <a:r>
              <a:rPr lang="nl-NL" sz="1200" b="0" i="0" kern="1200" dirty="0" err="1">
                <a:solidFill>
                  <a:schemeClr val="tx1"/>
                </a:solidFill>
                <a:effectLst/>
                <a:latin typeface="+mn-lt"/>
                <a:ea typeface="+mn-ea"/>
                <a:cs typeface="+mn-cs"/>
              </a:rPr>
              <a:t>tabindex</a:t>
            </a:r>
            <a:r>
              <a:rPr lang="nl-NL" sz="1200" b="0" i="0" kern="1200" dirty="0">
                <a:solidFill>
                  <a:schemeClr val="tx1"/>
                </a:solidFill>
                <a:effectLst/>
                <a:latin typeface="+mn-lt"/>
                <a:ea typeface="+mn-ea"/>
                <a:cs typeface="+mn-cs"/>
              </a:rPr>
              <a:t>="0" </a:t>
            </a:r>
            <a:r>
              <a:rPr lang="nl-NL" sz="1200" b="0" i="0" kern="1200" dirty="0" err="1">
                <a:solidFill>
                  <a:schemeClr val="tx1"/>
                </a:solidFill>
                <a:effectLst/>
                <a:latin typeface="+mn-lt"/>
                <a:ea typeface="+mn-ea"/>
                <a:cs typeface="+mn-cs"/>
              </a:rPr>
              <a:t>onclick</a:t>
            </a:r>
            <a:r>
              <a:rPr lang="nl-NL" sz="1200" b="0" i="0" kern="1200" dirty="0">
                <a:solidFill>
                  <a:schemeClr val="tx1"/>
                </a:solidFill>
                <a:effectLst/>
                <a:latin typeface="+mn-lt"/>
                <a:ea typeface="+mn-ea"/>
                <a:cs typeface="+mn-cs"/>
              </a:rPr>
              <a:t>="</a:t>
            </a:r>
            <a:r>
              <a:rPr lang="nl-NL" sz="1200" b="0" i="0" kern="1200" dirty="0" err="1">
                <a:solidFill>
                  <a:schemeClr val="tx1"/>
                </a:solidFill>
                <a:effectLst/>
                <a:latin typeface="+mn-lt"/>
                <a:ea typeface="+mn-ea"/>
                <a:cs typeface="+mn-cs"/>
              </a:rPr>
              <a:t>submit</a:t>
            </a:r>
            <a:r>
              <a:rPr lang="nl-NL" sz="1200" b="0" i="0" kern="1200" dirty="0">
                <a:solidFill>
                  <a:schemeClr val="tx1"/>
                </a:solidFill>
                <a:effectLst/>
                <a:latin typeface="+mn-lt"/>
                <a:ea typeface="+mn-ea"/>
                <a:cs typeface="+mn-cs"/>
              </a:rPr>
              <a:t>()"&gt;Verzenden&lt;/div&gt;</a:t>
            </a:r>
          </a:p>
          <a:p>
            <a:r>
              <a:rPr lang="nl-NL" sz="1200" b="0" i="0" kern="1200" dirty="0">
                <a:solidFill>
                  <a:schemeClr val="tx1"/>
                </a:solidFill>
                <a:effectLst/>
                <a:latin typeface="+mn-lt"/>
                <a:ea typeface="+mn-ea"/>
                <a:cs typeface="+mn-cs"/>
              </a:rPr>
              <a:t>Goed: &lt;button </a:t>
            </a:r>
            <a:r>
              <a:rPr lang="nl-NL" sz="1200" b="0" i="0" kern="1200" dirty="0" err="1">
                <a:solidFill>
                  <a:schemeClr val="tx1"/>
                </a:solidFill>
                <a:effectLst/>
                <a:latin typeface="+mn-lt"/>
                <a:ea typeface="+mn-ea"/>
                <a:cs typeface="+mn-cs"/>
              </a:rPr>
              <a:t>onclick</a:t>
            </a:r>
            <a:r>
              <a:rPr lang="nl-NL" sz="1200" b="0" i="0" kern="1200" dirty="0">
                <a:solidFill>
                  <a:schemeClr val="tx1"/>
                </a:solidFill>
                <a:effectLst/>
                <a:latin typeface="+mn-lt"/>
                <a:ea typeface="+mn-ea"/>
                <a:cs typeface="+mn-cs"/>
              </a:rPr>
              <a:t>="</a:t>
            </a:r>
            <a:r>
              <a:rPr lang="nl-NL" sz="1200" b="0" i="0" kern="1200" dirty="0" err="1">
                <a:solidFill>
                  <a:schemeClr val="tx1"/>
                </a:solidFill>
                <a:effectLst/>
                <a:latin typeface="+mn-lt"/>
                <a:ea typeface="+mn-ea"/>
                <a:cs typeface="+mn-cs"/>
              </a:rPr>
              <a:t>submit</a:t>
            </a:r>
            <a:r>
              <a:rPr lang="nl-NL" sz="1200" b="0" i="0" kern="1200" dirty="0">
                <a:solidFill>
                  <a:schemeClr val="tx1"/>
                </a:solidFill>
                <a:effectLst/>
                <a:latin typeface="+mn-lt"/>
                <a:ea typeface="+mn-ea"/>
                <a:cs typeface="+mn-cs"/>
              </a:rPr>
              <a:t>()"&gt;Verzenden&lt;/button&gt;</a:t>
            </a:r>
          </a:p>
          <a:p>
            <a:r>
              <a:rPr lang="nl-NL" sz="1200" b="0" i="0" kern="1200" dirty="0">
                <a:solidFill>
                  <a:schemeClr val="tx1"/>
                </a:solidFill>
                <a:effectLst/>
                <a:latin typeface="+mn-lt"/>
                <a:ea typeface="+mn-ea"/>
                <a:cs typeface="+mn-cs"/>
              </a:rPr>
              <a:t>Waarom goed beter is: native button is toetsenbordtoegankelijk, heeft focus styling, werkt met Enter én Space, communiceert automatisch zijn rol.</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Voorbeeld 2: Formuliervelden</a:t>
            </a:r>
          </a:p>
          <a:p>
            <a:r>
              <a:rPr lang="nl-NL" sz="1200" b="0" i="0" kern="1200" dirty="0">
                <a:solidFill>
                  <a:schemeClr val="tx1"/>
                </a:solidFill>
                <a:effectLst/>
                <a:latin typeface="+mn-lt"/>
                <a:ea typeface="+mn-ea"/>
                <a:cs typeface="+mn-cs"/>
              </a:rPr>
              <a:t>Slecht: &lt;span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a:t>
            </a:r>
            <a:r>
              <a:rPr lang="nl-NL" sz="1200" b="0" i="0" kern="1200" dirty="0" err="1">
                <a:solidFill>
                  <a:schemeClr val="tx1"/>
                </a:solidFill>
                <a:effectLst/>
                <a:latin typeface="+mn-lt"/>
                <a:ea typeface="+mn-ea"/>
                <a:cs typeface="+mn-cs"/>
              </a:rPr>
              <a:t>textbox</a:t>
            </a:r>
            <a:r>
              <a:rPr lang="nl-NL" sz="1200" b="0" i="0" kern="1200" dirty="0">
                <a:solidFill>
                  <a:schemeClr val="tx1"/>
                </a:solidFill>
                <a:effectLst/>
                <a:latin typeface="+mn-lt"/>
                <a:ea typeface="+mn-ea"/>
                <a:cs typeface="+mn-cs"/>
              </a:rPr>
              <a:t>" aria-label="Naam"&gt;</a:t>
            </a:r>
          </a:p>
          <a:p>
            <a:r>
              <a:rPr lang="nl-NL" sz="1200" b="0" i="0" kern="1200" dirty="0">
                <a:solidFill>
                  <a:schemeClr val="tx1"/>
                </a:solidFill>
                <a:effectLst/>
                <a:latin typeface="+mn-lt"/>
                <a:ea typeface="+mn-ea"/>
                <a:cs typeface="+mn-cs"/>
              </a:rPr>
              <a:t>Goed: &lt;label </a:t>
            </a:r>
            <a:r>
              <a:rPr lang="nl-NL" sz="1200" b="0" i="0" kern="1200" dirty="0" err="1">
                <a:solidFill>
                  <a:schemeClr val="tx1"/>
                </a:solidFill>
                <a:effectLst/>
                <a:latin typeface="+mn-lt"/>
                <a:ea typeface="+mn-ea"/>
                <a:cs typeface="+mn-cs"/>
              </a:rPr>
              <a:t>for</a:t>
            </a:r>
            <a:r>
              <a:rPr lang="nl-NL" sz="1200" b="0" i="0" kern="1200" dirty="0">
                <a:solidFill>
                  <a:schemeClr val="tx1"/>
                </a:solidFill>
                <a:effectLst/>
                <a:latin typeface="+mn-lt"/>
                <a:ea typeface="+mn-ea"/>
                <a:cs typeface="+mn-cs"/>
              </a:rPr>
              <a:t>="naam"&gt;Naam&lt;/label&gt;&lt;input type="</a:t>
            </a:r>
            <a:r>
              <a:rPr lang="nl-NL" sz="1200" b="0" i="0" kern="1200" dirty="0" err="1">
                <a:solidFill>
                  <a:schemeClr val="tx1"/>
                </a:solidFill>
                <a:effectLst/>
                <a:latin typeface="+mn-lt"/>
                <a:ea typeface="+mn-ea"/>
                <a:cs typeface="+mn-cs"/>
              </a:rPr>
              <a:t>text</a:t>
            </a:r>
            <a:r>
              <a:rPr lang="nl-NL" sz="1200" b="0" i="0" kern="1200" dirty="0">
                <a:solidFill>
                  <a:schemeClr val="tx1"/>
                </a:solidFill>
                <a:effectLst/>
                <a:latin typeface="+mn-lt"/>
                <a:ea typeface="+mn-ea"/>
                <a:cs typeface="+mn-cs"/>
              </a:rPr>
              <a:t>" id="naam"&gt;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Voorbeeld 3: Navigatie</a:t>
            </a:r>
          </a:p>
          <a:p>
            <a:r>
              <a:rPr lang="nl-NL" sz="1200" b="0" i="0" kern="1200" dirty="0">
                <a:solidFill>
                  <a:schemeClr val="tx1"/>
                </a:solidFill>
                <a:effectLst/>
                <a:latin typeface="+mn-lt"/>
                <a:ea typeface="+mn-ea"/>
                <a:cs typeface="+mn-cs"/>
              </a:rPr>
              <a:t>Slecht: &lt;div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a:t>
            </a:r>
            <a:r>
              <a:rPr lang="nl-NL" sz="1200" b="0" i="0" kern="1200" dirty="0" err="1">
                <a:solidFill>
                  <a:schemeClr val="tx1"/>
                </a:solidFill>
                <a:effectLst/>
                <a:latin typeface="+mn-lt"/>
                <a:ea typeface="+mn-ea"/>
                <a:cs typeface="+mn-cs"/>
              </a:rPr>
              <a:t>navigation</a:t>
            </a:r>
            <a:r>
              <a:rPr lang="nl-NL" sz="1200" b="0" i="0" kern="1200" dirty="0">
                <a:solidFill>
                  <a:schemeClr val="tx1"/>
                </a:solidFill>
                <a:effectLst/>
                <a:latin typeface="+mn-lt"/>
                <a:ea typeface="+mn-ea"/>
                <a:cs typeface="+mn-cs"/>
              </a:rPr>
              <a:t>"&gt;&lt;div </a:t>
            </a:r>
            <a:r>
              <a:rPr lang="nl-NL" sz="1200" b="0" i="0" kern="1200" dirty="0" err="1">
                <a:solidFill>
                  <a:schemeClr val="tx1"/>
                </a:solidFill>
                <a:effectLst/>
                <a:latin typeface="+mn-lt"/>
                <a:ea typeface="+mn-ea"/>
                <a:cs typeface="+mn-cs"/>
              </a:rPr>
              <a:t>role</a:t>
            </a:r>
            <a:r>
              <a:rPr lang="nl-NL" sz="1200" b="0" i="0" kern="1200" dirty="0">
                <a:solidFill>
                  <a:schemeClr val="tx1"/>
                </a:solidFill>
                <a:effectLst/>
                <a:latin typeface="+mn-lt"/>
                <a:ea typeface="+mn-ea"/>
                <a:cs typeface="+mn-cs"/>
              </a:rPr>
              <a:t>="list"&gt;</a:t>
            </a:r>
          </a:p>
          <a:p>
            <a:r>
              <a:rPr lang="nl-NL" sz="1200" b="0" i="0" kern="1200" dirty="0">
                <a:solidFill>
                  <a:schemeClr val="tx1"/>
                </a:solidFill>
                <a:effectLst/>
                <a:latin typeface="+mn-lt"/>
                <a:ea typeface="+mn-ea"/>
                <a:cs typeface="+mn-cs"/>
              </a:rPr>
              <a:t>Goed: &lt;</a:t>
            </a:r>
            <a:r>
              <a:rPr lang="nl-NL" sz="1200" b="0" i="0" kern="1200" dirty="0" err="1">
                <a:solidFill>
                  <a:schemeClr val="tx1"/>
                </a:solidFill>
                <a:effectLst/>
                <a:latin typeface="+mn-lt"/>
                <a:ea typeface="+mn-ea"/>
                <a:cs typeface="+mn-cs"/>
              </a:rPr>
              <a:t>nav</a:t>
            </a:r>
            <a:r>
              <a:rPr lang="nl-NL" sz="1200" b="0" i="0" kern="1200" dirty="0">
                <a:solidFill>
                  <a:schemeClr val="tx1"/>
                </a:solidFill>
                <a:effectLst/>
                <a:latin typeface="+mn-lt"/>
                <a:ea typeface="+mn-ea"/>
                <a:cs typeface="+mn-cs"/>
              </a:rPr>
              <a:t>&gt;&lt;</a:t>
            </a:r>
            <a:r>
              <a:rPr lang="nl-NL" sz="1200" b="0" i="0" kern="1200" dirty="0" err="1">
                <a:solidFill>
                  <a:schemeClr val="tx1"/>
                </a:solidFill>
                <a:effectLst/>
                <a:latin typeface="+mn-lt"/>
                <a:ea typeface="+mn-ea"/>
                <a:cs typeface="+mn-cs"/>
              </a:rPr>
              <a:t>ul</a:t>
            </a:r>
            <a:r>
              <a:rPr lang="nl-NL" sz="1200" b="0" i="0" kern="1200" dirty="0">
                <a:solidFill>
                  <a:schemeClr val="tx1"/>
                </a:solidFill>
                <a:effectLst/>
                <a:latin typeface="+mn-lt"/>
                <a:ea typeface="+mn-ea"/>
                <a:cs typeface="+mn-cs"/>
              </a:rPr>
              <a:t>&gt;&lt;li&gt;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Wanneer MAG je ARIA gebruiken?</a:t>
            </a:r>
          </a:p>
          <a:p>
            <a:pPr marL="171450" indent="-171450">
              <a:buFont typeface="Arial" panose="020B0604020202020204" pitchFamily="34" charset="0"/>
              <a:buChar char="•"/>
            </a:pPr>
            <a:r>
              <a:rPr lang="nl-NL" sz="1200" b="0" i="0" kern="1200" dirty="0" err="1">
                <a:solidFill>
                  <a:schemeClr val="tx1"/>
                </a:solidFill>
                <a:effectLst/>
                <a:latin typeface="+mn-lt"/>
                <a:ea typeface="+mn-ea"/>
                <a:cs typeface="+mn-cs"/>
              </a:rPr>
              <a:t>Custom</a:t>
            </a:r>
            <a:r>
              <a:rPr lang="nl-NL" sz="1200" b="0" i="0" kern="1200" dirty="0">
                <a:solidFill>
                  <a:schemeClr val="tx1"/>
                </a:solidFill>
                <a:effectLst/>
                <a:latin typeface="+mn-lt"/>
                <a:ea typeface="+mn-ea"/>
                <a:cs typeface="+mn-cs"/>
              </a:rPr>
              <a:t> widgets die niet met native HTML mogelijk zijn (</a:t>
            </a:r>
            <a:r>
              <a:rPr lang="nl-NL" sz="1200" b="0" i="0" kern="1200" dirty="0" err="1">
                <a:solidFill>
                  <a:schemeClr val="tx1"/>
                </a:solidFill>
                <a:effectLst/>
                <a:latin typeface="+mn-lt"/>
                <a:ea typeface="+mn-ea"/>
                <a:cs typeface="+mn-cs"/>
              </a:rPr>
              <a:t>datepickers</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rich</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text</a:t>
            </a:r>
            <a:r>
              <a:rPr lang="nl-NL" sz="1200" b="0" i="0" kern="1200" dirty="0">
                <a:solidFill>
                  <a:schemeClr val="tx1"/>
                </a:solidFill>
                <a:effectLst/>
                <a:latin typeface="+mn-lt"/>
                <a:ea typeface="+mn-ea"/>
                <a:cs typeface="+mn-cs"/>
              </a:rPr>
              <a:t> editors)</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Extra context toevoegen: aria-label voor icon-</a:t>
            </a:r>
            <a:r>
              <a:rPr lang="nl-NL" sz="1200" b="0" i="0" kern="1200" dirty="0" err="1">
                <a:solidFill>
                  <a:schemeClr val="tx1"/>
                </a:solidFill>
                <a:effectLst/>
                <a:latin typeface="+mn-lt"/>
                <a:ea typeface="+mn-ea"/>
                <a:cs typeface="+mn-cs"/>
              </a:rPr>
              <a:t>only</a:t>
            </a:r>
            <a:r>
              <a:rPr lang="nl-NL" sz="1200" b="0" i="0" kern="1200" dirty="0">
                <a:solidFill>
                  <a:schemeClr val="tx1"/>
                </a:solidFill>
                <a:effectLst/>
                <a:latin typeface="+mn-lt"/>
                <a:ea typeface="+mn-ea"/>
                <a:cs typeface="+mn-cs"/>
              </a:rPr>
              <a:t> buttons</a:t>
            </a: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Relaties aangeven: aria-</a:t>
            </a:r>
            <a:r>
              <a:rPr lang="nl-NL" sz="1200" b="0" i="0" kern="1200" dirty="0" err="1">
                <a:solidFill>
                  <a:schemeClr val="tx1"/>
                </a:solidFill>
                <a:effectLst/>
                <a:latin typeface="+mn-lt"/>
                <a:ea typeface="+mn-ea"/>
                <a:cs typeface="+mn-cs"/>
              </a:rPr>
              <a:t>describedby</a:t>
            </a:r>
            <a:r>
              <a:rPr lang="nl-NL" sz="1200" b="0" i="0" kern="1200" dirty="0">
                <a:solidFill>
                  <a:schemeClr val="tx1"/>
                </a:solidFill>
                <a:effectLst/>
                <a:latin typeface="+mn-lt"/>
                <a:ea typeface="+mn-ea"/>
                <a:cs typeface="+mn-cs"/>
              </a:rPr>
              <a:t>, aria-</a:t>
            </a:r>
            <a:r>
              <a:rPr lang="nl-NL" sz="1200" b="0" i="0" kern="1200" dirty="0" err="1">
                <a:solidFill>
                  <a:schemeClr val="tx1"/>
                </a:solidFill>
                <a:effectLst/>
                <a:latin typeface="+mn-lt"/>
                <a:ea typeface="+mn-ea"/>
                <a:cs typeface="+mn-cs"/>
              </a:rPr>
              <a:t>labelledby</a:t>
            </a:r>
            <a:endParaRPr lang="nl-NL"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nl-NL" sz="1200" b="0" i="0" kern="1200" dirty="0">
                <a:solidFill>
                  <a:schemeClr val="tx1"/>
                </a:solidFill>
                <a:effectLst/>
                <a:latin typeface="+mn-lt"/>
                <a:ea typeface="+mn-ea"/>
                <a:cs typeface="+mn-cs"/>
              </a:rPr>
              <a:t>Live updates communiceren: aria-live</a:t>
            </a:r>
          </a:p>
          <a:p>
            <a:pPr marL="171450" indent="-171450">
              <a:buFont typeface="Arial" panose="020B0604020202020204" pitchFamily="34" charset="0"/>
              <a:buChar char="•"/>
            </a:pPr>
            <a:r>
              <a:rPr lang="nl-NL" sz="1200" b="0" i="0" kern="1200" dirty="0" err="1">
                <a:solidFill>
                  <a:schemeClr val="tx1"/>
                </a:solidFill>
                <a:effectLst/>
                <a:latin typeface="+mn-lt"/>
                <a:ea typeface="+mn-ea"/>
                <a:cs typeface="+mn-cs"/>
              </a:rPr>
              <a:t>States</a:t>
            </a:r>
            <a:r>
              <a:rPr lang="nl-NL" sz="1200" b="0" i="0" kern="1200" dirty="0">
                <a:solidFill>
                  <a:schemeClr val="tx1"/>
                </a:solidFill>
                <a:effectLst/>
                <a:latin typeface="+mn-lt"/>
                <a:ea typeface="+mn-ea"/>
                <a:cs typeface="+mn-cs"/>
              </a:rPr>
              <a:t> aangeven: aria-expanded, aria-</a:t>
            </a:r>
            <a:r>
              <a:rPr lang="nl-NL" sz="1200" b="0" i="0" kern="1200" dirty="0" err="1">
                <a:solidFill>
                  <a:schemeClr val="tx1"/>
                </a:solidFill>
                <a:effectLst/>
                <a:latin typeface="+mn-lt"/>
                <a:ea typeface="+mn-ea"/>
                <a:cs typeface="+mn-cs"/>
              </a:rPr>
              <a:t>checked</a:t>
            </a:r>
            <a:endParaRPr lang="nl-NL" sz="1200" b="0" i="0" kern="1200" dirty="0">
              <a:solidFill>
                <a:schemeClr val="tx1"/>
              </a:solidFill>
              <a:effectLst/>
              <a:latin typeface="+mn-lt"/>
              <a:ea typeface="+mn-ea"/>
              <a:cs typeface="+mn-cs"/>
            </a:endParaRP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Verwijzing naar documentatie:</a:t>
            </a:r>
            <a:br>
              <a:rPr lang="nl-NL" sz="1200" b="0" i="0" kern="1200" dirty="0">
                <a:effectLst/>
                <a:cs typeface="+mn-lt"/>
              </a:rPr>
            </a:br>
            <a:r>
              <a:rPr lang="nl-NL" sz="1200" b="0" i="0" kern="1200" dirty="0">
                <a:solidFill>
                  <a:schemeClr val="tx1"/>
                </a:solidFill>
                <a:effectLst/>
                <a:latin typeface="+mn-lt"/>
                <a:ea typeface="+mn-ea"/>
                <a:cs typeface="+mn-cs"/>
              </a:rPr>
              <a:t>De officiële bron: </a:t>
            </a:r>
            <a:r>
              <a:rPr lang="nl-NL" sz="1200" b="0" i="0" kern="1200" dirty="0">
                <a:solidFill>
                  <a:schemeClr val="tx1"/>
                </a:solidFill>
                <a:effectLst/>
                <a:latin typeface="+mn-lt"/>
                <a:ea typeface="+mn-ea"/>
                <a:cs typeface="+mn-cs"/>
                <a:hlinkClick r:id="rId3"/>
              </a:rPr>
              <a:t>www.w3.org/TR/aria-in-html/#firstrule</a:t>
            </a:r>
            <a:br>
              <a:rPr lang="nl-NL" sz="1200" b="0" i="0" kern="1200" dirty="0">
                <a:effectLst/>
                <a:cs typeface="+mn-lt"/>
              </a:rPr>
            </a:br>
            <a:r>
              <a:rPr lang="nl-NL" sz="1200" b="0" i="0" kern="1200" dirty="0">
                <a:solidFill>
                  <a:schemeClr val="tx1"/>
                </a:solidFill>
                <a:effectLst/>
                <a:latin typeface="+mn-lt"/>
                <a:ea typeface="+mn-ea"/>
                <a:cs typeface="+mn-cs"/>
              </a:rPr>
              <a:t>Moedig studenten aan deze te </a:t>
            </a:r>
            <a:r>
              <a:rPr lang="nl-NL" sz="1200" b="0" i="0" kern="1200" dirty="0" err="1">
                <a:solidFill>
                  <a:schemeClr val="tx1"/>
                </a:solidFill>
                <a:effectLst/>
                <a:latin typeface="+mn-lt"/>
                <a:ea typeface="+mn-ea"/>
                <a:cs typeface="+mn-cs"/>
              </a:rPr>
              <a:t>bookmarken</a:t>
            </a:r>
            <a:r>
              <a:rPr lang="nl-NL" sz="1200" b="0" i="0" kern="1200" dirty="0">
                <a:solidFill>
                  <a:schemeClr val="tx1"/>
                </a:solidFill>
                <a:effectLst/>
                <a:latin typeface="+mn-lt"/>
                <a:ea typeface="+mn-ea"/>
                <a:cs typeface="+mn-cs"/>
              </a:rPr>
              <a:t>!</a:t>
            </a:r>
          </a:p>
          <a:p>
            <a:endParaRPr lang="nl-NL" sz="1200" b="0" i="0" kern="1200" dirty="0">
              <a:solidFill>
                <a:schemeClr val="tx1"/>
              </a:solidFill>
              <a:effectLst/>
              <a:latin typeface="+mn-lt"/>
              <a:ea typeface="+mn-ea"/>
              <a:cs typeface="+mn-cs"/>
            </a:endParaRPr>
          </a:p>
          <a:p>
            <a:r>
              <a:rPr lang="nl-NL" sz="1200" b="0" i="0" kern="1200" dirty="0">
                <a:solidFill>
                  <a:schemeClr val="tx1"/>
                </a:solidFill>
                <a:effectLst/>
                <a:latin typeface="+mn-lt"/>
                <a:ea typeface="+mn-ea"/>
                <a:cs typeface="+mn-cs"/>
              </a:rPr>
              <a:t>Praktische opdracht suggestie:</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Laat studenten een website analyseren en identificeren waar onnodige ARIA gebruikt wordt of waar native HTML beter zou zijn.</a:t>
            </a:r>
          </a:p>
          <a:p>
            <a:endParaRPr lang="nl-NL" b="0"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38</a:t>
            </a:fld>
            <a:endParaRPr lang="nl-NL"/>
          </a:p>
        </p:txBody>
      </p:sp>
    </p:spTree>
    <p:extLst>
      <p:ext uri="{BB962C8B-B14F-4D97-AF65-F5344CB8AC3E}">
        <p14:creationId xmlns:p14="http://schemas.microsoft.com/office/powerpoint/2010/main" val="37022669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sz="1200" kern="1200" dirty="0">
                <a:solidFill>
                  <a:schemeClr val="tx1"/>
                </a:solidFill>
                <a:effectLst/>
                <a:latin typeface="+mn-lt"/>
                <a:ea typeface="+mn-ea"/>
                <a:cs typeface="+mn-cs"/>
              </a:rPr>
              <a:t>Afsluitende boodschap:</a:t>
            </a:r>
          </a:p>
          <a:p>
            <a:r>
              <a:rPr lang="nl-NL" sz="1200" kern="1200" dirty="0">
                <a:solidFill>
                  <a:schemeClr val="tx1"/>
                </a:solidFill>
                <a:effectLst/>
                <a:latin typeface="+mn-lt"/>
                <a:ea typeface="+mn-ea"/>
                <a:cs typeface="+mn-cs"/>
              </a:rPr>
              <a:t>"Digitale toegankelijkheid is geen checklist die je afvinkt, maar een continue proces en </a:t>
            </a:r>
            <a:r>
              <a:rPr lang="nl-NL" sz="1200" kern="1200" dirty="0" err="1">
                <a:solidFill>
                  <a:schemeClr val="tx1"/>
                </a:solidFill>
                <a:effectLst/>
                <a:latin typeface="+mn-lt"/>
                <a:ea typeface="+mn-ea"/>
                <a:cs typeface="+mn-cs"/>
              </a:rPr>
              <a:t>mindset</a:t>
            </a:r>
            <a:r>
              <a:rPr lang="nl-NL" sz="1200" kern="1200" dirty="0">
                <a:solidFill>
                  <a:schemeClr val="tx1"/>
                </a:solidFill>
                <a:effectLst/>
                <a:latin typeface="+mn-lt"/>
                <a:ea typeface="+mn-ea"/>
                <a:cs typeface="+mn-cs"/>
              </a:rPr>
              <a:t>. </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Belangrijkste lessen van vandaag:</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(Bewustwording: 1 op 4 Nederlanders heeft een beperking - het is een groot publiek)</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(Wetgeving: Het is verplicht (Tijdelijk Besluit Digitale Overheid voor overheid, EAA voor bedrijven))</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WCAG: 4 principes - Waarneembaar, Bedienbaar, Begrijpelijk, Robuust</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Quick </a:t>
            </a:r>
            <a:r>
              <a:rPr lang="nl-NL" sz="1200" kern="1200" dirty="0" err="1">
                <a:solidFill>
                  <a:schemeClr val="tx1"/>
                </a:solidFill>
                <a:effectLst/>
                <a:latin typeface="+mn-lt"/>
                <a:ea typeface="+mn-ea"/>
                <a:cs typeface="+mn-cs"/>
              </a:rPr>
              <a:t>wins</a:t>
            </a:r>
            <a:r>
              <a:rPr lang="nl-NL" sz="1200" kern="1200" dirty="0">
                <a:solidFill>
                  <a:schemeClr val="tx1"/>
                </a:solidFill>
                <a:effectLst/>
                <a:latin typeface="+mn-lt"/>
                <a:ea typeface="+mn-ea"/>
                <a:cs typeface="+mn-cs"/>
              </a:rPr>
              <a:t>: Begin met koppen, contrast, labels, alt-tekst, toetsenbordtoegankelijkheid</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Testen: Automatisch + handmatig, met name toetsenbord en schermlezer</a:t>
            </a:r>
          </a:p>
          <a:p>
            <a:pPr marL="171450" indent="-171450">
              <a:buFont typeface="Arial" panose="020B0604020202020204" pitchFamily="34" charset="0"/>
              <a:buChar char="•"/>
            </a:pPr>
            <a:r>
              <a:rPr lang="nl-NL" sz="1200" kern="1200" dirty="0">
                <a:solidFill>
                  <a:schemeClr val="tx1"/>
                </a:solidFill>
                <a:effectLst/>
                <a:latin typeface="+mn-lt"/>
                <a:ea typeface="+mn-ea"/>
                <a:cs typeface="+mn-cs"/>
              </a:rPr>
              <a:t>Native HTML first: Gebruik standaard HTML, alleen ARIA wanneer noodzakelijk</a:t>
            </a:r>
          </a:p>
          <a:p>
            <a:endParaRPr lang="nl-NL" sz="1200" kern="1200" dirty="0">
              <a:solidFill>
                <a:schemeClr val="tx1"/>
              </a:solidFill>
              <a:effectLst/>
              <a:latin typeface="+mn-lt"/>
              <a:ea typeface="+mn-ea"/>
              <a:cs typeface="+mn-cs"/>
            </a:endParaRPr>
          </a:p>
          <a:p>
            <a:r>
              <a:rPr lang="nl-NL" sz="1200" kern="1200" dirty="0">
                <a:solidFill>
                  <a:schemeClr val="tx1"/>
                </a:solidFill>
                <a:effectLst/>
                <a:latin typeface="+mn-lt"/>
                <a:ea typeface="+mn-ea"/>
                <a:cs typeface="+mn-cs"/>
              </a:rPr>
              <a:t>Laatste vraag aan de groep:</a:t>
            </a:r>
            <a:br>
              <a:rPr lang="nl-NL" sz="1200" kern="1200" dirty="0">
                <a:solidFill>
                  <a:schemeClr val="tx1"/>
                </a:solidFill>
                <a:effectLst/>
                <a:latin typeface="+mn-lt"/>
                <a:ea typeface="+mn-ea"/>
                <a:cs typeface="+mn-cs"/>
              </a:rPr>
            </a:br>
            <a:r>
              <a:rPr lang="nl-NL" sz="1200" kern="1200" dirty="0">
                <a:solidFill>
                  <a:schemeClr val="tx1"/>
                </a:solidFill>
                <a:effectLst/>
                <a:latin typeface="+mn-lt"/>
                <a:ea typeface="+mn-ea"/>
                <a:cs typeface="+mn-cs"/>
              </a:rPr>
              <a:t>"Wat is het eerste dat jullie morgen anders gaan doen?</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39</a:t>
            </a:fld>
            <a:endParaRPr lang="nl-NL"/>
          </a:p>
        </p:txBody>
      </p:sp>
    </p:spTree>
    <p:extLst>
      <p:ext uri="{BB962C8B-B14F-4D97-AF65-F5344CB8AC3E}">
        <p14:creationId xmlns:p14="http://schemas.microsoft.com/office/powerpoint/2010/main" val="19948076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40</a:t>
            </a:fld>
            <a:endParaRPr lang="nl-NL"/>
          </a:p>
        </p:txBody>
      </p:sp>
    </p:spTree>
    <p:extLst>
      <p:ext uri="{BB962C8B-B14F-4D97-AF65-F5344CB8AC3E}">
        <p14:creationId xmlns:p14="http://schemas.microsoft.com/office/powerpoint/2010/main" val="1004842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Uitleg bij sjabloon">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B6A7F-0A45-D1D3-7DD6-5A2F916049DF}"/>
              </a:ext>
            </a:extLst>
          </p:cNvPr>
          <p:cNvSpPr>
            <a:spLocks noGrp="1"/>
          </p:cNvSpPr>
          <p:nvPr>
            <p:ph type="title" hasCustomPrompt="1"/>
          </p:nvPr>
        </p:nvSpPr>
        <p:spPr>
          <a:xfrm>
            <a:off x="344466" y="56368"/>
            <a:ext cx="11505156" cy="237994"/>
          </a:xfrm>
        </p:spPr>
        <p:txBody>
          <a:bodyPr/>
          <a:lstStyle>
            <a:lvl1pPr>
              <a:defRPr sz="1600"/>
            </a:lvl1pPr>
          </a:lstStyle>
          <a:p>
            <a:r>
              <a:rPr lang="nl-NL"/>
              <a:t>Uitleg bij PowerPoint-sjabloon</a:t>
            </a:r>
          </a:p>
        </p:txBody>
      </p:sp>
      <p:sp>
        <p:nvSpPr>
          <p:cNvPr id="7" name="Tijdelijke aanduiding voor tekst 6">
            <a:extLst>
              <a:ext uri="{FF2B5EF4-FFF2-40B4-BE49-F238E27FC236}">
                <a16:creationId xmlns:a16="http://schemas.microsoft.com/office/drawing/2014/main" id="{5A5571EE-E33F-6538-1A35-8293725ADC33}"/>
              </a:ext>
            </a:extLst>
          </p:cNvPr>
          <p:cNvSpPr>
            <a:spLocks noGrp="1"/>
          </p:cNvSpPr>
          <p:nvPr>
            <p:ph type="body" sz="quarter" idx="13" hasCustomPrompt="1"/>
          </p:nvPr>
        </p:nvSpPr>
        <p:spPr>
          <a:xfrm>
            <a:off x="342378" y="413359"/>
            <a:ext cx="11505156" cy="566195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lang="nl-NL" sz="1200" smtClean="0">
                <a:effectLst/>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sz="1100" kern="100">
                <a:effectLst/>
                <a:latin typeface="Aptos" panose="020B0004020202020204" pitchFamily="34" charset="0"/>
                <a:ea typeface="Aptos" panose="020B0004020202020204" pitchFamily="34" charset="0"/>
                <a:cs typeface="Times New Roman" panose="02020603050405020304" pitchFamily="18" charset="0"/>
              </a:rPr>
              <a:t>Alle slides in huisstijl zijn te vinden onder ‘dia’s’ en dan ‘nieuwe dia’s’. De eerste zes tekstslides geven een toelichting op deze PowerPoint-sjabloon, zoals huisstijl, afbeeldingen, tabellen en grafieken. Raadpleeg deze instructie!</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Wat is er veranderd, veelal door ontoegankelijkheid of door technische problemen?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De slides met blauwe balk en ons beeldmerk zijn komen te vervallen.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Ons beeldmerk als opsommingsteken is vervangen door het standaardteken.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is nu nog geen </a:t>
            </a:r>
            <a:r>
              <a:rPr lang="nl-NL" sz="1100" err="1">
                <a:effectLst/>
                <a:latin typeface="Aptos" panose="020B0004020202020204" pitchFamily="34" charset="0"/>
                <a:ea typeface="Aptos" panose="020B0004020202020204" pitchFamily="34" charset="0"/>
                <a:cs typeface="Times New Roman" panose="02020603050405020304" pitchFamily="18" charset="0"/>
              </a:rPr>
              <a:t>SmartArt</a:t>
            </a:r>
            <a:r>
              <a:rPr lang="nl-NL" sz="1100">
                <a:effectLst/>
                <a:latin typeface="Aptos" panose="020B0004020202020204" pitchFamily="34" charset="0"/>
                <a:ea typeface="Aptos" panose="020B0004020202020204" pitchFamily="34" charset="0"/>
                <a:cs typeface="Times New Roman" panose="02020603050405020304" pitchFamily="18" charset="0"/>
              </a:rPr>
              <a:t> opgenomen.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De drie halve bollen zijn vervangen voor de drie domeinbollen.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zijn meerdere slides toegevoegd om meer variatie mogelijk te maken gebaseerd op presentaties van verschillende teams. En de slides met afbeeldingen voor de pauze-slide worden nog gemaakt. Gebruik voorlopig even een slide met een afbeelding rechts voor de pauze.</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Zelf invoegen in verband met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Op de slide met onze adresgegevens moet je zelf het adres intypen. Alleen dan is de tekst beschikbaar voor een screenreader. Dat geldt ook voor het logo op het voorblad en op de </a:t>
            </a:r>
            <a:r>
              <a:rPr lang="nl-NL" sz="1100" kern="100" err="1">
                <a:effectLst/>
                <a:latin typeface="Aptos" panose="020B0004020202020204" pitchFamily="34" charset="0"/>
                <a:ea typeface="Aptos" panose="020B0004020202020204" pitchFamily="34" charset="0"/>
                <a:cs typeface="Times New Roman" panose="02020603050405020304" pitchFamily="18" charset="0"/>
              </a:rPr>
              <a:t>sectiescheidingslide</a:t>
            </a:r>
            <a:r>
              <a:rPr lang="nl-NL" sz="1100" kern="100">
                <a:effectLst/>
                <a:latin typeface="Aptos" panose="020B0004020202020204" pitchFamily="34" charset="0"/>
                <a:ea typeface="Aptos" panose="020B0004020202020204" pitchFamily="34" charset="0"/>
                <a:cs typeface="Times New Roman" panose="02020603050405020304" pitchFamily="18" charset="0"/>
              </a:rPr>
              <a:t>. Die moet je er zelf in zetten met alt-tekst. Op de “Accessibility Game” slide moet ook de hele tekst worden geplaatst omdat het anders niet toegankelijk is.</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Koppen: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Ook de slides met afbeeldingen hebben een titel. Koppen zijn verplicht dus ook op de slide met 1 grote afbeelding. Gebruik een van de twee varianten die voor je klaar staan.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Oude presentaties omzetten: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Kopieer alleen de inhoud naar de nieuwe PowerPoint. Voeg geen slides toe uit oude presentaties. Dat draagt niet bij aan de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Aanvullende wensen: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Mis je een bepaalde opmaak of zie je onvolkomenheden? Klop dan aan bij Catherine Reijers of Joke Hoogeduin.</a:t>
            </a:r>
            <a:endParaRPr lang="nl-NL"/>
          </a:p>
        </p:txBody>
      </p:sp>
      <p:sp>
        <p:nvSpPr>
          <p:cNvPr id="3" name="Tekstvak 2">
            <a:extLst>
              <a:ext uri="{FF2B5EF4-FFF2-40B4-BE49-F238E27FC236}">
                <a16:creationId xmlns:a16="http://schemas.microsoft.com/office/drawing/2014/main" id="{5520EC8A-D349-5618-7B23-DE6E72E900C9}"/>
              </a:ext>
            </a:extLst>
          </p:cNvPr>
          <p:cNvSpPr txBox="1"/>
          <p:nvPr userDrawn="1"/>
        </p:nvSpPr>
        <p:spPr>
          <a:xfrm>
            <a:off x="342378" y="6075309"/>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96093129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Uitleg bij de slid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152637"/>
            <a:ext cx="11505156" cy="216023"/>
          </a:xfrm>
        </p:spPr>
        <p:txBody>
          <a:bodyPr/>
          <a:lstStyle>
            <a:lvl1pPr>
              <a:defRPr sz="1400"/>
            </a:lvl1pPr>
          </a:lstStyle>
          <a:p>
            <a:r>
              <a:rPr lang="nl-NL"/>
              <a:t>Uitleg bij de huisstijl</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512677"/>
            <a:ext cx="11505156" cy="5526324"/>
          </a:xfrm>
        </p:spPr>
        <p:txBody>
          <a:bodyPr/>
          <a:lstStyle>
            <a:lvl1pPr marL="0" indent="0">
              <a:buNone/>
              <a:defRPr sz="1200"/>
            </a:lvl1pPr>
          </a:lstStyle>
          <a:p>
            <a:pPr lvl="0"/>
            <a:r>
              <a:rPr lang="nl-NL"/>
              <a:t>De huisstijl bestaat uit kleuren, afbeeldingen en lay-out.</a:t>
            </a:r>
            <a:br>
              <a:rPr lang="nl-NL"/>
            </a:br>
            <a:r>
              <a:rPr lang="nl-NL"/>
              <a:t>Kleuren en lettertype niet wijzigen. De kleur van de tekst is donkerblauw.</a:t>
            </a:r>
            <a:br>
              <a:rPr lang="nl-NL"/>
            </a:br>
            <a:r>
              <a:rPr lang="nl-NL"/>
              <a:t>Je start met een voorblad. Elk team heeft zijn eigen exemplaar, indien gewenst.</a:t>
            </a:r>
            <a:br>
              <a:rPr lang="nl-NL"/>
            </a:br>
            <a:r>
              <a:rPr lang="nl-NL"/>
              <a:t>We gebruiken geen vetgedrukte tekst voor koppen.</a:t>
            </a:r>
            <a:br>
              <a:rPr lang="nl-NL"/>
            </a:br>
            <a:r>
              <a:rPr lang="nl-NL"/>
              <a:t>Tekst groter of kleiner maken doe je door de tekst te selecteren en dan Ctrl-Shift met het plus- of minteken. Of via tabblad Start, in het onderdeel Lettertype met A^ of Aˇ. Je hele tekst wordt groter of kleiner met behoud van verschillen tussen niveaus.</a:t>
            </a:r>
            <a:br>
              <a:rPr lang="nl-NL"/>
            </a:br>
            <a:r>
              <a:rPr lang="nl-NL"/>
              <a:t>Het opsommingsteken is een bolletje, niet meer ons eigen beeldmerk.</a:t>
            </a:r>
            <a:br>
              <a:rPr lang="nl-NL"/>
            </a:br>
            <a:r>
              <a:rPr lang="nl-NL"/>
              <a:t>Ga niet schuiven met de onderdelen op de slides. De vorm en indeling is ook huisstijl.</a:t>
            </a:r>
            <a:br>
              <a:rPr lang="nl-NL"/>
            </a:br>
            <a:r>
              <a:rPr lang="nl-NL"/>
              <a:t>De accentkleuren zijn aangepast aan het gebruik in grafieken en diagrammen.</a:t>
            </a:r>
            <a:br>
              <a:rPr lang="nl-NL"/>
            </a:br>
            <a:r>
              <a:rPr lang="nl-NL"/>
              <a:t>Een nieuw hoofdstuk kun je aangeven door een sectieslide in te voegen. Gebruik hier geen andere slides voor!</a:t>
            </a:r>
            <a:br>
              <a:rPr lang="nl-NL"/>
            </a:br>
            <a:r>
              <a:rPr lang="nl-NL"/>
              <a:t>Ondertitels mag je weglaten, titels nooit!</a:t>
            </a:r>
            <a:br>
              <a:rPr lang="nl-NL"/>
            </a:br>
            <a:r>
              <a:rPr lang="nl-NL"/>
              <a:t>Titels worden door PowerPoint automatisch omgezet naar Kop1 of Kop 2. De sectieslides zijn Kop1, net zoals het voorblad. De rest is Kop2. Voor het gemak staat dat al op de slide als voorbeeldtekst zodat je weet hoe slides passen in de koppenstructuur.</a:t>
            </a:r>
            <a:br>
              <a:rPr lang="nl-NL"/>
            </a:br>
            <a:r>
              <a:rPr lang="nl-NL"/>
              <a:t>Slides die zijn opgemaakt in de huisstijl kunnen vervolgens gemakkelijk in een andere presentatie die ook is opgemaakt in de huisstijl geschoven worden.</a:t>
            </a:r>
          </a:p>
        </p:txBody>
      </p:sp>
      <p:sp>
        <p:nvSpPr>
          <p:cNvPr id="3" name="Tekstvak 2">
            <a:extLst>
              <a:ext uri="{FF2B5EF4-FFF2-40B4-BE49-F238E27FC236}">
                <a16:creationId xmlns:a16="http://schemas.microsoft.com/office/drawing/2014/main" id="{8377EDD3-7779-E8E7-944F-4B62C5A2C8AE}"/>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49690036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oegankelijkheid controleren in PowerPoi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244259"/>
            <a:ext cx="11505156" cy="275571"/>
          </a:xfrm>
        </p:spPr>
        <p:txBody>
          <a:bodyPr/>
          <a:lstStyle>
            <a:lvl1pPr>
              <a:defRPr sz="1400"/>
            </a:lvl1pPr>
          </a:lstStyle>
          <a:p>
            <a:r>
              <a:rPr lang="nl-NL"/>
              <a:t>Toelichting toegankelijkheid controleren</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732773"/>
            <a:ext cx="11505156" cy="5306227"/>
          </a:xfrm>
        </p:spPr>
        <p:txBody>
          <a:bodyPr/>
          <a:lstStyle>
            <a:lvl1pPr marL="0" indent="0">
              <a:buNone/>
              <a:defRPr sz="1200"/>
            </a:lvl1pPr>
          </a:lstStyle>
          <a:p>
            <a:pPr lvl="0"/>
            <a:br>
              <a:rPr lang="nl-NL"/>
            </a:br>
            <a:r>
              <a:rPr lang="nl-NL"/>
              <a:t>Ga naar tabblad Controleren en klik op Toegankelijkheid controleren. Klik vervolgens op de eerste in de lijst, Toegankelijkheid controleren. Je krijgt aan de rechterkant van je scherm een lijst met wat er goed of fout is.</a:t>
            </a:r>
            <a:br>
              <a:rPr lang="nl-NL"/>
            </a:br>
            <a:r>
              <a:rPr lang="nl-NL"/>
              <a:t>Daarin staat ook een onderdeel in met alle alt-teksten, die je dan gemakkelijk kunt invullen. Je kunt dit dus ook gebruiken om pas achteraf in één keer al die alt-teksten in te vullen.</a:t>
            </a:r>
            <a:br>
              <a:rPr lang="nl-NL"/>
            </a:br>
            <a:r>
              <a:rPr lang="nl-NL"/>
              <a:t>Let op! De alt-teksten van grafieken of video’s komen niet in die controle naar voren. Deze moet je zelf invullen en controleren. Zie de toelichting op de andere slides.</a:t>
            </a:r>
          </a:p>
        </p:txBody>
      </p:sp>
      <p:sp>
        <p:nvSpPr>
          <p:cNvPr id="3" name="Tekstvak 2">
            <a:extLst>
              <a:ext uri="{FF2B5EF4-FFF2-40B4-BE49-F238E27FC236}">
                <a16:creationId xmlns:a16="http://schemas.microsoft.com/office/drawing/2014/main" id="{DAC360CE-E611-4B17-5C8C-EDE2EE8894F1}"/>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41926499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itleg afbeelding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152636"/>
            <a:ext cx="11523945" cy="216024"/>
          </a:xfrm>
        </p:spPr>
        <p:txBody>
          <a:bodyPr/>
          <a:lstStyle>
            <a:lvl1pPr>
              <a:defRPr sz="1400"/>
            </a:lvl1pPr>
          </a:lstStyle>
          <a:p>
            <a:r>
              <a:rPr lang="nl-NL"/>
              <a:t>Toelichting afbeeldingen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717481"/>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Je klikt op het icoontje van de afbeelding, zodat je vanuit je map de afbeelding kunt plaatsen. Of je plakt of schuift iets in dat vak vanuit de map.</a:t>
            </a:r>
            <a:br>
              <a:rPr lang="nl-NL"/>
            </a:br>
            <a:r>
              <a:rPr lang="nl-NL"/>
              <a:t>Als het een vak is voor alleen afbeeldingen, dus met maar één icoon van een afbeelding, dan voegt de afbeelding zich naar dat vak, zodat het hele vak gevuld is.</a:t>
            </a:r>
            <a:br>
              <a:rPr lang="nl-NL"/>
            </a:br>
            <a:r>
              <a:rPr lang="nl-NL"/>
              <a:t>Ziet je afbeelding er dan raar uit doordat bijvoorbeeld een kleine afbeelding wordt uitvergroot?</a:t>
            </a:r>
            <a:br>
              <a:rPr lang="nl-NL"/>
            </a:br>
            <a:r>
              <a:rPr lang="nl-NL"/>
              <a:t>Ga dan op die afbeelding staan en ga daarna naar het tabblad “Grafische indeling” of “Afbeeldingsindeling”. Klik daar op “Bijsnijden”.</a:t>
            </a:r>
            <a:br>
              <a:rPr lang="nl-NL"/>
            </a:br>
            <a:r>
              <a:rPr lang="nl-NL"/>
              <a:t>Je ziet onderin het lijstje staan: “Aanpassen”.</a:t>
            </a:r>
            <a:br>
              <a:rPr lang="nl-NL"/>
            </a:br>
            <a:r>
              <a:rPr lang="nl-NL"/>
              <a:t>Daarmee wordt de hoogte van de afbeelding aangepast, terwijl de breedte gelijk wordt aan het vak waarin hij komt te staan.</a:t>
            </a:r>
            <a:br>
              <a:rPr lang="nl-NL"/>
            </a:br>
            <a:r>
              <a:rPr lang="nl-NL"/>
              <a:t>Wil je de afbeelding wel groot, maar wil je een ander gedeelte laten zien? Ga naar het onderdeel “Grootte” in de bovenbalk en klap dat uit met het pijltje rechts onder. Kies voor het laatste tabblad “Afbeelding” en dan in de lijst voor “Bijsnijden”. Gebruik de x-as en y-as om de afbeelding een beetje op te schuiven totdat je datgene ziet wat je wilde tonen.</a:t>
            </a:r>
            <a:br>
              <a:rPr lang="nl-NL"/>
            </a:br>
            <a:r>
              <a:rPr lang="nl-NL"/>
              <a:t>Je hoeft niet alle vakjes te vullen met een afbeelding. De lege vakjes worden witruimtes.</a:t>
            </a:r>
            <a:br>
              <a:rPr lang="nl-NL"/>
            </a:br>
            <a:r>
              <a:rPr lang="nl-NL"/>
              <a:t>Zet tekst in de tekst en niet in een afbeelding. Je kunt er natuurlijk een alt-tekst bij zetten, maar er zijn ook gebruikers met visuele beperkingen die tekst en achtergrond aanpassen, zowel het formaat als de kleuren om het te kunnen zien. Dat lukt niet met een afbeelding. Daarom is een tekst in een afbeelding vaak slecht toegankelijk of zelfs ontoegankelijk.</a:t>
            </a:r>
            <a:br>
              <a:rPr lang="nl-NL"/>
            </a:br>
            <a:r>
              <a:rPr lang="nl-NL"/>
              <a:t>Het logo</a:t>
            </a:r>
            <a:br>
              <a:rPr lang="nl-NL"/>
            </a:br>
            <a:r>
              <a:rPr lang="nl-NL"/>
              <a:t>Op de slides met een logo moet deze in de presentatie zelf worden ingevoegd. Als we het logo in het sjabloon in het </a:t>
            </a:r>
            <a:r>
              <a:rPr lang="nl-NL" err="1"/>
              <a:t>diamodel</a:t>
            </a:r>
            <a:r>
              <a:rPr lang="nl-NL"/>
              <a:t> zetten, dan wordt het door PowerPoint altijd als decoratief gemarkeerd, ook binnen een slide en dan is het logo en daarmee ook de alt-tekst niet beschikbaar voor gebruikers van een screenreader binnen de presentatie (voor je collega’s) of binnen de PDF als hand-out. Er staat een vakje klaar speciaal voor dat logo. Het logo voegt zich naar dat vakje en je hoeft er alleen nog maar een alt-tekst bij te zetten. Gebruik de tekst: Logo Accessibility, onderdeel van Bartiméus, oftewel de hele tekst van het logo.</a:t>
            </a:r>
            <a:br>
              <a:rPr lang="nl-NL"/>
            </a:br>
            <a:r>
              <a:rPr lang="nl-NL"/>
              <a:t>Het logo staat in de Word-sjablonen-2025 map in de sub-map PowerPoint-sjablonen &gt; Afbeeldingen alleen voor PowerPoint. Gebruik deze versie en niet die van de brief. De PowerPoint-versie van het logo is bijgesneden om goed in dat vakje te passen.</a:t>
            </a:r>
          </a:p>
        </p:txBody>
      </p:sp>
      <p:sp>
        <p:nvSpPr>
          <p:cNvPr id="3" name="Tekstvak 2">
            <a:extLst>
              <a:ext uri="{FF2B5EF4-FFF2-40B4-BE49-F238E27FC236}">
                <a16:creationId xmlns:a16="http://schemas.microsoft.com/office/drawing/2014/main" id="{C354A5C4-DC3F-E7FB-65B4-34332FD53A8C}"/>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9505452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Uitleg grafiek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grafieken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681477"/>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Er staan meerdere iconen in een vak. Klik op het grafiekicoon.</a:t>
            </a:r>
            <a:br>
              <a:rPr lang="nl-NL"/>
            </a:br>
            <a:r>
              <a:rPr lang="nl-NL"/>
              <a:t>De grafiek vormt zich binnen dat vak, wat even kan duren en past zich aan in grootte. Je kunt achteraf het hele vak aanpassen om de grootte aan te passen.</a:t>
            </a:r>
            <a:br>
              <a:rPr lang="nl-NL"/>
            </a:br>
            <a:r>
              <a:rPr lang="nl-NL"/>
              <a:t>De grafiek verschijnt in huisstijlkleuren. Ze hebben voldoende contrast op een witte achtergrond, maar niet ten opzichte van elkaar. Gebruik daarom altijd witruimte tussen de kleuren. PowerPoint regelt dit zelf, maar niet het liggende staafdiagram. Gebruik die dus niet.</a:t>
            </a:r>
            <a:br>
              <a:rPr lang="nl-NL"/>
            </a:br>
            <a:r>
              <a:rPr lang="nl-NL"/>
              <a:t>Grafieken en diagrammen zijn niet vanzelf toegankelijk. Geef ze een goede beschrijving in de titel van de slide, de titel van de grafiek en zo nodig ook in tekst die erbij staat.</a:t>
            </a:r>
            <a:br>
              <a:rPr lang="nl-NL"/>
            </a:br>
            <a:r>
              <a:rPr lang="nl-NL"/>
              <a:t>Geef de grafiek een alt-tekst door met je rechtermuisknop op het vak te klikken waar hij in staat. In een PDF wordt de hele grafiek één afbeelding met die alt-tekst. In de presentatie zelf is de grafiek wel als grafiek beschikbaar voor je collega’s met een visuele beperking.</a:t>
            </a:r>
            <a:br>
              <a:rPr lang="nl-NL"/>
            </a:br>
            <a:r>
              <a:rPr lang="nl-NL"/>
              <a:t>Pas de grafiek daarna aan met de opmaak voor grafieken. Maak alle tekst donkerblauw. PowerPoint (en Word) geven die tekst namelijk uit zichzelf een lichtere tint dan de tekstkleur, blauw in ons geval en dat is slechter leesbaar. Pas waar nodig de grootte van die tekst ook aan.</a:t>
            </a:r>
            <a:br>
              <a:rPr lang="nl-NL"/>
            </a:br>
            <a:r>
              <a:rPr lang="nl-NL"/>
              <a:t>Overweeg om de aantallen ook binnen de grafiek of het diagram te zetten. Een legenda is voor sommige gebruikers lastig te lezen. Probeer je grafiek of diagram zo in te richten dat de legenda of het zien van kleuren niet nodig is om alles te begrijpen.</a:t>
            </a:r>
            <a:br>
              <a:rPr lang="nl-NL"/>
            </a:br>
            <a:br>
              <a:rPr lang="nl-NL"/>
            </a:br>
            <a:r>
              <a:rPr lang="nl-NL"/>
              <a:t>Een grafiek of diagram heeft meestal niet genoeg aan een alt-tekst als enige uitleg. Lange alt-teksten zijn niet goed bruikbaar en er zijn ook gebruikers met een visuele beperking die geen screenreader gebruiken. Naast andere gebruikers die een grafiek niet goed kunnen overzien, maar een tabel en uitleg wel.</a:t>
            </a:r>
            <a:br>
              <a:rPr lang="nl-NL"/>
            </a:br>
            <a:r>
              <a:rPr lang="nl-NL"/>
              <a:t>Maak daarom een extra slide aan, met daarin de tabel waarop de grafiek of het diagram gebaseerd is. Daarvoor zul je een nieuwe tabel moeten maken, want de tabel die je bij de grafiek kunt aanvinken om hem zichtbaar te maken wordt net zoals de grafiek een afbeelding in een PDF. Zet de gegevens dus over naar een gewone, eenvoudige tabel.</a:t>
            </a:r>
            <a:br>
              <a:rPr lang="nl-NL"/>
            </a:br>
            <a:r>
              <a:rPr lang="nl-NL"/>
              <a:t>En geef in tekst bij die tabel de trend en dergelijke aan. Die is namelijk heel duidelijk zichtbaar in een grafiek of diagram, maar nooit hoorbaar in een tabel. Dus vertel je collega of klant op die extra slide even wat er te zien is. Dat is wel zo toegankelijk.</a:t>
            </a:r>
          </a:p>
        </p:txBody>
      </p:sp>
      <p:sp>
        <p:nvSpPr>
          <p:cNvPr id="3" name="Tekstvak 2">
            <a:extLst>
              <a:ext uri="{FF2B5EF4-FFF2-40B4-BE49-F238E27FC236}">
                <a16:creationId xmlns:a16="http://schemas.microsoft.com/office/drawing/2014/main" id="{EF2EAE01-0772-E1F0-B9DD-6056E47703B9}"/>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6445789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Uitleg tabell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tabellen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1"/>
            <a:ext cx="11536797" cy="551917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Toegankelijke tabellen zijn kort, in de breedte én lengte.</a:t>
            </a:r>
            <a:br>
              <a:rPr lang="nl-NL"/>
            </a:br>
            <a:r>
              <a:rPr lang="nl-NL"/>
              <a:t>Een lange of brede tabel of eentje met speciale onderdelen zoals samengevoegde cellen of tussenkopjes moet altijd </a:t>
            </a:r>
            <a:r>
              <a:rPr lang="nl-NL" err="1"/>
              <a:t>nabewerkt</a:t>
            </a:r>
            <a:r>
              <a:rPr lang="nl-NL"/>
              <a:t> worden in Acrobat Pro om toegankelijk te worden.</a:t>
            </a:r>
            <a:br>
              <a:rPr lang="nl-NL"/>
            </a:br>
            <a:r>
              <a:rPr lang="nl-NL"/>
              <a:t>Houd niet alleen de klant en PDF in gedachten, maar ook jouw collega’s met een visuele beperking die de PowerPoint of PDF lezen.</a:t>
            </a:r>
            <a:br>
              <a:rPr lang="nl-NL"/>
            </a:br>
            <a:br>
              <a:rPr lang="nl-NL"/>
            </a:br>
            <a:r>
              <a:rPr lang="nl-NL"/>
              <a:t>N.B. Acrobat leest in combinatie met de screenreader NVDA wel de kolomkoppen voor bij de cellen in een PDF, maar nooit de rijkopen. Andere PDF-readers of andere screenreaders lezen die kolom- of rijkoppen helemaal niet voor bij de cellen.</a:t>
            </a:r>
          </a:p>
        </p:txBody>
      </p:sp>
      <p:sp>
        <p:nvSpPr>
          <p:cNvPr id="3" name="Tekstvak 2">
            <a:extLst>
              <a:ext uri="{FF2B5EF4-FFF2-40B4-BE49-F238E27FC236}">
                <a16:creationId xmlns:a16="http://schemas.microsoft.com/office/drawing/2014/main" id="{3D18A7F4-25E8-3F4E-8C92-D4D28B7A897E}"/>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57442374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dia Algemeen">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3B2CB31A-E57E-F7AC-88ED-478B577F5E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3638" y="368300"/>
            <a:ext cx="7562950" cy="990600"/>
          </a:xfrm>
        </p:spPr>
        <p:txBody>
          <a:bodyPr anchor="b"/>
          <a:lstStyle>
            <a:lvl1pPr algn="l">
              <a:defRPr sz="3600"/>
            </a:lvl1pPr>
          </a:lstStyle>
          <a:p>
            <a:r>
              <a:rPr lang="nl-NL"/>
              <a:t>Kop1 van presentatie Algemeen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27" name="Tijdelijke aanduiding voor afbeelding 26" descr="Logo Accessibility, onderdeel van Bartiméus">
            <a:extLst>
              <a:ext uri="{FF2B5EF4-FFF2-40B4-BE49-F238E27FC236}">
                <a16:creationId xmlns:a16="http://schemas.microsoft.com/office/drawing/2014/main" id="{9A87C549-E12E-6182-3C56-75ECE4C3523B}"/>
              </a:ext>
            </a:extLst>
          </p:cNvPr>
          <p:cNvSpPr>
            <a:spLocks noGrp="1"/>
          </p:cNvSpPr>
          <p:nvPr>
            <p:ph type="pic" sz="quarter" idx="10" hasCustomPrompt="1"/>
          </p:nvPr>
        </p:nvSpPr>
        <p:spPr>
          <a:xfrm>
            <a:off x="8940801" y="6092825"/>
            <a:ext cx="2914650" cy="649287"/>
          </a:xfrm>
        </p:spPr>
        <p:txBody>
          <a:bodyPr/>
          <a:lstStyle>
            <a:lvl1pPr marL="0" indent="0">
              <a:lnSpc>
                <a:spcPct val="100000"/>
              </a:lnSpc>
              <a:spcBef>
                <a:spcPts val="600"/>
              </a:spcBef>
              <a:spcAft>
                <a:spcPts val="1800"/>
              </a:spcAft>
              <a:buNone/>
              <a:defRPr sz="1300"/>
            </a:lvl1pPr>
          </a:lstStyle>
          <a:p>
            <a:r>
              <a:rPr lang="nl-NL"/>
              <a:t>Logo. Alt=hele tekst: Accessibility,</a:t>
            </a:r>
            <a:br>
              <a:rPr lang="nl-NL"/>
            </a:br>
            <a:r>
              <a:rPr lang="nl-NL"/>
              <a:t>onderdeel van Bartiméus</a:t>
            </a:r>
          </a:p>
        </p:txBody>
      </p:sp>
    </p:spTree>
    <p:extLst>
      <p:ext uri="{BB962C8B-B14F-4D97-AF65-F5344CB8AC3E}">
        <p14:creationId xmlns:p14="http://schemas.microsoft.com/office/powerpoint/2010/main" val="3820841176"/>
      </p:ext>
    </p:extLst>
  </p:cSld>
  <p:clrMapOvr>
    <a:masterClrMapping/>
  </p:clrMapOvr>
  <p:extLst>
    <p:ext uri="{DCECCB84-F9BA-43D5-87BE-67443E8EF086}">
      <p15:sldGuideLst xmlns:p15="http://schemas.microsoft.com/office/powerpoint/2012/main">
        <p15:guide id="4" pos="5201" userDrawn="1">
          <p15:clr>
            <a:srgbClr val="FBAE40"/>
          </p15:clr>
        </p15:guide>
        <p15:guide id="6" orient="horz" pos="856" userDrawn="1">
          <p15:clr>
            <a:srgbClr val="FBAE40"/>
          </p15:clr>
        </p15:guide>
        <p15:guide id="7" pos="438" userDrawn="1">
          <p15:clr>
            <a:srgbClr val="FBAE40"/>
          </p15:clr>
        </p15:guide>
        <p15:guide id="8" pos="4294" userDrawn="1">
          <p15:clr>
            <a:srgbClr val="FBAE40"/>
          </p15:clr>
        </p15:guide>
        <p15:guide id="9" orient="horz" pos="1480" userDrawn="1">
          <p15:clr>
            <a:srgbClr val="FBAE40"/>
          </p15:clr>
        </p15:guide>
        <p15:guide id="10" orient="horz" pos="232" userDrawn="1">
          <p15:clr>
            <a:srgbClr val="FBAE40"/>
          </p15:clr>
        </p15:guide>
        <p15:guide id="11" orient="horz" pos="1026" userDrawn="1">
          <p15:clr>
            <a:srgbClr val="FBAE40"/>
          </p15:clr>
        </p15:guide>
        <p15:guide id="14" orient="horz" pos="3861" userDrawn="1">
          <p15:clr>
            <a:srgbClr val="FBAE40"/>
          </p15:clr>
        </p15:guide>
        <p15:guide id="15" pos="7468" userDrawn="1">
          <p15:clr>
            <a:srgbClr val="FBAE40"/>
          </p15:clr>
        </p15:guide>
        <p15:guide id="16" orient="horz" pos="4201" userDrawn="1">
          <p15:clr>
            <a:srgbClr val="FBAE40"/>
          </p15:clr>
        </p15:guide>
        <p15:guide id="17" orient="horz" pos="3838" userDrawn="1">
          <p15:clr>
            <a:srgbClr val="FBAE40"/>
          </p15:clr>
        </p15:guide>
        <p15:guide id="18" orient="horz" pos="4247" userDrawn="1">
          <p15:clr>
            <a:srgbClr val="FBAE40"/>
          </p15:clr>
        </p15:guide>
        <p15:guide id="19" pos="56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dia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E52F01F-570A-4570-6C9D-1B30604D34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Digitaal</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4" y="1628775"/>
            <a:ext cx="6121401"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97FAB55E-AE20-8069-DCA9-BB7440D7514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722123482"/>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3840"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632" userDrawn="1">
          <p15:clr>
            <a:srgbClr val="FBAE40"/>
          </p15:clr>
        </p15:guide>
        <p15:guide id="9" pos="4294" userDrawn="1">
          <p15:clr>
            <a:srgbClr val="FBAE40"/>
          </p15:clr>
        </p15:guide>
        <p15:guide id="10" pos="7468" userDrawn="1">
          <p15:clr>
            <a:srgbClr val="FBAE40"/>
          </p15:clr>
        </p15:guide>
        <p15:guide id="11" orient="horz" pos="3861" userDrawn="1">
          <p15:clr>
            <a:srgbClr val="FBAE40"/>
          </p15:clr>
        </p15:guide>
        <p15:guide id="12" pos="5201" userDrawn="1">
          <p15:clr>
            <a:srgbClr val="FBAE40"/>
          </p15:clr>
        </p15:guide>
        <p15:guide id="13" orient="horz" pos="3838" userDrawn="1">
          <p15:clr>
            <a:srgbClr val="FBAE40"/>
          </p15:clr>
        </p15:guide>
        <p15:guide id="14" orient="horz" pos="4247" userDrawn="1">
          <p15:clr>
            <a:srgbClr val="FBAE40"/>
          </p15:clr>
        </p15:guide>
        <p15:guide id="15" orient="horz" pos="420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dia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AFB4E14-FE25-F9CB-9062-AA5531A406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Fysiek binnen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5" name="Tijdelijke aanduiding voor afbeelding 4">
            <a:extLst>
              <a:ext uri="{FF2B5EF4-FFF2-40B4-BE49-F238E27FC236}">
                <a16:creationId xmlns:a16="http://schemas.microsoft.com/office/drawing/2014/main" id="{DF63249B-9916-B30C-2BCE-8B118A46867B}"/>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698311428"/>
      </p:ext>
    </p:extLst>
  </p:cSld>
  <p:clrMapOvr>
    <a:masterClrMapping/>
  </p:clrMapOvr>
  <p:extLst>
    <p:ext uri="{DCECCB84-F9BA-43D5-87BE-67443E8EF086}">
      <p15:sldGuideLst xmlns:p15="http://schemas.microsoft.com/office/powerpoint/2012/main">
        <p15:guide id="1" orient="horz" pos="3861" userDrawn="1">
          <p15:clr>
            <a:srgbClr val="FBAE40"/>
          </p15:clr>
        </p15:guide>
        <p15:guide id="3" pos="438" userDrawn="1">
          <p15:clr>
            <a:srgbClr val="FBAE40"/>
          </p15:clr>
        </p15:guide>
        <p15:guide id="4" pos="7468"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pos="5201" userDrawn="1">
          <p15:clr>
            <a:srgbClr val="FBAE40"/>
          </p15:clr>
        </p15:guide>
        <p15:guide id="12" orient="horz" pos="3838" userDrawn="1">
          <p15:clr>
            <a:srgbClr val="FBAE40"/>
          </p15:clr>
        </p15:guide>
        <p15:guide id="13" orient="horz" pos="4201" userDrawn="1">
          <p15:clr>
            <a:srgbClr val="FBAE40"/>
          </p15:clr>
        </p15:guide>
        <p15:guide id="14" orient="horz" pos="424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dia Fsy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44C7A7A0-BF74-BB48-B83A-E7227CC81F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599"/>
          </a:xfrm>
        </p:spPr>
        <p:txBody>
          <a:bodyPr anchor="b"/>
          <a:lstStyle>
            <a:lvl1pPr algn="l">
              <a:defRPr sz="3600"/>
            </a:lvl1pPr>
          </a:lstStyle>
          <a:p>
            <a:r>
              <a:rPr lang="nl-NL"/>
              <a:t>Kop1 van presentatie Fysiek buiten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6" name="Tijdelijke aanduiding voor afbeelding 5">
            <a:extLst>
              <a:ext uri="{FF2B5EF4-FFF2-40B4-BE49-F238E27FC236}">
                <a16:creationId xmlns:a16="http://schemas.microsoft.com/office/drawing/2014/main" id="{C85554F9-6964-2DBC-97FA-A3BC2C598488}"/>
              </a:ext>
            </a:extLst>
          </p:cNvPr>
          <p:cNvSpPr>
            <a:spLocks noGrp="1"/>
          </p:cNvSpPr>
          <p:nvPr>
            <p:ph type="pic" sz="quarter" idx="10" hasCustomPrompt="1"/>
          </p:nvPr>
        </p:nvSpPr>
        <p:spPr>
          <a:xfrm>
            <a:off x="8940800" y="6092825"/>
            <a:ext cx="2916238"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1894435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7469" userDrawn="1">
          <p15:clr>
            <a:srgbClr val="FBAE40"/>
          </p15:clr>
        </p15:guide>
        <p15:guide id="11" pos="5632" userDrawn="1">
          <p15:clr>
            <a:srgbClr val="FBAE40"/>
          </p15:clr>
        </p15:guide>
        <p15:guide id="12"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dia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7DA28379-E2A1-8B3F-D31A-2ACD3E3E91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Gebruikersonderzoek</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6" y="1628776"/>
            <a:ext cx="6121400" cy="720724"/>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D1D03FAC-98EF-0379-4367-0251FDEC732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983385745"/>
      </p:ext>
    </p:extLst>
  </p:cSld>
  <p:clrMapOvr>
    <a:masterClrMapping/>
  </p:clrMapOvr>
  <p:extLst>
    <p:ext uri="{DCECCB84-F9BA-43D5-87BE-67443E8EF086}">
      <p15:sldGuideLst xmlns:p15="http://schemas.microsoft.com/office/powerpoint/2012/main">
        <p15:guide id="2" pos="7468"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201" userDrawn="1">
          <p15:clr>
            <a:srgbClr val="FBAE40"/>
          </p15:clr>
        </p15:guide>
        <p15:guide id="9" pos="4294" userDrawn="1">
          <p15:clr>
            <a:srgbClr val="FBAE40"/>
          </p15:clr>
        </p15:guide>
        <p15:guide id="11" orient="horz" pos="3861" userDrawn="1">
          <p15:clr>
            <a:srgbClr val="FBAE40"/>
          </p15:clr>
        </p15:guide>
        <p15:guide id="12" pos="5632" userDrawn="1">
          <p15:clr>
            <a:srgbClr val="FBAE40"/>
          </p15:clr>
        </p15:guide>
        <p15:guide id="13"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ersoonsgegeve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0209-2C36-F038-7520-FAD53C2EB817}"/>
              </a:ext>
            </a:extLst>
          </p:cNvPr>
          <p:cNvSpPr>
            <a:spLocks noGrp="1"/>
          </p:cNvSpPr>
          <p:nvPr>
            <p:ph type="title" hasCustomPrompt="1"/>
          </p:nvPr>
        </p:nvSpPr>
        <p:spPr>
          <a:xfrm>
            <a:off x="882035" y="1808163"/>
            <a:ext cx="7019925" cy="720726"/>
          </a:xfrm>
        </p:spPr>
        <p:txBody>
          <a:bodyPr/>
          <a:lstStyle>
            <a:lvl1pPr>
              <a:defRPr sz="2800"/>
            </a:lvl1pPr>
          </a:lstStyle>
          <a:p>
            <a:r>
              <a:rPr lang="nl-NL"/>
              <a:t>Naam medewerker (=Kop2)</a:t>
            </a:r>
          </a:p>
        </p:txBody>
      </p:sp>
      <p:sp>
        <p:nvSpPr>
          <p:cNvPr id="7" name="Tijdelijke aanduiding voor tekst 6">
            <a:extLst>
              <a:ext uri="{FF2B5EF4-FFF2-40B4-BE49-F238E27FC236}">
                <a16:creationId xmlns:a16="http://schemas.microsoft.com/office/drawing/2014/main" id="{145A1715-629E-2621-6761-BEBBFC892E08}"/>
              </a:ext>
            </a:extLst>
          </p:cNvPr>
          <p:cNvSpPr>
            <a:spLocks noGrp="1"/>
          </p:cNvSpPr>
          <p:nvPr>
            <p:ph type="body" sz="quarter" idx="13" hasCustomPrompt="1"/>
          </p:nvPr>
        </p:nvSpPr>
        <p:spPr>
          <a:xfrm>
            <a:off x="876300" y="2708275"/>
            <a:ext cx="7019925" cy="720725"/>
          </a:xfrm>
        </p:spPr>
        <p:txBody>
          <a:bodyPr anchor="ctr"/>
          <a:lstStyle>
            <a:lvl1pPr marL="0" indent="0">
              <a:buNone/>
              <a:defRPr/>
            </a:lvl1pPr>
            <a:lvl2pPr marL="239400" indent="0">
              <a:buNone/>
              <a:defRPr/>
            </a:lvl2pPr>
            <a:lvl3pPr marL="491400" indent="0">
              <a:buNone/>
              <a:defRPr/>
            </a:lvl3pPr>
            <a:lvl4pPr marL="743400" indent="0">
              <a:buNone/>
              <a:defRPr/>
            </a:lvl4pPr>
            <a:lvl5pPr marL="995400" indent="0">
              <a:buNone/>
              <a:defRPr/>
            </a:lvl5pPr>
          </a:lstStyle>
          <a:p>
            <a:pPr lvl="0"/>
            <a:r>
              <a:rPr lang="nl-NL"/>
              <a:t>Functie</a:t>
            </a:r>
          </a:p>
        </p:txBody>
      </p:sp>
      <p:sp>
        <p:nvSpPr>
          <p:cNvPr id="9" name="Tijdelijke aanduiding voor tekst 8">
            <a:extLst>
              <a:ext uri="{FF2B5EF4-FFF2-40B4-BE49-F238E27FC236}">
                <a16:creationId xmlns:a16="http://schemas.microsoft.com/office/drawing/2014/main" id="{5616F459-8A07-ED67-34B8-805FF49C7C32}"/>
              </a:ext>
            </a:extLst>
          </p:cNvPr>
          <p:cNvSpPr>
            <a:spLocks noGrp="1"/>
          </p:cNvSpPr>
          <p:nvPr>
            <p:ph type="body" sz="quarter" idx="14" hasCustomPrompt="1"/>
          </p:nvPr>
        </p:nvSpPr>
        <p:spPr>
          <a:xfrm>
            <a:off x="884646" y="3608388"/>
            <a:ext cx="7019925" cy="360362"/>
          </a:xfrm>
        </p:spPr>
        <p:txBody>
          <a:bodyPr anchor="ctr"/>
          <a:lstStyle>
            <a:lvl1pPr marL="0" indent="0">
              <a:buNone/>
              <a:defRPr/>
            </a:lvl1pPr>
          </a:lstStyle>
          <a:p>
            <a:pPr lvl="0"/>
            <a:r>
              <a:rPr lang="nl-NL"/>
              <a:t>E-mail</a:t>
            </a:r>
          </a:p>
        </p:txBody>
      </p:sp>
      <p:sp>
        <p:nvSpPr>
          <p:cNvPr id="15" name="Tijdelijke aanduiding voor afbeelding 14">
            <a:extLst>
              <a:ext uri="{FF2B5EF4-FFF2-40B4-BE49-F238E27FC236}">
                <a16:creationId xmlns:a16="http://schemas.microsoft.com/office/drawing/2014/main" id="{BBB7DDF7-1AC2-FAC9-59EE-82B6DBBD11EF}"/>
              </a:ext>
            </a:extLst>
          </p:cNvPr>
          <p:cNvSpPr>
            <a:spLocks noGrp="1"/>
          </p:cNvSpPr>
          <p:nvPr>
            <p:ph type="pic" sz="quarter" idx="16" hasCustomPrompt="1"/>
          </p:nvPr>
        </p:nvSpPr>
        <p:spPr>
          <a:xfrm>
            <a:off x="8796338" y="1628774"/>
            <a:ext cx="2519362" cy="2520951"/>
          </a:xfrm>
          <a:prstGeom prst="rect">
            <a:avLst/>
          </a:prstGeom>
        </p:spPr>
        <p:txBody>
          <a:bodyPr/>
          <a:lstStyle>
            <a:lvl1pPr marL="0" indent="0">
              <a:buNone/>
              <a:defRPr sz="1400"/>
            </a:lvl1pPr>
          </a:lstStyle>
          <a:p>
            <a:r>
              <a:rPr lang="nl-NL"/>
              <a:t>Foto van medewerker</a:t>
            </a:r>
            <a:br>
              <a:rPr lang="nl-NL"/>
            </a:br>
            <a:r>
              <a:rPr lang="nl-NL"/>
              <a:t>Denk om de alt-tekst, de naam hiernaast is niet voldoende</a:t>
            </a:r>
          </a:p>
        </p:txBody>
      </p:sp>
      <p:sp>
        <p:nvSpPr>
          <p:cNvPr id="5" name="Tijdelijke aanduiding voor tekst 4">
            <a:extLst>
              <a:ext uri="{FF2B5EF4-FFF2-40B4-BE49-F238E27FC236}">
                <a16:creationId xmlns:a16="http://schemas.microsoft.com/office/drawing/2014/main" id="{F2B1DFD1-2B3E-7DF6-6338-33ABB1235EDB}"/>
              </a:ext>
            </a:extLst>
          </p:cNvPr>
          <p:cNvSpPr>
            <a:spLocks noGrp="1"/>
          </p:cNvSpPr>
          <p:nvPr>
            <p:ph type="body" sz="quarter" idx="17" hasCustomPrompt="1"/>
          </p:nvPr>
        </p:nvSpPr>
        <p:spPr>
          <a:xfrm>
            <a:off x="884238" y="4913313"/>
            <a:ext cx="7011987" cy="1035050"/>
          </a:xfrm>
        </p:spPr>
        <p:txBody>
          <a:bodyPr/>
          <a:lstStyle>
            <a:lvl1pPr marL="0" indent="0">
              <a:buNone/>
              <a:defRPr/>
            </a:lvl1pPr>
          </a:lstStyle>
          <a:p>
            <a:pPr lvl="0"/>
            <a:r>
              <a:rPr lang="nl-NL" sz="2400"/>
              <a:t>Zelf invullen, want anders niet toegankelijk, Christiaan Krammlaan 2, 3571 AX Utrecht</a:t>
            </a:r>
          </a:p>
          <a:p>
            <a:pPr lvl="0"/>
            <a:endParaRPr lang="nl-NL"/>
          </a:p>
        </p:txBody>
      </p:sp>
      <p:pic>
        <p:nvPicPr>
          <p:cNvPr id="4" name="Graphic 3">
            <a:extLst>
              <a:ext uri="{FF2B5EF4-FFF2-40B4-BE49-F238E27FC236}">
                <a16:creationId xmlns:a16="http://schemas.microsoft.com/office/drawing/2014/main" id="{FB97A4AC-EA1F-40C8-E224-A1B4B94F0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373" y="314482"/>
            <a:ext cx="3592151" cy="810261"/>
          </a:xfrm>
          <a:prstGeom prst="rect">
            <a:avLst/>
          </a:prstGeom>
        </p:spPr>
      </p:pic>
    </p:spTree>
    <p:extLst>
      <p:ext uri="{BB962C8B-B14F-4D97-AF65-F5344CB8AC3E}">
        <p14:creationId xmlns:p14="http://schemas.microsoft.com/office/powerpoint/2010/main" val="2757306763"/>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438" userDrawn="1">
          <p15:clr>
            <a:srgbClr val="FBAE40"/>
          </p15:clr>
        </p15:guide>
        <p15:guide id="4" pos="7242" userDrawn="1">
          <p15:clr>
            <a:srgbClr val="FBAE40"/>
          </p15:clr>
        </p15:guide>
        <p15:guide id="5" pos="5541" userDrawn="1">
          <p15:clr>
            <a:srgbClr val="FBAE40"/>
          </p15:clr>
        </p15:guide>
        <p15:guide id="6" pos="7128" userDrawn="1">
          <p15:clr>
            <a:srgbClr val="FBAE40"/>
          </p15:clr>
        </p15:guide>
        <p15:guide id="7" pos="552" userDrawn="1">
          <p15:clr>
            <a:srgbClr val="FBAE40"/>
          </p15:clr>
        </p15:guide>
        <p15:guide id="8" orient="horz" pos="1026" userDrawn="1">
          <p15:clr>
            <a:srgbClr val="FBAE40"/>
          </p15:clr>
        </p15:guide>
        <p15:guide id="9" orient="horz" pos="4201" userDrawn="1">
          <p15:clr>
            <a:srgbClr val="FBAE40"/>
          </p15:clr>
        </p15:guide>
        <p15:guide id="10" orient="horz" pos="3747" userDrawn="1">
          <p15:clr>
            <a:srgbClr val="FBAE40"/>
          </p15:clr>
        </p15:guide>
        <p15:guide id="11" orient="horz" pos="3861" userDrawn="1">
          <p15:clr>
            <a:srgbClr val="FBAE40"/>
          </p15:clr>
        </p15:guide>
        <p15:guide id="12" orient="horz" pos="1593" userDrawn="1">
          <p15:clr>
            <a:srgbClr val="FBAE40"/>
          </p15:clr>
        </p15:guide>
        <p15:guide id="13" pos="4974" userDrawn="1">
          <p15:clr>
            <a:srgbClr val="FBAE40"/>
          </p15:clr>
        </p15:guide>
        <p15:guide id="14" orient="horz" pos="1706" userDrawn="1">
          <p15:clr>
            <a:srgbClr val="FBAE40"/>
          </p15:clr>
        </p15:guide>
        <p15:guide id="16" orient="horz" pos="2614" userDrawn="1">
          <p15:clr>
            <a:srgbClr val="FBAE40"/>
          </p15:clr>
        </p15:guide>
        <p15:guide id="17" orient="horz" pos="3095" userDrawn="1">
          <p15:clr>
            <a:srgbClr val="FBAE40"/>
          </p15:clr>
        </p15:guide>
        <p15:guide id="19" orient="horz" pos="1139" userDrawn="1">
          <p15:clr>
            <a:srgbClr val="FBAE40"/>
          </p15:clr>
        </p15:guide>
        <p15:guide id="20" orient="horz" pos="2500" userDrawn="1">
          <p15:clr>
            <a:srgbClr val="FBAE40"/>
          </p15:clr>
        </p15:guide>
        <p15:guide id="22" orient="horz" pos="232" userDrawn="1">
          <p15:clr>
            <a:srgbClr val="FBAE40"/>
          </p15:clr>
        </p15:guide>
        <p15:guide id="23"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tekst, grafiek of tabel  volle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5" y="368300"/>
            <a:ext cx="10801350" cy="990600"/>
          </a:xfrm>
        </p:spPr>
        <p:txBody>
          <a:bodyPr/>
          <a:lstStyle>
            <a:lvl1pPr>
              <a:defRPr/>
            </a:lvl1pPr>
          </a:lstStyle>
          <a:p>
            <a:r>
              <a:rPr lang="nl-NL"/>
              <a:t>Kop2 boven tekst of bijvoorbeeld een grafiek over de volle breedte</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a:lstStyle>
            <a:lvl1pPr marL="230400" indent="-230400">
              <a:buFont typeface="Arial" panose="020B0604020202020204" pitchFamily="34" charset="0"/>
              <a:buChar char="•"/>
              <a:defRPr/>
            </a:lvl1pPr>
            <a:lvl2pPr>
              <a:defRPr/>
            </a:lvl2pPr>
            <a:lvl3pPr>
              <a:defRPr/>
            </a:lvl3pPr>
          </a:lstStyle>
          <a:p>
            <a:pPr lvl="0"/>
            <a:r>
              <a:rPr lang="nl-NL"/>
              <a:t>Tekst kleiner of groter maken? Selecteer alle tekst en klik Ctrl-Shift plus of min. Of ga naar tabblad Start, klik in Lettertype op A^ of Aˇ. Je hele tekst wordt groter of kleiner met behoud van verschillen tussen niveaus.</a:t>
            </a:r>
            <a:br>
              <a:rPr lang="nl-NL"/>
            </a:br>
            <a:r>
              <a:rPr lang="nl-NL"/>
              <a:t>Grafiek of tabel invoegen? Klik op het icoon van de grafiek of tabel. De kleuren van de grafiek zijn al toegankelijk en in de huisstijl. Zie uitlegslide.</a:t>
            </a:r>
          </a:p>
          <a:p>
            <a:pPr lvl="1"/>
            <a:r>
              <a:rPr lang="nl-NL"/>
              <a:t>Tweede niveau</a:t>
            </a:r>
          </a:p>
          <a:p>
            <a:pPr lvl="2"/>
            <a:r>
              <a:rPr lang="nl-NL"/>
              <a:t>Derde niveau</a:t>
            </a:r>
          </a:p>
          <a:p>
            <a:pPr lvl="0"/>
            <a:endParaRPr lang="nl-NL"/>
          </a:p>
        </p:txBody>
      </p:sp>
    </p:spTree>
    <p:extLst>
      <p:ext uri="{BB962C8B-B14F-4D97-AF65-F5344CB8AC3E}">
        <p14:creationId xmlns:p14="http://schemas.microsoft.com/office/powerpoint/2010/main" val="26341499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67" userDrawn="1">
          <p15:clr>
            <a:srgbClr val="FBAE40"/>
          </p15:clr>
        </p15:guide>
        <p15:guide id="10" orient="horz" pos="4201" userDrawn="1">
          <p15:clr>
            <a:srgbClr val="FBAE40"/>
          </p15:clr>
        </p15:guide>
        <p15:guide id="11" orient="horz" pos="3747" userDrawn="1">
          <p15:clr>
            <a:srgbClr val="FBAE40"/>
          </p15:clr>
        </p15:guide>
        <p15:guide id="12" orient="horz" pos="102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tekst 2/3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over twee derde van de volle breedte</a:t>
            </a:r>
          </a:p>
        </p:txBody>
      </p:sp>
      <p:sp>
        <p:nvSpPr>
          <p:cNvPr id="3" name="Tijdelijke aanduiding voor inhoud 2">
            <a:extLst>
              <a:ext uri="{FF2B5EF4-FFF2-40B4-BE49-F238E27FC236}">
                <a16:creationId xmlns:a16="http://schemas.microsoft.com/office/drawing/2014/main" id="{578513C4-F7CF-A967-502E-A5575764B62F}"/>
              </a:ext>
              <a:ext uri="{C183D7F6-B498-43B3-948B-1728B52AA6E4}">
                <adec:decorative xmlns:adec="http://schemas.microsoft.com/office/drawing/2017/decorative" val="0"/>
              </a:ext>
            </a:extLst>
          </p:cNvPr>
          <p:cNvSpPr>
            <a:spLocks noGrp="1"/>
          </p:cNvSpPr>
          <p:nvPr>
            <p:ph idx="1" hasCustomPrompt="1"/>
          </p:nvPr>
        </p:nvSpPr>
        <p:spPr>
          <a:xfrm>
            <a:off x="876299" y="1628775"/>
            <a:ext cx="7199313" cy="4319588"/>
          </a:xfrm>
        </p:spPr>
        <p:txBody>
          <a:bodyPr/>
          <a:lstStyle>
            <a:lvl1pPr>
              <a:defRPr/>
            </a:lvl1pPr>
            <a:lvl3pPr marL="491400" indent="0">
              <a:buNone/>
              <a:defRPr/>
            </a:lvl3pPr>
          </a:lstStyle>
          <a:p>
            <a:pPr lvl="0"/>
            <a:r>
              <a:rPr lang="nl-NL"/>
              <a:t>Tekst kleiner of groter maken? Selecteer alle tekst en klik Ctrl-Shift plus of min. Of ga naar tabblad Start, klik in Lettertype op A^ of Aˇ. Je hele tekst wordt groter of kleiner met behoud van verschillen tussen niveaus. Grafiek of tabel invoegen? Klik op het icoon van de grafiek of tabel. De kleuren van de grafiek zijn al toegankelijk en in de huisstijl. Zie uitlegslide</a:t>
            </a:r>
          </a:p>
          <a:p>
            <a:pPr lvl="1"/>
            <a:r>
              <a:rPr lang="nl-NL"/>
              <a:t>Tweede niveau</a:t>
            </a:r>
          </a:p>
        </p:txBody>
      </p:sp>
    </p:spTree>
    <p:extLst>
      <p:ext uri="{BB962C8B-B14F-4D97-AF65-F5344CB8AC3E}">
        <p14:creationId xmlns:p14="http://schemas.microsoft.com/office/powerpoint/2010/main" val="3064923961"/>
      </p:ext>
    </p:extLst>
  </p:cSld>
  <p:clrMapOvr>
    <a:masterClrMapping/>
  </p:clrMapOvr>
  <p:extLst>
    <p:ext uri="{DCECCB84-F9BA-43D5-87BE-67443E8EF086}">
      <p15:sldGuideLst xmlns:p15="http://schemas.microsoft.com/office/powerpoint/2012/main">
        <p15:guide id="3" pos="438" userDrawn="1">
          <p15:clr>
            <a:srgbClr val="FBAE40"/>
          </p15:clr>
        </p15:guide>
        <p15:guide id="4" pos="7242" userDrawn="1">
          <p15:clr>
            <a:srgbClr val="FBAE40"/>
          </p15:clr>
        </p15:guide>
        <p15:guide id="5" pos="552" userDrawn="1">
          <p15:clr>
            <a:srgbClr val="FBAE40"/>
          </p15:clr>
        </p15:guide>
        <p15:guide id="6" pos="7128" userDrawn="1">
          <p15:clr>
            <a:srgbClr val="FBAE40"/>
          </p15:clr>
        </p15:guide>
        <p15:guide id="7" orient="horz" pos="232" userDrawn="1">
          <p15:clr>
            <a:srgbClr val="FBAE40"/>
          </p15:clr>
        </p15:guide>
        <p15:guide id="8" orient="horz" pos="856" userDrawn="1">
          <p15:clr>
            <a:srgbClr val="FBAE40"/>
          </p15:clr>
        </p15:guide>
        <p15:guide id="10" orient="horz" pos="4201" userDrawn="1">
          <p15:clr>
            <a:srgbClr val="FBAE40"/>
          </p15:clr>
        </p15:guide>
        <p15:guide id="11" orient="horz" pos="3861" userDrawn="1">
          <p15:clr>
            <a:srgbClr val="FBAE40"/>
          </p15:clr>
        </p15:guide>
        <p15:guide id="12" orient="horz" pos="3747" userDrawn="1">
          <p15:clr>
            <a:srgbClr val="FBAE40"/>
          </p15:clr>
        </p15:guide>
        <p15:guide id="13" pos="5087" userDrawn="1">
          <p15:clr>
            <a:srgbClr val="FBAE40"/>
          </p15:clr>
        </p15:guide>
        <p15:guide id="14" orient="horz" pos="102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tekst 2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in 2 doorlopende kolommen</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numCol="2" spcCol="540000"/>
          <a:lstStyle>
            <a:lvl1pPr marL="230400" indent="-230400">
              <a:buFont typeface="Arial" panose="020B0604020202020204" pitchFamily="34" charset="0"/>
              <a:buChar char="•"/>
              <a:defRPr/>
            </a:lvl1pPr>
            <a:lvl2pPr marL="582300" indent="-342900">
              <a:buFont typeface="Arial" panose="020B0604020202020204" pitchFamily="34" charset="0"/>
              <a:buChar char="•"/>
              <a:defRPr/>
            </a:lvl2pPr>
            <a:lvl3pPr marL="491400" indent="0">
              <a:buNone/>
              <a:defRPr/>
            </a:lvl3pPr>
            <a:lvl4pPr marL="743400" indent="0">
              <a:buNone/>
              <a:defRPr/>
            </a:lvl4pPr>
            <a:lvl5pPr marL="995400" indent="0">
              <a:buNone/>
              <a:defRPr/>
            </a:lvl5pPr>
          </a:lstStyle>
          <a:p>
            <a:pPr lvl="0"/>
            <a:r>
              <a:rPr lang="nl-NL"/>
              <a:t>Tekst kleiner of groter maken? Selecteer alle tekst en klik Ctrl-Shift plus of min.</a:t>
            </a:r>
            <a:br>
              <a:rPr lang="nl-NL"/>
            </a:br>
            <a:r>
              <a:rPr lang="nl-NL"/>
              <a:t>Of ga naar tabblad Start, klik in Lettertype op A^ of Aˇ.</a:t>
            </a:r>
            <a:br>
              <a:rPr lang="nl-NL"/>
            </a:br>
            <a:r>
              <a:rPr lang="nl-NL"/>
              <a:t>Je hele tekst wordt groter of kleiner met behoud van verschillen tussen niveaus.</a:t>
            </a:r>
          </a:p>
          <a:p>
            <a:pPr lvl="1"/>
            <a:r>
              <a:rPr lang="nl-NL"/>
              <a:t>Tweede niveau</a:t>
            </a:r>
          </a:p>
          <a:p>
            <a:pPr lvl="0"/>
            <a:br>
              <a:rPr lang="nl-NL"/>
            </a:br>
            <a:endParaRPr lang="nl-NL"/>
          </a:p>
        </p:txBody>
      </p:sp>
    </p:spTree>
    <p:extLst>
      <p:ext uri="{BB962C8B-B14F-4D97-AF65-F5344CB8AC3E}">
        <p14:creationId xmlns:p14="http://schemas.microsoft.com/office/powerpoint/2010/main" val="39539161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232" userDrawn="1">
          <p15:clr>
            <a:srgbClr val="FBAE40"/>
          </p15:clr>
        </p15:guide>
        <p15:guide id="11" orient="horz" pos="4201" userDrawn="1">
          <p15:clr>
            <a:srgbClr val="FBAE40"/>
          </p15:clr>
        </p15:guide>
        <p15:guide id="12" orient="horz" pos="3861" userDrawn="1">
          <p15:clr>
            <a:srgbClr val="FBAE40"/>
          </p15:clr>
        </p15:guide>
        <p15:guide id="13" orient="horz" pos="3747" userDrawn="1">
          <p15:clr>
            <a:srgbClr val="FBAE40"/>
          </p15:clr>
        </p15:guide>
        <p15:guide id="14" orient="horz" pos="856" userDrawn="1">
          <p15:clr>
            <a:srgbClr val="FBAE40"/>
          </p15:clr>
        </p15:guide>
        <p15:guide id="15" orient="horz" pos="102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17F5A-83E8-4C21-C775-6B3C7ED1D337}"/>
              </a:ext>
            </a:extLst>
          </p:cNvPr>
          <p:cNvSpPr>
            <a:spLocks noGrp="1"/>
          </p:cNvSpPr>
          <p:nvPr>
            <p:ph type="title" hasCustomPrompt="1"/>
          </p:nvPr>
        </p:nvSpPr>
        <p:spPr>
          <a:xfrm>
            <a:off x="695325" y="279400"/>
            <a:ext cx="10801350" cy="1079500"/>
          </a:xfrm>
        </p:spPr>
        <p:txBody>
          <a:bodyPr/>
          <a:lstStyle>
            <a:lvl1pPr>
              <a:defRPr/>
            </a:lvl1pPr>
          </a:lstStyle>
          <a:p>
            <a:r>
              <a:rPr lang="nl-NL"/>
              <a:t>Kop2 boven twee losse kolommen of onderdelen</a:t>
            </a:r>
          </a:p>
        </p:txBody>
      </p:sp>
      <p:sp>
        <p:nvSpPr>
          <p:cNvPr id="3" name="Tijdelijke aanduiding voor inhoud 2">
            <a:extLst>
              <a:ext uri="{FF2B5EF4-FFF2-40B4-BE49-F238E27FC236}">
                <a16:creationId xmlns:a16="http://schemas.microsoft.com/office/drawing/2014/main" id="{9436AAF4-AAFB-E104-5517-3A7A1289C162}"/>
              </a:ext>
            </a:extLst>
          </p:cNvPr>
          <p:cNvSpPr>
            <a:spLocks noGrp="1"/>
          </p:cNvSpPr>
          <p:nvPr>
            <p:ph sz="half" idx="1" hasCustomPrompt="1"/>
          </p:nvPr>
        </p:nvSpPr>
        <p:spPr>
          <a:xfrm>
            <a:off x="876300" y="1628775"/>
            <a:ext cx="4949825" cy="4319588"/>
          </a:xfrm>
        </p:spPr>
        <p:txBody>
          <a:bodyPr/>
          <a:lstStyle>
            <a:lvl1pPr>
              <a:defRPr/>
            </a:lvl1pPr>
          </a:lstStyle>
          <a:p>
            <a:pPr lvl="0"/>
            <a:r>
              <a:rPr lang="nl-NL"/>
              <a:t>Tekst kleiner of groter maken? Selecteer alle tekst en klik Ctrl-Shift plus of min. Of ga naar tabblad Start, klik in Lettertype op A^ of Aˇ.</a:t>
            </a:r>
            <a:br>
              <a:rPr lang="nl-NL"/>
            </a:br>
            <a:br>
              <a:rPr lang="nl-NL"/>
            </a:br>
            <a:r>
              <a:rPr lang="nl-NL"/>
              <a:t>Je hele tekst wordt groter of kleiner met behoud van verschillen tussen niveaus.</a:t>
            </a:r>
            <a:br>
              <a:rPr lang="nl-NL"/>
            </a:br>
            <a:endParaRPr lang="nl-NL"/>
          </a:p>
        </p:txBody>
      </p:sp>
      <p:sp>
        <p:nvSpPr>
          <p:cNvPr id="4" name="Tijdelijke aanduiding voor inhoud 3">
            <a:extLst>
              <a:ext uri="{FF2B5EF4-FFF2-40B4-BE49-F238E27FC236}">
                <a16:creationId xmlns:a16="http://schemas.microsoft.com/office/drawing/2014/main" id="{0CDCE9E4-0276-A0A4-5991-3F4C8C3F97BE}"/>
              </a:ext>
            </a:extLst>
          </p:cNvPr>
          <p:cNvSpPr>
            <a:spLocks noGrp="1"/>
          </p:cNvSpPr>
          <p:nvPr>
            <p:ph sz="half" idx="2" hasCustomPrompt="1"/>
          </p:nvPr>
        </p:nvSpPr>
        <p:spPr>
          <a:xfrm>
            <a:off x="6365875" y="1628775"/>
            <a:ext cx="4949826" cy="4319588"/>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Gebruik voor afbeeldingen of video’s in de huisstijl een andere slide, die met twee helften met de titel en eventueel tekst in de ene helft.</a:t>
            </a:r>
            <a:br>
              <a:rPr lang="nl-NL"/>
            </a:br>
            <a:r>
              <a:rPr lang="nl-NL"/>
              <a:t>Grafieken en diagrammen zijn niet vanzelf toegankelijk.</a:t>
            </a:r>
            <a:br>
              <a:rPr lang="nl-NL"/>
            </a:br>
            <a:r>
              <a:rPr lang="nl-NL"/>
              <a:t>Zie uitlegslide.</a:t>
            </a:r>
          </a:p>
        </p:txBody>
      </p:sp>
    </p:spTree>
    <p:extLst>
      <p:ext uri="{BB962C8B-B14F-4D97-AF65-F5344CB8AC3E}">
        <p14:creationId xmlns:p14="http://schemas.microsoft.com/office/powerpoint/2010/main" val="3373136719"/>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176" userDrawn="1">
          <p15:clr>
            <a:srgbClr val="FBAE40"/>
          </p15:clr>
        </p15:guide>
        <p15:guide id="10"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6" orient="horz" pos="102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boven een vergelijking van twee teksten, grafieken of afbeeldingen</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Ondertitel of tekst</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br>
              <a:rPr lang="nl-NL"/>
            </a:br>
            <a:r>
              <a:rPr lang="nl-NL"/>
              <a:t>Grafiek of tabel invoegen?</a:t>
            </a:r>
            <a:br>
              <a:rPr lang="nl-NL"/>
            </a:br>
            <a:r>
              <a:rPr lang="nl-NL"/>
              <a:t>Klik op het icoon van de grafiek of tabel. De kleuren zijn al toegankelijk en in de huisstijl. Zie uitlegslides.</a:t>
            </a:r>
          </a:p>
        </p:txBody>
      </p:sp>
      <p:sp>
        <p:nvSpPr>
          <p:cNvPr id="6" name="Tijdelijke aanduiding voor inhoud 5">
            <a:extLst>
              <a:ext uri="{FF2B5EF4-FFF2-40B4-BE49-F238E27FC236}">
                <a16:creationId xmlns:a16="http://schemas.microsoft.com/office/drawing/2014/main" id="{F10CF5E5-14B5-328B-6718-51ADB060E40F}"/>
              </a:ext>
            </a:extLst>
          </p:cNvPr>
          <p:cNvSpPr>
            <a:spLocks noGrp="1"/>
          </p:cNvSpPr>
          <p:nvPr>
            <p:ph sz="quarter" idx="4" hasCustomPrompt="1"/>
          </p:nvPr>
        </p:nvSpPr>
        <p:spPr>
          <a:xfrm>
            <a:off x="6275389" y="2438400"/>
            <a:ext cx="5040312"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Tabellen zijn toegankelijk als ze eenvoudig zijn. Dus 1 onderwerp, weinig rijen en kolommen met een </a:t>
            </a:r>
            <a:r>
              <a:rPr lang="nl-NL" err="1"/>
              <a:t>koprij</a:t>
            </a:r>
            <a:r>
              <a:rPr lang="nl-NL"/>
              <a:t> en/of kopkolom.</a:t>
            </a:r>
            <a:br>
              <a:rPr lang="nl-NL"/>
            </a:br>
            <a:br>
              <a:rPr lang="nl-NL"/>
            </a:br>
            <a:r>
              <a:rPr lang="nl-NL"/>
              <a:t>Grafieken en diagrammen zijn niet vanzelf toegankelijk.</a:t>
            </a:r>
            <a:br>
              <a:rPr lang="nl-NL"/>
            </a:br>
            <a:r>
              <a:rPr lang="nl-NL"/>
              <a:t>Zie uitlegslides.</a:t>
            </a:r>
          </a:p>
        </p:txBody>
      </p:sp>
    </p:spTree>
    <p:extLst>
      <p:ext uri="{BB962C8B-B14F-4D97-AF65-F5344CB8AC3E}">
        <p14:creationId xmlns:p14="http://schemas.microsoft.com/office/powerpoint/2010/main" val="236730968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ekop Algemeen">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55BC459B-2C8D-9B05-D0BC-2D88D0769B8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Algemeen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F31344A7-423C-8954-71DB-213185C547E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5987741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ekop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9DA5FA6-CDF6-D7AE-367A-F016198476E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Digitaal</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9" name="Tijdelijke aanduiding voor afbeelding 8">
            <a:extLst>
              <a:ext uri="{FF2B5EF4-FFF2-40B4-BE49-F238E27FC236}">
                <a16:creationId xmlns:a16="http://schemas.microsoft.com/office/drawing/2014/main" id="{4ADBEC4F-D666-FBCE-3C57-E492DFE6A1C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66450620"/>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4" orient="horz" pos="424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ekop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B4B1418-D8B9-3B6A-4F7D-EB8F838149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binnen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0908A587-F408-8D63-B8F7-BA8EAAADEEF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064528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ekop Fys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052E2D5-2619-B686-8BCE-0EB003A2F1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buiten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6" name="Tijdelijke aanduiding voor afbeelding 5">
            <a:extLst>
              <a:ext uri="{FF2B5EF4-FFF2-40B4-BE49-F238E27FC236}">
                <a16:creationId xmlns:a16="http://schemas.microsoft.com/office/drawing/2014/main" id="{677708E6-B27E-8FF4-AA75-1110C1916C2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82265533"/>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ekop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7D0B132-7DCA-8227-D034-262F842551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Gebruikersonderzoek</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732E91C4-F458-C1E3-EDAE-8F4F8817462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641761437"/>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9"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ekop leeg, zelf invull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10801349" cy="990600"/>
          </a:xfrm>
        </p:spPr>
        <p:txBody>
          <a:bodyPr anchor="b"/>
          <a:lstStyle>
            <a:lvl1pPr>
              <a:defRPr sz="3600">
                <a:solidFill>
                  <a:schemeClr val="tx1"/>
                </a:solidFill>
              </a:defRPr>
            </a:lvl1pPr>
          </a:lstStyle>
          <a:p>
            <a:r>
              <a:rPr lang="nl-NL"/>
              <a:t>Kop1 van sectie of hoofdstuk met een afbeelding, slogan of alleen een titel of zo</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6" y="1628775"/>
            <a:ext cx="5040674" cy="18002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inhoud 4">
            <a:extLst>
              <a:ext uri="{FF2B5EF4-FFF2-40B4-BE49-F238E27FC236}">
                <a16:creationId xmlns:a16="http://schemas.microsoft.com/office/drawing/2014/main" id="{A67CFE73-8A33-997D-2D11-DDD0F4660299}"/>
              </a:ext>
            </a:extLst>
          </p:cNvPr>
          <p:cNvSpPr>
            <a:spLocks noGrp="1"/>
          </p:cNvSpPr>
          <p:nvPr>
            <p:ph sz="quarter" idx="10" hasCustomPrompt="1"/>
          </p:nvPr>
        </p:nvSpPr>
        <p:spPr>
          <a:xfrm>
            <a:off x="6101564" y="1628775"/>
            <a:ext cx="6090436" cy="4319588"/>
          </a:xfrm>
        </p:spPr>
        <p:txBody>
          <a:bodyPr/>
          <a:lstStyle>
            <a:lvl1pPr marL="0" indent="0">
              <a:buNone/>
              <a:defRPr sz="1200"/>
            </a:lvl1pPr>
          </a:lstStyle>
          <a:p>
            <a:pPr lvl="0"/>
            <a:r>
              <a:rPr lang="nl-NL"/>
              <a:t>Gebruik dit vak voor een afbeelding in lijn met de huisstijl met tekst links (de ondertitel) en afbeeldingen op de rechterhelft.</a:t>
            </a:r>
            <a:br>
              <a:rPr lang="nl-NL"/>
            </a:br>
            <a:r>
              <a:rPr lang="nl-NL"/>
              <a:t>Gebruik altijd een sectieslide en nooit andere slides voor de start van een sectie of hoofdstuk. PowerPoint maakt van die andere slide-titels geen Kop-1 en dan klopt de koppenstructuur niet.</a:t>
            </a:r>
            <a:br>
              <a:rPr lang="nl-NL"/>
            </a:br>
            <a:r>
              <a:rPr lang="nl-NL"/>
              <a:t>Vergeet de alt-tekst niet!</a:t>
            </a:r>
          </a:p>
        </p:txBody>
      </p:sp>
      <p:sp>
        <p:nvSpPr>
          <p:cNvPr id="6" name="Tijdelijke aanduiding voor afbeelding 5">
            <a:extLst>
              <a:ext uri="{FF2B5EF4-FFF2-40B4-BE49-F238E27FC236}">
                <a16:creationId xmlns:a16="http://schemas.microsoft.com/office/drawing/2014/main" id="{8B64C631-A79F-9BCD-37C9-8A8F056B3285}"/>
              </a:ext>
            </a:extLst>
          </p:cNvPr>
          <p:cNvSpPr>
            <a:spLocks noGrp="1"/>
          </p:cNvSpPr>
          <p:nvPr>
            <p:ph type="pic" sz="quarter" idx="11" hasCustomPrompt="1"/>
          </p:nvPr>
        </p:nvSpPr>
        <p:spPr>
          <a:xfrm>
            <a:off x="8940801" y="6092825"/>
            <a:ext cx="2916237"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827194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11" orient="horz" pos="3747" userDrawn="1">
          <p15:clr>
            <a:srgbClr val="FBAE40"/>
          </p15:clr>
        </p15:guide>
        <p15:guide id="12" pos="7469" userDrawn="1">
          <p15:clr>
            <a:srgbClr val="FBAE40"/>
          </p15:clr>
        </p15:guide>
        <p15:guide id="13" pos="3613" userDrawn="1">
          <p15:clr>
            <a:srgbClr val="FBAE40"/>
          </p15:clr>
        </p15:guide>
        <p15:guide id="14" pos="5632" userDrawn="1">
          <p15:clr>
            <a:srgbClr val="FBAE40"/>
          </p15:clr>
        </p15:guide>
        <p15:guide id="15" orient="horz" pos="4201" userDrawn="1">
          <p15:clr>
            <a:srgbClr val="FBAE40"/>
          </p15:clr>
        </p15:guide>
        <p15:guide id="16" orient="horz" pos="3838" userDrawn="1">
          <p15:clr>
            <a:srgbClr val="FBAE40"/>
          </p15:clr>
        </p15:guide>
        <p15:guide id="17" orient="horz" pos="4247" userDrawn="1">
          <p15:clr>
            <a:srgbClr val="FBAE40"/>
          </p15:clr>
        </p15:guide>
        <p15:guide id="18" orient="horz" pos="386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fbeelding op hele slid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bg1"/>
          </a:solidFill>
        </p:spPr>
        <p:txBody>
          <a:bodyPr lIns="180000" tIns="108000" rIns="180000" anchor="ctr"/>
          <a:lstStyle>
            <a:lvl1pPr>
              <a:defRPr sz="2800"/>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p:spPr>
        <p:txBody>
          <a:bodyPr lIns="180000" tIns="180000" rIns="180000" bIns="180000"/>
          <a:lstStyle>
            <a:lvl1pPr marL="0" indent="0">
              <a:buNone/>
              <a:defRPr sz="1400">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1114786170"/>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Afbeelding op hele slide, wit">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tx1"/>
          </a:solidFill>
        </p:spPr>
        <p:txBody>
          <a:bodyPr lIns="180000" tIns="108000" rIns="180000" anchor="ctr"/>
          <a:lstStyle>
            <a:lvl1pPr>
              <a:defRPr sz="2800">
                <a:solidFill>
                  <a:schemeClr val="bg1"/>
                </a:solidFill>
              </a:defRPr>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a:solidFill>
            <a:schemeClr val="tx1"/>
          </a:solidFill>
        </p:spPr>
        <p:txBody>
          <a:bodyPr lIns="180000" tIns="180000" rIns="180000" bIns="180000"/>
          <a:lstStyle>
            <a:lvl1pPr marL="0" indent="0">
              <a:buNone/>
              <a:defRPr sz="1400">
                <a:solidFill>
                  <a:schemeClr val="bg1"/>
                </a:solidFill>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64987354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ppenplan zonder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boven een stappenplan zonder cijfers</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582081809"/>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ppenplan, stap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1</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00601760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ppenplan, stap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2</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6837030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ppenplan, stap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3</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88743615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ppenplan, met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met cijfers</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marge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93455376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eks va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a:lvl1pPr>
          </a:lstStyle>
          <a:p>
            <a:r>
              <a:rPr lang="nl-NL"/>
              <a:t>Kop2 boven reeks van 2</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1416000" y="3715602"/>
            <a:ext cx="4319638"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6456362" y="3703798"/>
            <a:ext cx="4319638" cy="2249487"/>
          </a:xfrm>
        </p:spPr>
        <p:txBody>
          <a:bodyPr/>
          <a:lstStyle>
            <a:lvl1pPr marL="0" indent="0">
              <a:buNone/>
              <a:defRPr sz="1800"/>
            </a:lvl1pPr>
          </a:lstStyle>
          <a:p>
            <a:pPr lvl="0"/>
            <a:r>
              <a:rPr lang="nl-NL"/>
              <a:t>Element 2</a:t>
            </a:r>
          </a:p>
        </p:txBody>
      </p:sp>
    </p:spTree>
    <p:extLst>
      <p:ext uri="{BB962C8B-B14F-4D97-AF65-F5344CB8AC3E}">
        <p14:creationId xmlns:p14="http://schemas.microsoft.com/office/powerpoint/2010/main" val="3477943589"/>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067" userDrawn="1">
          <p15:clr>
            <a:srgbClr val="FBAE40"/>
          </p15:clr>
        </p15:guide>
        <p15:guide id="10" pos="3613"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892" userDrawn="1">
          <p15:clr>
            <a:srgbClr val="FBAE40"/>
          </p15:clr>
        </p15:guide>
        <p15:guide id="24" pos="6788" userDrawn="1">
          <p15:clr>
            <a:srgbClr val="FBAE40"/>
          </p15:clr>
        </p15:guide>
        <p15:guide id="25" pos="2253" userDrawn="1">
          <p15:clr>
            <a:srgbClr val="FBAE40"/>
          </p15:clr>
        </p15:guide>
        <p15:guide id="26" pos="5427" userDrawn="1">
          <p15:clr>
            <a:srgbClr val="FBAE40"/>
          </p15:clr>
        </p15:guide>
        <p15:guide id="27" pos="6108" userDrawn="1">
          <p15:clr>
            <a:srgbClr val="FBAE40"/>
          </p15:clr>
        </p15:guide>
        <p15:guide id="28" pos="4747" userDrawn="1">
          <p15:clr>
            <a:srgbClr val="FBAE40"/>
          </p15:clr>
        </p15:guide>
        <p15:guide id="29" pos="2933" userDrawn="1">
          <p15:clr>
            <a:srgbClr val="FBAE40"/>
          </p15:clr>
        </p15:guide>
        <p15:guide id="30" pos="1232" userDrawn="1">
          <p15:clr>
            <a:srgbClr val="FBAE40"/>
          </p15:clr>
        </p15:guide>
        <p15:guide id="31" orient="horz" pos="2699" userDrawn="1">
          <p15:clr>
            <a:srgbClr val="FBAE40"/>
          </p15:clr>
        </p15:guide>
        <p15:guide id="32" orient="horz" pos="3379" userDrawn="1">
          <p15:clr>
            <a:srgbClr val="FBAE40"/>
          </p15:clr>
        </p15:guide>
        <p15:guide id="33" pos="1572" userDrawn="1">
          <p15:clr>
            <a:srgbClr val="FBAE40"/>
          </p15:clr>
        </p15:guide>
        <p15:guide id="34" pos="1912" userDrawn="1">
          <p15:clr>
            <a:srgbClr val="FBAE40"/>
          </p15:clr>
        </p15:guide>
        <p15:guide id="35" pos="2593" userDrawn="1">
          <p15:clr>
            <a:srgbClr val="FBAE40"/>
          </p15:clr>
        </p15:guide>
        <p15:guide id="36" pos="3273" userDrawn="1">
          <p15:clr>
            <a:srgbClr val="FBAE40"/>
          </p15:clr>
        </p15:guide>
        <p15:guide id="37" pos="4407" userDrawn="1">
          <p15:clr>
            <a:srgbClr val="FBAE40"/>
          </p15:clr>
        </p15:guide>
        <p15:guide id="38" pos="5087" userDrawn="1">
          <p15:clr>
            <a:srgbClr val="FBAE40"/>
          </p15:clr>
        </p15:guide>
        <p15:guide id="39" pos="5768" userDrawn="1">
          <p15:clr>
            <a:srgbClr val="FBAE40"/>
          </p15:clr>
        </p15:guide>
        <p15:guide id="40" pos="6448" userDrawn="1">
          <p15:clr>
            <a:srgbClr val="FBAE40"/>
          </p15:clr>
        </p15:guide>
        <p15:guide id="41" pos="7128" userDrawn="1">
          <p15:clr>
            <a:srgbClr val="FBAE40"/>
          </p15:clr>
        </p15:guide>
        <p15:guide id="42" orient="horz" pos="4201" userDrawn="1">
          <p15:clr>
            <a:srgbClr val="FBAE40"/>
          </p15:clr>
        </p15:guide>
        <p15:guide id="43" orient="horz" pos="221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eks va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a:xfrm>
            <a:off x="695324" y="368299"/>
            <a:ext cx="10801351" cy="990601"/>
          </a:xfrm>
        </p:spPr>
        <p:txBody>
          <a:bodyPr/>
          <a:lstStyle>
            <a:lvl1pPr>
              <a:defRPr/>
            </a:lvl1pPr>
          </a:lstStyle>
          <a:p>
            <a:r>
              <a:rPr lang="nl-NL"/>
              <a:t>Kop2 boven reeks van 3</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8611" y="3698876"/>
            <a:ext cx="2877414" cy="2239168"/>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4656139" y="3698876"/>
            <a:ext cx="2879723" cy="2239168"/>
          </a:xfrm>
        </p:spPr>
        <p:txBody>
          <a:bodyPr/>
          <a:lstStyle>
            <a:lvl1pPr marL="0" indent="0">
              <a:buNone/>
              <a:defRPr sz="1800"/>
            </a:lvl1pPr>
          </a:lstStyle>
          <a:p>
            <a:pPr lvl="0"/>
            <a:r>
              <a:rPr lang="nl-NL"/>
              <a:t>Element 2</a:t>
            </a:r>
          </a:p>
        </p:txBody>
      </p:sp>
      <p:sp>
        <p:nvSpPr>
          <p:cNvPr id="4" name="Tijdelijke aanduiding voor inhoud 3">
            <a:extLst>
              <a:ext uri="{FF2B5EF4-FFF2-40B4-BE49-F238E27FC236}">
                <a16:creationId xmlns:a16="http://schemas.microsoft.com/office/drawing/2014/main" id="{7C98B0EE-9B23-A77F-EEC7-16AB43FADD0A}"/>
              </a:ext>
            </a:extLst>
          </p:cNvPr>
          <p:cNvSpPr>
            <a:spLocks noGrp="1"/>
          </p:cNvSpPr>
          <p:nvPr>
            <p:ph sz="quarter" idx="18" hasCustomPrompt="1"/>
          </p:nvPr>
        </p:nvSpPr>
        <p:spPr>
          <a:xfrm>
            <a:off x="8435977" y="3698875"/>
            <a:ext cx="2879723" cy="2239169"/>
          </a:xfrm>
        </p:spPr>
        <p:txBody>
          <a:bodyPr/>
          <a:lstStyle>
            <a:lvl1pPr marL="0" indent="0">
              <a:buNone/>
              <a:defRPr sz="1800"/>
            </a:lvl1pPr>
          </a:lstStyle>
          <a:p>
            <a:pPr lvl="0"/>
            <a:r>
              <a:rPr lang="nl-NL"/>
              <a:t>Element 3</a:t>
            </a:r>
          </a:p>
        </p:txBody>
      </p:sp>
    </p:spTree>
    <p:extLst>
      <p:ext uri="{BB962C8B-B14F-4D97-AF65-F5344CB8AC3E}">
        <p14:creationId xmlns:p14="http://schemas.microsoft.com/office/powerpoint/2010/main" val="576627406"/>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265" userDrawn="1">
          <p15:clr>
            <a:srgbClr val="FBAE40"/>
          </p15:clr>
        </p15:guide>
        <p15:guide id="10" pos="3386" userDrawn="1">
          <p15:clr>
            <a:srgbClr val="FBAE40"/>
          </p15:clr>
        </p15:guide>
        <p15:guide id="14" orient="horz" pos="2330" userDrawn="1">
          <p15:clr>
            <a:srgbClr val="FBAE40"/>
          </p15:clr>
        </p15:guide>
        <p15:guide id="16" orient="horz" pos="232" userDrawn="1">
          <p15:clr>
            <a:srgbClr val="FBAE40"/>
          </p15:clr>
        </p15:guide>
        <p15:guide id="17" orient="horz" pos="85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459" userDrawn="1">
          <p15:clr>
            <a:srgbClr val="FBAE40"/>
          </p15:clr>
        </p15:guide>
        <p15:guide id="25" pos="2366" userDrawn="1">
          <p15:clr>
            <a:srgbClr val="FBAE40"/>
          </p15:clr>
        </p15:guide>
        <p15:guide id="26" pos="5314" userDrawn="1">
          <p15:clr>
            <a:srgbClr val="FBAE40"/>
          </p15:clr>
        </p15:guide>
        <p15:guide id="27" pos="6221" userDrawn="1">
          <p15:clr>
            <a:srgbClr val="FBAE40"/>
          </p15:clr>
        </p15:guide>
        <p15:guide id="28" pos="4747" userDrawn="1">
          <p15:clr>
            <a:srgbClr val="FBAE40"/>
          </p15:clr>
        </p15:guide>
        <p15:guide id="29" pos="2933" userDrawn="1">
          <p15:clr>
            <a:srgbClr val="FBAE40"/>
          </p15:clr>
        </p15:guide>
        <p15:guide id="30" pos="1912" userDrawn="1">
          <p15:clr>
            <a:srgbClr val="FBAE40"/>
          </p15:clr>
        </p15:guide>
        <p15:guide id="31" pos="7128" userDrawn="1">
          <p15:clr>
            <a:srgbClr val="FBAE40"/>
          </p15:clr>
        </p15:guide>
        <p15:guide id="32" pos="1005" userDrawn="1">
          <p15:clr>
            <a:srgbClr val="FBAE40"/>
          </p15:clr>
        </p15:guide>
        <p15:guide id="33" orient="horz" pos="2699" userDrawn="1">
          <p15:clr>
            <a:srgbClr val="FBAE40"/>
          </p15:clr>
        </p15:guide>
        <p15:guide id="34" orient="horz" pos="3379" userDrawn="1">
          <p15:clr>
            <a:srgbClr val="FBAE40"/>
          </p15:clr>
        </p15:guide>
        <p15:guide id="35" pos="5768" userDrawn="1">
          <p15:clr>
            <a:srgbClr val="FBAE40"/>
          </p15:clr>
        </p15:guide>
        <p15:guide id="36" pos="6675" userDrawn="1">
          <p15:clr>
            <a:srgbClr val="FBAE40"/>
          </p15:clr>
        </p15:guide>
        <p15:guide id="37" orient="horz" pos="4201" userDrawn="1">
          <p15:clr>
            <a:srgbClr val="FBAE40"/>
          </p15:clr>
        </p15:guide>
        <p15:guide id="38" orient="horz" pos="2217" userDrawn="1">
          <p15:clr>
            <a:srgbClr val="FBAE40"/>
          </p15:clr>
        </p15:guide>
        <p15:guide id="39" orient="horz" pos="102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eks van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sz="3600"/>
            </a:lvl1pPr>
          </a:lstStyle>
          <a:p>
            <a:r>
              <a:rPr lang="nl-NL"/>
              <a:t>Kop2 boven reeks van 4</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4"/>
          </a:xfrm>
        </p:spPr>
        <p:txBody>
          <a:bodyPr/>
          <a:lstStyle>
            <a:lvl1pPr>
              <a:defRPr sz="2400"/>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6300" y="3715601"/>
            <a:ext cx="2339975"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3576638" y="3698874"/>
            <a:ext cx="2339975" cy="2249487"/>
          </a:xfrm>
        </p:spPr>
        <p:txBody>
          <a:bodyPr/>
          <a:lstStyle>
            <a:lvl1pPr marL="0" indent="0">
              <a:buNone/>
              <a:defRPr sz="1800"/>
            </a:lvl1pPr>
          </a:lstStyle>
          <a:p>
            <a:pPr lvl="0"/>
            <a:r>
              <a:rPr lang="nl-NL"/>
              <a:t>Element 2</a:t>
            </a:r>
          </a:p>
        </p:txBody>
      </p:sp>
      <p:sp>
        <p:nvSpPr>
          <p:cNvPr id="11" name="Tijdelijke aanduiding voor inhoud 10">
            <a:extLst>
              <a:ext uri="{FF2B5EF4-FFF2-40B4-BE49-F238E27FC236}">
                <a16:creationId xmlns:a16="http://schemas.microsoft.com/office/drawing/2014/main" id="{E6B8404B-E64A-2A01-4FC7-4E8FBC3D3242}"/>
              </a:ext>
            </a:extLst>
          </p:cNvPr>
          <p:cNvSpPr>
            <a:spLocks noGrp="1"/>
          </p:cNvSpPr>
          <p:nvPr>
            <p:ph sz="quarter" idx="15" hasCustomPrompt="1"/>
          </p:nvPr>
        </p:nvSpPr>
        <p:spPr>
          <a:xfrm>
            <a:off x="6275388" y="3698875"/>
            <a:ext cx="2339975" cy="2249488"/>
          </a:xfrm>
        </p:spPr>
        <p:txBody>
          <a:bodyPr/>
          <a:lstStyle>
            <a:lvl1pPr marL="0" indent="0">
              <a:buNone/>
              <a:defRPr sz="1800"/>
            </a:lvl1pPr>
          </a:lstStyle>
          <a:p>
            <a:pPr lvl="0"/>
            <a:r>
              <a:rPr lang="nl-NL"/>
              <a:t>Element 3</a:t>
            </a:r>
          </a:p>
        </p:txBody>
      </p:sp>
      <p:sp>
        <p:nvSpPr>
          <p:cNvPr id="13" name="Tijdelijke aanduiding voor inhoud 12">
            <a:extLst>
              <a:ext uri="{FF2B5EF4-FFF2-40B4-BE49-F238E27FC236}">
                <a16:creationId xmlns:a16="http://schemas.microsoft.com/office/drawing/2014/main" id="{B7669E0D-3B27-94F4-3E71-A9C2A7FF7994}"/>
              </a:ext>
            </a:extLst>
          </p:cNvPr>
          <p:cNvSpPr>
            <a:spLocks noGrp="1"/>
          </p:cNvSpPr>
          <p:nvPr>
            <p:ph sz="quarter" idx="16" hasCustomPrompt="1"/>
          </p:nvPr>
        </p:nvSpPr>
        <p:spPr>
          <a:xfrm>
            <a:off x="8975725" y="3698875"/>
            <a:ext cx="2339975" cy="2249486"/>
          </a:xfrm>
        </p:spPr>
        <p:txBody>
          <a:bodyPr/>
          <a:lstStyle>
            <a:lvl1pPr marL="0" indent="0">
              <a:buNone/>
              <a:defRPr sz="1800"/>
            </a:lvl1pPr>
          </a:lstStyle>
          <a:p>
            <a:pPr lvl="0"/>
            <a:r>
              <a:rPr lang="nl-NL"/>
              <a:t>Element 4</a:t>
            </a:r>
          </a:p>
        </p:txBody>
      </p:sp>
    </p:spTree>
    <p:extLst>
      <p:ext uri="{BB962C8B-B14F-4D97-AF65-F5344CB8AC3E}">
        <p14:creationId xmlns:p14="http://schemas.microsoft.com/office/powerpoint/2010/main" val="1407005803"/>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6" pos="2026" userDrawn="1">
          <p15:clr>
            <a:srgbClr val="FBAE40"/>
          </p15:clr>
        </p15:guide>
        <p15:guide id="7" pos="2139" userDrawn="1">
          <p15:clr>
            <a:srgbClr val="FBAE40"/>
          </p15:clr>
        </p15:guide>
        <p15:guide id="8" pos="2253" userDrawn="1">
          <p15:clr>
            <a:srgbClr val="FBAE40"/>
          </p15:clr>
        </p15:guide>
        <p15:guide id="9" pos="3953" userDrawn="1">
          <p15:clr>
            <a:srgbClr val="FBAE40"/>
          </p15:clr>
        </p15:guide>
        <p15:guide id="10" pos="3727" userDrawn="1">
          <p15:clr>
            <a:srgbClr val="FBAE40"/>
          </p15:clr>
        </p15:guide>
        <p15:guide id="11" pos="5541" userDrawn="1">
          <p15:clr>
            <a:srgbClr val="FBAE40"/>
          </p15:clr>
        </p15:guide>
        <p15:guide id="12" pos="5427" userDrawn="1">
          <p15:clr>
            <a:srgbClr val="FBAE40"/>
          </p15:clr>
        </p15:guide>
        <p15:guide id="13" pos="5654"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289" userDrawn="1">
          <p15:clr>
            <a:srgbClr val="FBAE40"/>
          </p15:clr>
        </p15:guide>
        <p15:guide id="22" pos="2990" userDrawn="1">
          <p15:clr>
            <a:srgbClr val="FBAE40"/>
          </p15:clr>
        </p15:guide>
        <p15:guide id="23" pos="4690" userDrawn="1">
          <p15:clr>
            <a:srgbClr val="FBAE40"/>
          </p15:clr>
        </p15:guide>
        <p15:guide id="24" pos="6391" userDrawn="1">
          <p15:clr>
            <a:srgbClr val="FBAE40"/>
          </p15:clr>
        </p15:guide>
        <p15:guide id="25" orient="horz" pos="4201" userDrawn="1">
          <p15:clr>
            <a:srgbClr val="FBAE40"/>
          </p15:clr>
        </p15:guide>
        <p15:guide id="26" pos="7128" userDrawn="1">
          <p15:clr>
            <a:srgbClr val="FBAE40"/>
          </p15:clr>
        </p15:guide>
        <p15:guide id="27" pos="920" userDrawn="1">
          <p15:clr>
            <a:srgbClr val="FBAE40"/>
          </p15:clr>
        </p15:guide>
        <p15:guide id="28" pos="1657" userDrawn="1">
          <p15:clr>
            <a:srgbClr val="FBAE40"/>
          </p15:clr>
        </p15:guide>
        <p15:guide id="29" pos="2621" userDrawn="1">
          <p15:clr>
            <a:srgbClr val="FBAE40"/>
          </p15:clr>
        </p15:guide>
        <p15:guide id="30" pos="3358" userDrawn="1">
          <p15:clr>
            <a:srgbClr val="FBAE40"/>
          </p15:clr>
        </p15:guide>
        <p15:guide id="31" pos="4322" userDrawn="1">
          <p15:clr>
            <a:srgbClr val="FBAE40"/>
          </p15:clr>
        </p15:guide>
        <p15:guide id="32" pos="5059" userDrawn="1">
          <p15:clr>
            <a:srgbClr val="FBAE40"/>
          </p15:clr>
        </p15:guide>
        <p15:guide id="33" pos="6023" userDrawn="1">
          <p15:clr>
            <a:srgbClr val="FBAE40"/>
          </p15:clr>
        </p15:guide>
        <p15:guide id="34" pos="6760" userDrawn="1">
          <p15:clr>
            <a:srgbClr val="FBAE40"/>
          </p15:clr>
        </p15:guide>
        <p15:guide id="35" orient="horz" pos="2699" userDrawn="1">
          <p15:clr>
            <a:srgbClr val="FBAE40"/>
          </p15:clr>
        </p15:guide>
        <p15:guide id="36" orient="horz" pos="3379" userDrawn="1">
          <p15:clr>
            <a:srgbClr val="FBAE40"/>
          </p15:clr>
        </p15:guide>
        <p15:guide id="37" orient="horz" pos="22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B050A3-CB8A-F617-E230-1098E8F4BDE6}"/>
              </a:ext>
            </a:extLst>
          </p:cNvPr>
          <p:cNvSpPr>
            <a:spLocks noGrp="1"/>
          </p:cNvSpPr>
          <p:nvPr>
            <p:ph type="title" hasCustomPrompt="1"/>
          </p:nvPr>
        </p:nvSpPr>
        <p:spPr>
          <a:xfrm>
            <a:off x="695325" y="2168524"/>
            <a:ext cx="4860926" cy="2520951"/>
          </a:xfrm>
        </p:spPr>
        <p:txBody>
          <a:bodyPr anchor="ctr"/>
          <a:lstStyle>
            <a:lvl1pPr>
              <a:defRPr sz="3200"/>
            </a:lvl1pPr>
          </a:lstStyle>
          <a:p>
            <a:r>
              <a:rPr lang="nl-NL"/>
              <a:t>Kop2 bij afbeelding. Zonder tekst, dus alt-tekst verplicht bij afbeelding. Er is een ander slide met tekst.</a:t>
            </a:r>
          </a:p>
        </p:txBody>
      </p:sp>
      <p:sp>
        <p:nvSpPr>
          <p:cNvPr id="7" name="Tijdelijke aanduiding voor afbeelding 6">
            <a:extLst>
              <a:ext uri="{FF2B5EF4-FFF2-40B4-BE49-F238E27FC236}">
                <a16:creationId xmlns:a16="http://schemas.microsoft.com/office/drawing/2014/main" id="{0990D554-BAED-F34C-2367-A25543C955CC}"/>
              </a:ext>
            </a:extLst>
          </p:cNvPr>
          <p:cNvSpPr>
            <a:spLocks noGrp="1"/>
          </p:cNvSpPr>
          <p:nvPr>
            <p:ph type="pic" sz="quarter" idx="13" hasCustomPrompt="1"/>
          </p:nvPr>
        </p:nvSpPr>
        <p:spPr>
          <a:xfrm>
            <a:off x="6096000" y="0"/>
            <a:ext cx="6096000" cy="6858000"/>
          </a:xfrm>
        </p:spPr>
        <p:txBody>
          <a:bodyPr lIns="108000" tIns="108000" rIns="108000" bIns="108000"/>
          <a:lstStyle>
            <a:lvl1pPr marL="0" indent="0">
              <a:buNone/>
              <a:defRPr sz="1200" b="0"/>
            </a:lvl1pPr>
          </a:lstStyle>
          <a:p>
            <a:r>
              <a:rPr lang="nl-NL"/>
              <a:t>Denk om de alt-tekst!</a:t>
            </a:r>
            <a:br>
              <a:rPr lang="nl-NL"/>
            </a:br>
            <a:r>
              <a:rPr lang="nl-NL"/>
              <a:t>In dit geval is de alt-tekst verplicht omdat de titel/Kop2 anders geen inhoud heeft. Op een slide met ook tekst is dat anders.</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hem vanuit de map hierin te slepen of te kopiëren. De afbeelding neemt automatisch de vorm en grootte van dit vak aan.</a:t>
            </a:r>
            <a:br>
              <a:rPr lang="nl-NL"/>
            </a:br>
            <a:br>
              <a:rPr lang="nl-NL"/>
            </a:br>
            <a:r>
              <a:rPr lang="nl-NL"/>
              <a:t>Past je afbeelding niet? Of ziet deze er raar uit?</a:t>
            </a:r>
            <a:br>
              <a:rPr lang="nl-NL"/>
            </a:br>
            <a:r>
              <a:rPr lang="nl-NL"/>
              <a:t>Ga boven het lint (de bovenbalk) naar het tabblad “Grafische indeling” of “Afbeeldingsindeling. Klik daar op “Bijsnijden”. </a:t>
            </a:r>
            <a:br>
              <a:rPr lang="nl-NL"/>
            </a:b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157315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1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5"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6096000" cy="6858000"/>
          </a:xfrm>
        </p:spPr>
        <p:txBody>
          <a:bodyPr lIns="108000" tIns="108000" rIns="108000" bIns="108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de afbeelding hierheen te slepen of te kopiëren. Hij neemt automatisch de vorm en grootte van dit vak aan.</a:t>
            </a:r>
            <a:br>
              <a:rPr lang="nl-NL"/>
            </a:br>
            <a:r>
              <a:rPr lang="nl-NL"/>
              <a:t>Past je afbeelding niet? Of ziet deze er raar uit doordat dit hele vak gevuld wordt met iets dat niet past?</a:t>
            </a:r>
            <a:br>
              <a:rPr lang="nl-NL"/>
            </a:br>
            <a:r>
              <a:rPr lang="nl-NL"/>
              <a:t>Ga naar het tabblad “Grafische indeling” of “Afbeeldingsindeling. Klik daar op “Bijsnijden”.</a:t>
            </a: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423410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33D2BC37-860F-86D3-F6B3-3AE8A62F41E0}"/>
              </a:ext>
            </a:extLst>
          </p:cNvPr>
          <p:cNvSpPr>
            <a:spLocks noGrp="1"/>
          </p:cNvSpPr>
          <p:nvPr>
            <p:ph type="pic" sz="quarter" idx="15"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644E291-BCF9-4255-BA32-00C6C5D3E667}"/>
              </a:ext>
            </a:extLst>
          </p:cNvPr>
          <p:cNvSpPr>
            <a:spLocks noGrp="1"/>
          </p:cNvSpPr>
          <p:nvPr>
            <p:ph type="pic" sz="quarter" idx="16"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534709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232" userDrawn="1">
          <p15:clr>
            <a:srgbClr val="FBAE40"/>
          </p15:clr>
        </p15:guide>
        <p15:guide id="6" orient="horz" pos="4088"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naas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5" name="Tijdelijke aanduiding voor afbeelding 4">
            <a:extLst>
              <a:ext uri="{FF2B5EF4-FFF2-40B4-BE49-F238E27FC236}">
                <a16:creationId xmlns:a16="http://schemas.microsoft.com/office/drawing/2014/main" id="{95DD351F-D510-FF29-B6A7-EC7231A39934}"/>
              </a:ext>
            </a:extLst>
          </p:cNvPr>
          <p:cNvSpPr>
            <a:spLocks noGrp="1"/>
          </p:cNvSpPr>
          <p:nvPr>
            <p:ph type="pic" sz="quarter" idx="15" hasCustomPrompt="1"/>
          </p:nvPr>
        </p:nvSpPr>
        <p:spPr>
          <a:xfrm>
            <a:off x="6096000"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uitlegside voor de oplossing.</a:t>
            </a:r>
          </a:p>
          <a:p>
            <a:endParaRPr lang="nl-NL"/>
          </a:p>
        </p:txBody>
      </p:sp>
      <p:sp>
        <p:nvSpPr>
          <p:cNvPr id="7" name="Tijdelijke aanduiding voor afbeelding 6">
            <a:extLst>
              <a:ext uri="{FF2B5EF4-FFF2-40B4-BE49-F238E27FC236}">
                <a16:creationId xmlns:a16="http://schemas.microsoft.com/office/drawing/2014/main" id="{644AADF8-4530-F853-A015-E85E6D93A5F5}"/>
              </a:ext>
            </a:extLst>
          </p:cNvPr>
          <p:cNvSpPr>
            <a:spLocks noGrp="1"/>
          </p:cNvSpPr>
          <p:nvPr>
            <p:ph type="pic" sz="quarter" idx="16" hasCustomPrompt="1"/>
          </p:nvPr>
        </p:nvSpPr>
        <p:spPr>
          <a:xfrm>
            <a:off x="9207643"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voor of de uitlegslide de oplossing.</a:t>
            </a:r>
          </a:p>
          <a:p>
            <a:endParaRPr lang="nl-NL"/>
          </a:p>
        </p:txBody>
      </p:sp>
    </p:spTree>
    <p:extLst>
      <p:ext uri="{BB962C8B-B14F-4D97-AF65-F5344CB8AC3E}">
        <p14:creationId xmlns:p14="http://schemas.microsoft.com/office/powerpoint/2010/main" val="2098190250"/>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2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2-1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marL="230400" indent="-230400">
              <a:buFont typeface="Arial" panose="020B0604020202020204" pitchFamily="34" charset="0"/>
              <a:buChar char="•"/>
              <a:defRPr/>
            </a:lvl1pPr>
            <a:lvl2pPr marL="239400" indent="0">
              <a:buNone/>
              <a:defRPr/>
            </a:lvl2pPr>
          </a:lstStyle>
          <a:p>
            <a:pPr lvl="0"/>
            <a:r>
              <a:rPr lang="nl-NL"/>
              <a:t>Tekst kleiner of groter maken? Selecteer alle tekst en klik Ctrl-Shift plus of min. Of ga naar tabblad Start, klik in Lettertype op A^ of Aˇ.</a:t>
            </a:r>
          </a:p>
          <a:p>
            <a:pPr lvl="1"/>
            <a:endParaRPr lang="nl-NL"/>
          </a:p>
        </p:txBody>
      </p:sp>
      <p:sp>
        <p:nvSpPr>
          <p:cNvPr id="4" name="Tijdelijke aanduiding voor afbeelding 3">
            <a:extLst>
              <a:ext uri="{FF2B5EF4-FFF2-40B4-BE49-F238E27FC236}">
                <a16:creationId xmlns:a16="http://schemas.microsoft.com/office/drawing/2014/main" id="{BA1D28D1-7ED3-055A-5195-489DFAAFF82F}"/>
              </a:ext>
            </a:extLst>
          </p:cNvPr>
          <p:cNvSpPr>
            <a:spLocks noGrp="1"/>
          </p:cNvSpPr>
          <p:nvPr>
            <p:ph type="pic" sz="quarter" idx="18" hasCustomPrompt="1"/>
          </p:nvPr>
        </p:nvSpPr>
        <p:spPr>
          <a:xfrm>
            <a:off x="6096000" y="-6578"/>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F6E89278-CEBB-1518-D027-3D84ABA6BA16}"/>
              </a:ext>
            </a:extLst>
          </p:cNvPr>
          <p:cNvSpPr>
            <a:spLocks noGrp="1"/>
          </p:cNvSpPr>
          <p:nvPr>
            <p:ph type="pic" sz="quarter" idx="19" hasCustomPrompt="1"/>
          </p:nvPr>
        </p:nvSpPr>
        <p:spPr>
          <a:xfrm>
            <a:off x="9196800" y="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uitlegside voor de oplossing.</a:t>
            </a:r>
          </a:p>
          <a:p>
            <a:endParaRPr lang="nl-NL"/>
          </a:p>
        </p:txBody>
      </p:sp>
      <p:sp>
        <p:nvSpPr>
          <p:cNvPr id="11" name="Tijdelijke aanduiding voor afbeelding 10">
            <a:extLst>
              <a:ext uri="{FF2B5EF4-FFF2-40B4-BE49-F238E27FC236}">
                <a16:creationId xmlns:a16="http://schemas.microsoft.com/office/drawing/2014/main" id="{C52ED923-DB7C-B90F-62E4-25D280DD183D}"/>
              </a:ext>
            </a:extLst>
          </p:cNvPr>
          <p:cNvSpPr>
            <a:spLocks noGrp="1"/>
          </p:cNvSpPr>
          <p:nvPr>
            <p:ph type="pic" sz="quarter" idx="20"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497238725"/>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7" orient="horz" pos="2160" userDrawn="1">
          <p15:clr>
            <a:srgbClr val="FBAE40"/>
          </p15:clr>
        </p15:guide>
        <p15:guide id="8" orient="horz" pos="2137" userDrawn="1">
          <p15:clr>
            <a:srgbClr val="FBAE40"/>
          </p15:clr>
        </p15:guide>
        <p15:guide id="9" orient="horz" pos="2183"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1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1-2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11" name="Tijdelijke aanduiding voor afbeelding 10">
            <a:extLst>
              <a:ext uri="{FF2B5EF4-FFF2-40B4-BE49-F238E27FC236}">
                <a16:creationId xmlns:a16="http://schemas.microsoft.com/office/drawing/2014/main" id="{2B2D465E-58C0-149D-D41E-EE15C938D6B6}"/>
              </a:ext>
            </a:extLst>
          </p:cNvPr>
          <p:cNvSpPr>
            <a:spLocks noGrp="1"/>
          </p:cNvSpPr>
          <p:nvPr>
            <p:ph type="pic" sz="quarter" idx="17"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9D23127C-4FE6-E848-6DBC-D89F7D4E0BFB}"/>
              </a:ext>
            </a:extLst>
          </p:cNvPr>
          <p:cNvSpPr>
            <a:spLocks noGrp="1"/>
          </p:cNvSpPr>
          <p:nvPr>
            <p:ph type="pic" sz="quarter" idx="15" hasCustomPrompt="1"/>
          </p:nvPr>
        </p:nvSpPr>
        <p:spPr>
          <a:xfrm>
            <a:off x="6096000" y="3477744"/>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26E9B052-32B0-2639-2F75-9AFC49194B33}"/>
              </a:ext>
            </a:extLst>
          </p:cNvPr>
          <p:cNvSpPr>
            <a:spLocks noGrp="1"/>
          </p:cNvSpPr>
          <p:nvPr>
            <p:ph type="pic" sz="quarter" idx="16" hasCustomPrompt="1"/>
          </p:nvPr>
        </p:nvSpPr>
        <p:spPr>
          <a:xfrm>
            <a:off x="9196800" y="347345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091215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9" pos="5790" userDrawn="1">
          <p15:clr>
            <a:srgbClr val="FBAE40"/>
          </p15:clr>
        </p15:guide>
        <p15:guide id="10" pos="5745" userDrawn="1">
          <p15:clr>
            <a:srgbClr val="FBAE40"/>
          </p15:clr>
        </p15:guide>
        <p15:guide id="11" orient="horz" pos="2137" userDrawn="1">
          <p15:clr>
            <a:srgbClr val="FBAE40"/>
          </p15:clr>
        </p15:guide>
        <p15:guide id="13" orient="horz" pos="2183" userDrawn="1">
          <p15:clr>
            <a:srgbClr val="FBAE40"/>
          </p15:clr>
        </p15:guide>
        <p15:guide id="14" pos="4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2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4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816BFF01-E9C9-22CF-01E1-B518266303D5}"/>
              </a:ext>
            </a:extLst>
          </p:cNvPr>
          <p:cNvSpPr>
            <a:spLocks noGrp="1"/>
          </p:cNvSpPr>
          <p:nvPr>
            <p:ph type="pic" sz="quarter" idx="17" hasCustomPrompt="1"/>
          </p:nvPr>
        </p:nvSpPr>
        <p:spPr>
          <a:xfrm>
            <a:off x="6095999" y="-598"/>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13" name="Tijdelijke aanduiding voor afbeelding 12">
            <a:extLst>
              <a:ext uri="{FF2B5EF4-FFF2-40B4-BE49-F238E27FC236}">
                <a16:creationId xmlns:a16="http://schemas.microsoft.com/office/drawing/2014/main" id="{81A0080E-8D3A-0588-61FC-2A756DB5400E}"/>
              </a:ext>
            </a:extLst>
          </p:cNvPr>
          <p:cNvSpPr>
            <a:spLocks noGrp="1"/>
          </p:cNvSpPr>
          <p:nvPr>
            <p:ph type="pic" sz="quarter" idx="18" hasCustomPrompt="1"/>
          </p:nvPr>
        </p:nvSpPr>
        <p:spPr>
          <a:xfrm>
            <a:off x="9196800" y="-7176"/>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03491" y="3474598"/>
            <a:ext cx="2987708"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9196800" y="3481177"/>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222235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4088" userDrawn="1">
          <p15:clr>
            <a:srgbClr val="FBAE40"/>
          </p15:clr>
        </p15:guide>
        <p15:guide id="6" pos="3500" userDrawn="1">
          <p15:clr>
            <a:srgbClr val="FBAE40"/>
          </p15:clr>
        </p15:guide>
        <p15:guide id="7" pos="438" userDrawn="1">
          <p15:clr>
            <a:srgbClr val="FBAE40"/>
          </p15:clr>
        </p15:guide>
        <p15:guide id="8" pos="5790" userDrawn="1">
          <p15:clr>
            <a:srgbClr val="FBAE40"/>
          </p15:clr>
        </p15:guide>
        <p15:guide id="9" pos="5745" userDrawn="1">
          <p15:clr>
            <a:srgbClr val="FBAE40"/>
          </p15:clr>
        </p15:guide>
        <p15:guide id="11" orient="horz" pos="2183" userDrawn="1">
          <p15:clr>
            <a:srgbClr val="FBAE40"/>
          </p15:clr>
        </p15:guide>
        <p15:guide id="12" orient="horz" pos="2137" userDrawn="1">
          <p15:clr>
            <a:srgbClr val="FBAE40"/>
          </p15:clr>
        </p15:guide>
        <p15:guide id="13" orient="horz" pos="102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3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4" y="368301"/>
            <a:ext cx="4860926" cy="994678"/>
          </a:xfrm>
        </p:spPr>
        <p:txBody>
          <a:bodyPr/>
          <a:lstStyle>
            <a:lvl1pPr>
              <a:defRPr/>
            </a:lvl1pPr>
          </a:lstStyle>
          <a:p>
            <a:r>
              <a:rPr lang="nl-NL"/>
              <a:t>Kop2 bij tekst en 4 afbeeldingen, 3-1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endParaRPr lang="nl-NL"/>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0195"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1"/>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3466800"/>
            <a:ext cx="6096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49451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2" pos="5087" userDrawn="1">
          <p15:clr>
            <a:srgbClr val="FBAE40"/>
          </p15:clr>
        </p15:guide>
        <p15:guide id="13" pos="5133" userDrawn="1">
          <p15:clr>
            <a:srgbClr val="FBAE40"/>
          </p15:clr>
        </p15:guide>
        <p15:guide id="14" pos="6380" userDrawn="1">
          <p15:clr>
            <a:srgbClr val="FBAE40"/>
          </p15:clr>
        </p15:guide>
        <p15:guide id="15" pos="642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1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4 afbeeldingen, 1-3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110597" y="1"/>
            <a:ext cx="6081403" cy="3389862"/>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10597" y="3465513"/>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70298" y="3468139"/>
            <a:ext cx="1962000" cy="3389861"/>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26"/>
            <a:ext cx="1962000" cy="3391174"/>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Tree>
    <p:extLst>
      <p:ext uri="{BB962C8B-B14F-4D97-AF65-F5344CB8AC3E}">
        <p14:creationId xmlns:p14="http://schemas.microsoft.com/office/powerpoint/2010/main" val="2385272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3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701756" y="374523"/>
            <a:ext cx="4854494" cy="984377"/>
          </a:xfrm>
        </p:spPr>
        <p:txBody>
          <a:bodyPr/>
          <a:lstStyle>
            <a:lvl1pPr>
              <a:defRPr/>
            </a:lvl1pPr>
          </a:lstStyle>
          <a:p>
            <a:r>
              <a:rPr lang="nl-NL"/>
              <a:t>Kop2 bij tekst en 5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701756"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5999" y="0"/>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2999" y="1"/>
            <a:ext cx="1962000" cy="3392488"/>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0"/>
            <a:ext cx="1962000" cy="3392487"/>
          </a:xfrm>
        </p:spPr>
        <p:txBody>
          <a:bodyPr lIns="72000" tIns="72000" rIns="72000" bIns="72000"/>
          <a:lstStyle>
            <a:lvl1pPr marL="0" indent="0">
              <a:buNone/>
              <a:defRPr sz="1200"/>
            </a:lvl1pPr>
          </a:lstStyle>
          <a:p>
            <a:r>
              <a:rPr lang="nl-NL"/>
              <a:t>Denk om de alt-tekst!</a:t>
            </a:r>
          </a:p>
        </p:txBody>
      </p:sp>
      <p:sp>
        <p:nvSpPr>
          <p:cNvPr id="8" name="Tijdelijke aanduiding voor afbeelding 7">
            <a:extLst>
              <a:ext uri="{FF2B5EF4-FFF2-40B4-BE49-F238E27FC236}">
                <a16:creationId xmlns:a16="http://schemas.microsoft.com/office/drawing/2014/main" id="{860A6F3F-0268-A40A-7812-E70860B33B7D}"/>
              </a:ext>
            </a:extLst>
          </p:cNvPr>
          <p:cNvSpPr>
            <a:spLocks noGrp="1"/>
          </p:cNvSpPr>
          <p:nvPr>
            <p:ph type="pic" sz="quarter" idx="18" hasCustomPrompt="1"/>
          </p:nvPr>
        </p:nvSpPr>
        <p:spPr>
          <a:xfrm>
            <a:off x="6091509"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196800"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982939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3" pos="5745" userDrawn="1">
          <p15:clr>
            <a:srgbClr val="FBAE40"/>
          </p15:clr>
        </p15:guide>
        <p15:guide id="14" pos="579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2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5 afbeeldingen,  2-3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B7D94BC4-0CD6-9F0A-124C-0DD9FB56DA36}"/>
              </a:ext>
            </a:extLst>
          </p:cNvPr>
          <p:cNvSpPr>
            <a:spLocks noGrp="1"/>
          </p:cNvSpPr>
          <p:nvPr>
            <p:ph type="pic" sz="quarter" idx="18" hasCustomPrompt="1"/>
          </p:nvPr>
        </p:nvSpPr>
        <p:spPr>
          <a:xfrm>
            <a:off x="6096000" y="1"/>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202757" y="0"/>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1" y="3466800"/>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66800"/>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00"/>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3157597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guide id="12" pos="5768" userDrawn="1">
          <p15:clr>
            <a:srgbClr val="FBAE40"/>
          </p15:clr>
        </p15:guide>
        <p15:guide id="13" pos="5722" userDrawn="1">
          <p15:clr>
            <a:srgbClr val="FBAE40"/>
          </p15:clr>
        </p15:guide>
        <p15:guide id="14" pos="5087" userDrawn="1">
          <p15:clr>
            <a:srgbClr val="FBAE40"/>
          </p15:clr>
        </p15:guide>
        <p15:guide id="15" pos="5110" userDrawn="1">
          <p15:clr>
            <a:srgbClr val="FBAE40"/>
          </p15:clr>
        </p15:guide>
        <p15:guide id="16" pos="6380" userDrawn="1">
          <p15:clr>
            <a:srgbClr val="FBAE40"/>
          </p15:clr>
        </p15:guide>
        <p15:guide id="17" pos="642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6 afbeeldingen, 3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6 afbeeldingen, 3-3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131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p:txBody>
      </p:sp>
      <p:sp>
        <p:nvSpPr>
          <p:cNvPr id="8" name="Tijdelijke aanduiding voor afbeelding 7">
            <a:extLst>
              <a:ext uri="{FF2B5EF4-FFF2-40B4-BE49-F238E27FC236}">
                <a16:creationId xmlns:a16="http://schemas.microsoft.com/office/drawing/2014/main" id="{D9A30E33-BB87-5F60-F212-189EF65F61C4}"/>
              </a:ext>
            </a:extLst>
          </p:cNvPr>
          <p:cNvSpPr>
            <a:spLocks noGrp="1"/>
          </p:cNvSpPr>
          <p:nvPr>
            <p:ph type="pic" sz="quarter" idx="18" hasCustomPrompt="1"/>
          </p:nvPr>
        </p:nvSpPr>
        <p:spPr>
          <a:xfrm>
            <a:off x="8163000" y="-13125"/>
            <a:ext cx="1962000" cy="3391200"/>
          </a:xfrm>
        </p:spPr>
        <p:txBody>
          <a:bodyPr lIns="72000" tIns="72000" rIns="72000" bIns="72000"/>
          <a:lstStyle>
            <a:lvl1pPr marL="0" indent="0">
              <a:buNone/>
              <a:defRPr sz="1200"/>
            </a:lvl1pPr>
          </a:lstStyle>
          <a:p>
            <a:r>
              <a:rPr lang="nl-NL"/>
              <a:t>Denk om de alt-tekst!</a:t>
            </a:r>
          </a:p>
        </p:txBody>
      </p:sp>
      <p:sp>
        <p:nvSpPr>
          <p:cNvPr id="11" name="Tijdelijke aanduiding voor afbeelding 10">
            <a:extLst>
              <a:ext uri="{FF2B5EF4-FFF2-40B4-BE49-F238E27FC236}">
                <a16:creationId xmlns:a16="http://schemas.microsoft.com/office/drawing/2014/main" id="{EE256E7F-9372-EC68-8D10-249F6ECB9470}"/>
              </a:ext>
            </a:extLst>
          </p:cNvPr>
          <p:cNvSpPr>
            <a:spLocks noGrp="1"/>
          </p:cNvSpPr>
          <p:nvPr>
            <p:ph type="pic" sz="quarter" idx="19" hasCustomPrompt="1"/>
          </p:nvPr>
        </p:nvSpPr>
        <p:spPr>
          <a:xfrm>
            <a:off x="10230000" y="-11869"/>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34799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77357"/>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79925"/>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23144263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el, tekst, Algeme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01FB1445-F863-7FCE-C549-4CCE3655A3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88019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1026" userDrawn="1">
          <p15:clr>
            <a:srgbClr val="FBAE40"/>
          </p15:clr>
        </p15:guide>
        <p15:guide id="7" orient="horz" pos="4088" userDrawn="1">
          <p15:clr>
            <a:srgbClr val="FBAE40"/>
          </p15:clr>
        </p15:guide>
        <p15:guide id="8" orient="horz" pos="85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 tekst bij Digita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C1FB6ED6-E48A-5257-391B-F6333774B2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107609" cy="6858000"/>
          </a:xfrm>
          <a:prstGeom prst="rect">
            <a:avLst/>
          </a:prstGeom>
        </p:spPr>
      </p:pic>
    </p:spTree>
    <p:extLst>
      <p:ext uri="{BB962C8B-B14F-4D97-AF65-F5344CB8AC3E}">
        <p14:creationId xmlns:p14="http://schemas.microsoft.com/office/powerpoint/2010/main" val="704206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in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BDF04826-754A-0DC3-7A99-E882B41DA9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154" r="-1154"/>
          <a:stretch>
            <a:fillRect/>
          </a:stretch>
        </p:blipFill>
        <p:spPr>
          <a:xfrm>
            <a:off x="6096000" y="0"/>
            <a:ext cx="6240589" cy="6858000"/>
          </a:xfrm>
          <a:prstGeom prst="rect">
            <a:avLst/>
          </a:prstGeom>
        </p:spPr>
      </p:pic>
    </p:spTree>
    <p:extLst>
      <p:ext uri="{BB962C8B-B14F-4D97-AF65-F5344CB8AC3E}">
        <p14:creationId xmlns:p14="http://schemas.microsoft.com/office/powerpoint/2010/main" val="3122379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ui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6FE6A0A8-18A4-A2E9-1961-A5FA7D59D8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240589" cy="6858000"/>
          </a:xfrm>
          <a:prstGeom prst="rect">
            <a:avLst/>
          </a:prstGeom>
        </p:spPr>
      </p:pic>
    </p:spTree>
    <p:extLst>
      <p:ext uri="{BB962C8B-B14F-4D97-AF65-F5344CB8AC3E}">
        <p14:creationId xmlns:p14="http://schemas.microsoft.com/office/powerpoint/2010/main" val="801768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el, tekst bij Gebruikersonderzo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6" name="Afbeelding 5">
            <a:extLst>
              <a:ext uri="{FF2B5EF4-FFF2-40B4-BE49-F238E27FC236}">
                <a16:creationId xmlns:a16="http://schemas.microsoft.com/office/drawing/2014/main" id="{D042FB02-99D8-E1B6-7865-28C0108091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8760" y="0"/>
            <a:ext cx="6088612" cy="6858000"/>
          </a:xfrm>
          <a:prstGeom prst="rect">
            <a:avLst/>
          </a:prstGeom>
        </p:spPr>
      </p:pic>
    </p:spTree>
    <p:extLst>
      <p:ext uri="{BB962C8B-B14F-4D97-AF65-F5344CB8AC3E}">
        <p14:creationId xmlns:p14="http://schemas.microsoft.com/office/powerpoint/2010/main" val="25411662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malle afbeelding,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smalle afbeelding,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3"/>
            <a:ext cx="7920038" cy="4770439"/>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4770438"/>
          </a:xfrm>
          <a:noFill/>
        </p:spPr>
        <p:txBody>
          <a:bodyPr lIns="72000" tIns="72000" rIns="72000" bIns="72000">
            <a:normAutofit/>
          </a:bodyPr>
          <a:lstStyle>
            <a:lvl1pPr marL="0" indent="0">
              <a:buNone/>
              <a:defRPr sz="1200"/>
            </a:lvl1pPr>
          </a:lstStyle>
          <a:p>
            <a:r>
              <a:rPr lang="nl-NL"/>
              <a:t>Denk aan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de afbeelding niet of ziet deze er raar uit doordat je maar een deel ziet? Kijk dan bij de slides met de grotere afbeeldingen of de uitlegslide voor meer uitleg om dat op te lossen.</a:t>
            </a:r>
          </a:p>
        </p:txBody>
      </p:sp>
    </p:spTree>
    <p:extLst>
      <p:ext uri="{BB962C8B-B14F-4D97-AF65-F5344CB8AC3E}">
        <p14:creationId xmlns:p14="http://schemas.microsoft.com/office/powerpoint/2010/main" val="4091558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5654"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guide id="8" orient="horz" pos="4031" userDrawn="1">
          <p15:clr>
            <a:srgbClr val="FBAE40"/>
          </p15:clr>
        </p15:guide>
        <p15:guide id="9" pos="5427"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 smalle afbeeldingen,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2 kleine afbeeldingen,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5"/>
            <a:ext cx="7920038"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2376488"/>
          </a:xfrm>
          <a:noFill/>
        </p:spPr>
        <p:txBody>
          <a:bodyPr lIns="72000" tIns="72000" rIns="72000" bIns="72000">
            <a:normAutofit/>
          </a:bodyPr>
          <a:lstStyle>
            <a:lvl1pPr marL="0" indent="0">
              <a:buNone/>
              <a:defRPr sz="1200"/>
            </a:lvl1pPr>
          </a:lstStyle>
          <a:p>
            <a:r>
              <a:rPr lang="nl-NL"/>
              <a:t>Denk aan de alt-tekst! Misschien is de afbeelding echt alleen maar decoratief, maar soms draagt een afbeelding bij aan de sfeer en dan is het wel zo aardig om die ook aan te bieden aan je collega of klant die dat niet kan zien.</a:t>
            </a:r>
          </a:p>
        </p:txBody>
      </p:sp>
      <p:sp>
        <p:nvSpPr>
          <p:cNvPr id="4" name="Tijdelijke aanduiding voor afbeelding 3">
            <a:extLst>
              <a:ext uri="{FF2B5EF4-FFF2-40B4-BE49-F238E27FC236}">
                <a16:creationId xmlns:a16="http://schemas.microsoft.com/office/drawing/2014/main" id="{850C704E-1506-0B51-C15B-D395F50B94D9}"/>
              </a:ext>
            </a:extLst>
          </p:cNvPr>
          <p:cNvSpPr>
            <a:spLocks noGrp="1"/>
          </p:cNvSpPr>
          <p:nvPr>
            <p:ph type="pic" sz="quarter" idx="12" hasCustomPrompt="1"/>
          </p:nvPr>
        </p:nvSpPr>
        <p:spPr>
          <a:xfrm>
            <a:off x="8975726" y="4113213"/>
            <a:ext cx="3216274" cy="2376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Tx/>
              <a:buNone/>
              <a:tabLst/>
              <a:defRPr sz="1200"/>
            </a:lvl1pPr>
          </a:lstStyle>
          <a:p>
            <a:pPr marL="0" marR="0" lvl="0" indent="0" algn="l" defTabSz="914400" rtl="0" eaLnBrk="1" fontAlgn="auto" latinLnBrk="0" hangingPunct="1">
              <a:lnSpc>
                <a:spcPct val="90000"/>
              </a:lnSpc>
              <a:spcBef>
                <a:spcPts val="1200"/>
              </a:spcBef>
              <a:spcAft>
                <a:spcPts val="0"/>
              </a:spcAft>
              <a:buClrTx/>
              <a:buSzTx/>
              <a:buFontTx/>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p:txBody>
      </p:sp>
    </p:spTree>
    <p:extLst>
      <p:ext uri="{BB962C8B-B14F-4D97-AF65-F5344CB8AC3E}">
        <p14:creationId xmlns:p14="http://schemas.microsoft.com/office/powerpoint/2010/main" val="3583865726"/>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654" userDrawn="1">
          <p15:clr>
            <a:srgbClr val="FBAE40"/>
          </p15:clr>
        </p15:guide>
        <p15:guide id="5" pos="5427"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4088" userDrawn="1">
          <p15:clr>
            <a:srgbClr val="FBAE40"/>
          </p15:clr>
        </p15:guide>
        <p15:guide id="10" orient="horz" pos="2557" userDrawn="1">
          <p15:clr>
            <a:srgbClr val="FBAE40"/>
          </p15:clr>
        </p15:guide>
        <p15:guide id="11" orient="horz" pos="2523" userDrawn="1">
          <p15:clr>
            <a:srgbClr val="FBAE40"/>
          </p15:clr>
        </p15:guide>
        <p15:guide id="12" orient="horz" pos="2591"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malle afbeelding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D73A6-6EB6-D125-4DBC-F62BAFE882D4}"/>
              </a:ext>
            </a:extLst>
          </p:cNvPr>
          <p:cNvSpPr>
            <a:spLocks noGrp="1"/>
          </p:cNvSpPr>
          <p:nvPr>
            <p:ph type="title" hasCustomPrompt="1"/>
          </p:nvPr>
        </p:nvSpPr>
        <p:spPr>
          <a:xfrm>
            <a:off x="695325" y="2663826"/>
            <a:ext cx="7921625" cy="1530350"/>
          </a:xfrm>
        </p:spPr>
        <p:txBody>
          <a:bodyPr anchor="ctr"/>
          <a:lstStyle>
            <a:lvl1pPr>
              <a:defRPr/>
            </a:lvl1pPr>
          </a:lstStyle>
          <a:p>
            <a:r>
              <a:rPr lang="nl-NL"/>
              <a:t>Kop2 naast smalle foto, zonder tekst erbij</a:t>
            </a:r>
          </a:p>
        </p:txBody>
      </p:sp>
      <p:sp>
        <p:nvSpPr>
          <p:cNvPr id="7" name="Tijdelijke aanduiding voor afbeelding 6">
            <a:extLst>
              <a:ext uri="{FF2B5EF4-FFF2-40B4-BE49-F238E27FC236}">
                <a16:creationId xmlns:a16="http://schemas.microsoft.com/office/drawing/2014/main" id="{46B14899-9C0A-52AB-8C27-F8839E0EFE03}"/>
              </a:ext>
            </a:extLst>
          </p:cNvPr>
          <p:cNvSpPr>
            <a:spLocks noGrp="1"/>
          </p:cNvSpPr>
          <p:nvPr>
            <p:ph type="pic" sz="quarter" idx="13" hasCustomPrompt="1"/>
          </p:nvPr>
        </p:nvSpPr>
        <p:spPr>
          <a:xfrm>
            <a:off x="8975725" y="1133475"/>
            <a:ext cx="3216275" cy="4591049"/>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a:p>
            <a:endParaRPr lang="nl-NL"/>
          </a:p>
        </p:txBody>
      </p:sp>
    </p:spTree>
    <p:extLst>
      <p:ext uri="{BB962C8B-B14F-4D97-AF65-F5344CB8AC3E}">
        <p14:creationId xmlns:p14="http://schemas.microsoft.com/office/powerpoint/2010/main" val="3469870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232" userDrawn="1">
          <p15:clr>
            <a:srgbClr val="FBAE40"/>
          </p15:clr>
        </p15:guide>
        <p15:guide id="5" orient="horz" pos="4088" userDrawn="1">
          <p15:clr>
            <a:srgbClr val="FBAE40"/>
          </p15:clr>
        </p15:guide>
        <p15:guide id="6" orient="horz" pos="1196" userDrawn="1">
          <p15:clr>
            <a:srgbClr val="FBAE40"/>
          </p15:clr>
        </p15:guide>
        <p15:guide id="7" orient="horz" pos="3124" userDrawn="1">
          <p15:clr>
            <a:srgbClr val="FBAE40"/>
          </p15:clr>
        </p15:guide>
        <p15:guide id="8" orient="horz" pos="714" userDrawn="1">
          <p15:clr>
            <a:srgbClr val="FBAE40"/>
          </p15:clr>
        </p15:guide>
        <p15:guide id="9" pos="5654" userDrawn="1">
          <p15:clr>
            <a:srgbClr val="FBAE40"/>
          </p15:clr>
        </p15:guide>
        <p15:guide id="10" pos="5428" userDrawn="1">
          <p15:clr>
            <a:srgbClr val="FBAE40"/>
          </p15:clr>
        </p15:guide>
        <p15:guide id="11" orient="horz" pos="3606" userDrawn="1">
          <p15:clr>
            <a:srgbClr val="FBAE40"/>
          </p15:clr>
        </p15:guide>
        <p15:guide id="12" orient="horz" pos="2642" userDrawn="1">
          <p15:clr>
            <a:srgbClr val="FBAE40"/>
          </p15:clr>
        </p15:guide>
        <p15:guide id="13" orient="horz" pos="167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Video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F6638-5947-43DA-5A77-B3B9CC1326F3}"/>
              </a:ext>
            </a:extLst>
          </p:cNvPr>
          <p:cNvSpPr>
            <a:spLocks noGrp="1"/>
          </p:cNvSpPr>
          <p:nvPr>
            <p:ph type="title" hasCustomPrompt="1"/>
          </p:nvPr>
        </p:nvSpPr>
        <p:spPr>
          <a:xfrm>
            <a:off x="695326" y="2168525"/>
            <a:ext cx="4860924" cy="2520950"/>
          </a:xfrm>
        </p:spPr>
        <p:txBody>
          <a:bodyPr anchor="ctr"/>
          <a:lstStyle>
            <a:lvl1pPr>
              <a:defRPr/>
            </a:lvl1pPr>
          </a:lstStyle>
          <a:p>
            <a:r>
              <a:rPr lang="nl-NL"/>
              <a:t>Kop2 bij video. Zonder tekst. Gebruik je ook tekst, kies dan de andere variant.</a:t>
            </a:r>
          </a:p>
        </p:txBody>
      </p:sp>
      <p:sp>
        <p:nvSpPr>
          <p:cNvPr id="7" name="Tijdelijke aanduiding voor media 6">
            <a:extLst>
              <a:ext uri="{FF2B5EF4-FFF2-40B4-BE49-F238E27FC236}">
                <a16:creationId xmlns:a16="http://schemas.microsoft.com/office/drawing/2014/main" id="{751431AA-948D-A348-E3D6-D98D40CE6894}"/>
              </a:ext>
            </a:extLst>
          </p:cNvPr>
          <p:cNvSpPr>
            <a:spLocks noGrp="1"/>
          </p:cNvSpPr>
          <p:nvPr>
            <p:ph type="media" sz="quarter" idx="13"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het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zelf gemakkelijk langs bewegen of je noemt het gewoon naar je publiek. Voor mensen die later terugkijken of de PDF van een presentatie lezen kan zo’n extra slide het verschil maken!</a:t>
            </a:r>
          </a:p>
        </p:txBody>
      </p:sp>
    </p:spTree>
    <p:extLst>
      <p:ext uri="{BB962C8B-B14F-4D97-AF65-F5344CB8AC3E}">
        <p14:creationId xmlns:p14="http://schemas.microsoft.com/office/powerpoint/2010/main" val="25107512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titel en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11597-5C24-F7C1-8817-4FE0977E8FD5}"/>
              </a:ext>
            </a:extLst>
          </p:cNvPr>
          <p:cNvSpPr>
            <a:spLocks noGrp="1"/>
          </p:cNvSpPr>
          <p:nvPr>
            <p:ph type="title" hasCustomPrompt="1"/>
          </p:nvPr>
        </p:nvSpPr>
        <p:spPr>
          <a:xfrm>
            <a:off x="695326" y="368301"/>
            <a:ext cx="4860924" cy="990598"/>
          </a:xfrm>
        </p:spPr>
        <p:txBody>
          <a:bodyPr/>
          <a:lstStyle>
            <a:lvl1pPr>
              <a:defRPr/>
            </a:lvl1pPr>
          </a:lstStyle>
          <a:p>
            <a:r>
              <a:rPr lang="nl-NL"/>
              <a:t>Kop2 bij video. Met tekst naast de video.</a:t>
            </a:r>
          </a:p>
        </p:txBody>
      </p:sp>
      <p:sp>
        <p:nvSpPr>
          <p:cNvPr id="9" name="Tijdelijke aanduiding voor tekst 8">
            <a:extLst>
              <a:ext uri="{FF2B5EF4-FFF2-40B4-BE49-F238E27FC236}">
                <a16:creationId xmlns:a16="http://schemas.microsoft.com/office/drawing/2014/main" id="{57271119-9F4F-BF0E-4B2D-DF603B0CA4EF}"/>
              </a:ext>
            </a:extLst>
          </p:cNvPr>
          <p:cNvSpPr>
            <a:spLocks noGrp="1"/>
          </p:cNvSpPr>
          <p:nvPr>
            <p:ph type="body" sz="quarter" idx="11" hasCustomPrompt="1"/>
          </p:nvPr>
        </p:nvSpPr>
        <p:spPr>
          <a:xfrm>
            <a:off x="695032" y="1628774"/>
            <a:ext cx="4861218" cy="4860925"/>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media 6">
            <a:extLst>
              <a:ext uri="{FF2B5EF4-FFF2-40B4-BE49-F238E27FC236}">
                <a16:creationId xmlns:a16="http://schemas.microsoft.com/office/drawing/2014/main" id="{D2FC4F54-6242-832E-9B21-59154D7BDE9E}"/>
              </a:ext>
            </a:extLst>
          </p:cNvPr>
          <p:cNvSpPr>
            <a:spLocks noGrp="1"/>
          </p:cNvSpPr>
          <p:nvPr>
            <p:ph type="media" sz="quarter" idx="10"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dit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gemakkelijk langs bewegen of je noemt het gewoon naar je publiek. Voor mensen die later terugkijken of de PDF van een presentatie lezen kan zo’n extra slide het verschil maken!</a:t>
            </a:r>
            <a:br>
              <a:rPr lang="nl-NL"/>
            </a:br>
            <a:endParaRPr lang="nl-NL"/>
          </a:p>
        </p:txBody>
      </p:sp>
    </p:spTree>
    <p:extLst>
      <p:ext uri="{BB962C8B-B14F-4D97-AF65-F5344CB8AC3E}">
        <p14:creationId xmlns:p14="http://schemas.microsoft.com/office/powerpoint/2010/main" val="14052766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orient="horz" pos="232" userDrawn="1">
          <p15:clr>
            <a:srgbClr val="FBAE40"/>
          </p15:clr>
        </p15:guide>
        <p15:guide id="4" pos="438" userDrawn="1">
          <p15:clr>
            <a:srgbClr val="FBAE40"/>
          </p15:clr>
        </p15:guide>
        <p15:guide id="5" pos="3500"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CD69C5-E76A-E5BD-71FE-F8E6FF15C751}"/>
              </a:ext>
            </a:extLst>
          </p:cNvPr>
          <p:cNvSpPr>
            <a:spLocks noGrp="1"/>
          </p:cNvSpPr>
          <p:nvPr>
            <p:ph type="title" hasCustomPrompt="1"/>
          </p:nvPr>
        </p:nvSpPr>
        <p:spPr>
          <a:xfrm>
            <a:off x="695325" y="368300"/>
            <a:ext cx="4860925" cy="990600"/>
          </a:xfrm>
        </p:spPr>
        <p:txBody>
          <a:bodyPr anchor="b"/>
          <a:lstStyle>
            <a:lvl1pPr>
              <a:defRPr sz="3200"/>
            </a:lvl1pPr>
          </a:lstStyle>
          <a:p>
            <a:r>
              <a:rPr lang="nl-NL"/>
              <a:t>Kop2 bij grafiek, tabel of zo</a:t>
            </a:r>
          </a:p>
        </p:txBody>
      </p:sp>
      <p:sp>
        <p:nvSpPr>
          <p:cNvPr id="4" name="Tijdelijke aanduiding voor tekst 3">
            <a:extLst>
              <a:ext uri="{FF2B5EF4-FFF2-40B4-BE49-F238E27FC236}">
                <a16:creationId xmlns:a16="http://schemas.microsoft.com/office/drawing/2014/main" id="{96678632-C9CB-98BA-FC91-412EC762946C}"/>
              </a:ext>
            </a:extLst>
          </p:cNvPr>
          <p:cNvSpPr>
            <a:spLocks noGrp="1"/>
          </p:cNvSpPr>
          <p:nvPr>
            <p:ph type="body" sz="half" idx="2" hasCustomPrompt="1"/>
          </p:nvPr>
        </p:nvSpPr>
        <p:spPr>
          <a:xfrm>
            <a:off x="695325" y="1628775"/>
            <a:ext cx="4860925"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Deze slide is niet bedoeld voor, alleen tekst, een afbeelding of video aan de rechterkant. Daar is een andere slide voor. Deze is voor alle andere dingen die daar niet in passen.</a:t>
            </a:r>
            <a:br>
              <a:rPr lang="nl-NL"/>
            </a:br>
            <a:br>
              <a:rPr lang="nl-NL"/>
            </a:br>
            <a:r>
              <a:rPr lang="nl-NL"/>
              <a:t>Tekst kleiner of groter maken? Selecteer alle tekst en klik Ctrl-Shift plus of min. Of ga naar tabblad Start, klik in Lettertype op A^ of Aˇ.</a:t>
            </a:r>
          </a:p>
        </p:txBody>
      </p:sp>
      <p:sp>
        <p:nvSpPr>
          <p:cNvPr id="3" name="Tijdelijke aanduiding voor inhoud 2">
            <a:extLst>
              <a:ext uri="{FF2B5EF4-FFF2-40B4-BE49-F238E27FC236}">
                <a16:creationId xmlns:a16="http://schemas.microsoft.com/office/drawing/2014/main" id="{BCD9EA49-5124-147F-9C01-280C5BB01E9D}"/>
              </a:ext>
            </a:extLst>
          </p:cNvPr>
          <p:cNvSpPr>
            <a:spLocks noGrp="1"/>
          </p:cNvSpPr>
          <p:nvPr>
            <p:ph idx="1" hasCustomPrompt="1"/>
          </p:nvPr>
        </p:nvSpPr>
        <p:spPr>
          <a:xfrm>
            <a:off x="6096000" y="0"/>
            <a:ext cx="6096000" cy="6857999"/>
          </a:xfrm>
        </p:spPr>
        <p:txBody>
          <a:bodyPr/>
          <a:lstStyle>
            <a:lvl1pPr marL="0" indent="0">
              <a:buNone/>
              <a:defRPr sz="1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br>
              <a:rPr lang="nl-NL"/>
            </a:br>
            <a:br>
              <a:rPr lang="nl-NL"/>
            </a:br>
            <a:r>
              <a:rPr lang="nl-NL"/>
              <a:t>Grafiek plaatsen? Geef dit vak daarna een alt-tekst met je rechtermuisknop. Anders komt je grafiek als afbeelding zonder alt-tekst in de PDF te staan en dat wil je niet.</a:t>
            </a:r>
            <a:br>
              <a:rPr lang="nl-NL"/>
            </a:br>
            <a:r>
              <a:rPr lang="nl-NL"/>
              <a:t>Lees de uitleg over tabellen of grafieken voordat je ermee aan de slag gaat. Er zijn andere slides voor teksten in twee helften van de slide.</a:t>
            </a:r>
          </a:p>
        </p:txBody>
      </p:sp>
    </p:spTree>
    <p:extLst>
      <p:ext uri="{BB962C8B-B14F-4D97-AF65-F5344CB8AC3E}">
        <p14:creationId xmlns:p14="http://schemas.microsoft.com/office/powerpoint/2010/main" val="24675411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500" userDrawn="1">
          <p15:clr>
            <a:srgbClr val="FBAE40"/>
          </p15:clr>
        </p15:guide>
        <p15:guide id="3" pos="438" userDrawn="1">
          <p15:clr>
            <a:srgbClr val="FBAE40"/>
          </p15:clr>
        </p15:guide>
        <p15:guide id="4" orient="horz" pos="856" userDrawn="1">
          <p15:clr>
            <a:srgbClr val="FBAE40"/>
          </p15:clr>
        </p15:guide>
        <p15:guide id="5" orient="horz" pos="232" userDrawn="1">
          <p15:clr>
            <a:srgbClr val="FBAE40"/>
          </p15:clr>
        </p15:guide>
        <p15:guide id="6" orient="horz" pos="4088" userDrawn="1">
          <p15:clr>
            <a:srgbClr val="FBAE40"/>
          </p15:clr>
        </p15:guide>
        <p15:guide id="7" orient="horz" pos="102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ccessibility Gam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Zelf invullen: Speel de Accessibility Game!</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Zelf typen, niet plakken, want ontoegankelijk: www.accessibilitygame.nl</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800"/>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Zelf invullen (tekst staat in sjablonenmap onder PowerPoint-sjabloon-2025): Welkom bij de Accessibility Game, waarbij je gaat ervaren hoe het is om een computer, tablet of telefoon te gebruiken voor mensen met een beperking.</a:t>
            </a:r>
            <a:br>
              <a:rPr lang="nl-NL"/>
            </a:br>
            <a:r>
              <a:rPr lang="nl-NL"/>
              <a:t>In ieder level wordt er een andere beperking gesimuleerd. Zo ervaar je bijvoorbeeld een visuele of een cognitieve beperking. Elk level bevat ook een korte uitleg over wat ontwerpers en programmeurs kunnen doen om de ervaring voor mensen met deze beperking beter te maken.</a:t>
            </a:r>
          </a:p>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endParaRPr lang="nl-NL"/>
          </a:p>
        </p:txBody>
      </p:sp>
      <p:pic>
        <p:nvPicPr>
          <p:cNvPr id="9" name="Afbeelding 8">
            <a:extLst>
              <a:ext uri="{FF2B5EF4-FFF2-40B4-BE49-F238E27FC236}">
                <a16:creationId xmlns:a16="http://schemas.microsoft.com/office/drawing/2014/main" id="{62D7D37A-B427-08DA-08B7-25C63B30DE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75389" y="2427028"/>
            <a:ext cx="5040311" cy="3509963"/>
          </a:xfrm>
          <a:prstGeom prst="rect">
            <a:avLst/>
          </a:prstGeom>
        </p:spPr>
      </p:pic>
      <p:sp>
        <p:nvSpPr>
          <p:cNvPr id="14" name="Tijdelijke aanduiding voor tekst 13">
            <a:extLst>
              <a:ext uri="{FF2B5EF4-FFF2-40B4-BE49-F238E27FC236}">
                <a16:creationId xmlns:a16="http://schemas.microsoft.com/office/drawing/2014/main" id="{A5BA6428-7A77-5D06-0287-4C6940F911E3}"/>
              </a:ext>
            </a:extLst>
          </p:cNvPr>
          <p:cNvSpPr>
            <a:spLocks noGrp="1"/>
          </p:cNvSpPr>
          <p:nvPr>
            <p:ph type="body" sz="quarter" idx="13" hasCustomPrompt="1"/>
          </p:nvPr>
        </p:nvSpPr>
        <p:spPr>
          <a:xfrm>
            <a:off x="3198019" y="6129338"/>
            <a:ext cx="5795962" cy="539750"/>
          </a:xfrm>
        </p:spPr>
        <p:txBody>
          <a:bodyPr anchor="ctr" anchorCtr="0"/>
          <a:lstStyle>
            <a:lvl1pPr algn="ctr">
              <a:buNone/>
              <a:defRPr sz="1800">
                <a:solidFill>
                  <a:schemeClr val="accent1"/>
                </a:solidFill>
              </a:defRPr>
            </a:lvl1pPr>
          </a:lstStyle>
          <a:p>
            <a:pPr lvl="0"/>
            <a:r>
              <a:rPr lang="nl-NL"/>
              <a:t>Zelf invullen: Gemaakt door Stichting Accessibility</a:t>
            </a:r>
          </a:p>
        </p:txBody>
      </p:sp>
    </p:spTree>
    <p:extLst>
      <p:ext uri="{BB962C8B-B14F-4D97-AF65-F5344CB8AC3E}">
        <p14:creationId xmlns:p14="http://schemas.microsoft.com/office/powerpoint/2010/main" val="3399647652"/>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2E84781-A203-DA27-09F9-428F48A2F2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9"/>
              </a:ext>
            </a:extLst>
          </a:blip>
          <a:stretch>
            <a:fillRect/>
          </a:stretch>
        </p:blipFill>
        <p:spPr>
          <a:xfrm>
            <a:off x="9505950" y="6129338"/>
            <a:ext cx="1809750" cy="514350"/>
          </a:xfrm>
          <a:prstGeom prst="rect">
            <a:avLst/>
          </a:prstGeom>
        </p:spPr>
      </p:pic>
      <p:sp>
        <p:nvSpPr>
          <p:cNvPr id="2" name="Tijdelijke aanduiding voor titel 1">
            <a:extLst>
              <a:ext uri="{FF2B5EF4-FFF2-40B4-BE49-F238E27FC236}">
                <a16:creationId xmlns:a16="http://schemas.microsoft.com/office/drawing/2014/main" id="{A356C26E-7CAE-E5C2-0354-DC2C65E95334}"/>
              </a:ext>
            </a:extLst>
          </p:cNvPr>
          <p:cNvSpPr>
            <a:spLocks noGrp="1"/>
          </p:cNvSpPr>
          <p:nvPr>
            <p:ph type="title"/>
          </p:nvPr>
        </p:nvSpPr>
        <p:spPr>
          <a:xfrm>
            <a:off x="695324" y="368300"/>
            <a:ext cx="10801351" cy="990600"/>
          </a:xfrm>
          <a:prstGeom prst="rect">
            <a:avLst/>
          </a:prstGeom>
        </p:spPr>
        <p:txBody>
          <a:bodyPr vert="horz" lIns="0" tIns="0" rIns="0" bIns="0" rtlCol="0" anchor="b">
            <a:noAutofit/>
          </a:bodyPr>
          <a:lstStyle/>
          <a:p>
            <a:r>
              <a:rPr lang="nl-NL"/>
              <a:t>Elke toegankelijke slide hoort een titel te hebben die als kop 1 of 2 functioneert</a:t>
            </a:r>
          </a:p>
        </p:txBody>
      </p:sp>
      <p:sp>
        <p:nvSpPr>
          <p:cNvPr id="3" name="Tijdelijke aanduiding voor tekst 2">
            <a:extLst>
              <a:ext uri="{FF2B5EF4-FFF2-40B4-BE49-F238E27FC236}">
                <a16:creationId xmlns:a16="http://schemas.microsoft.com/office/drawing/2014/main" id="{B0D3BBC0-E74E-B90F-4FDD-5DBC64139A21}"/>
              </a:ext>
            </a:extLst>
          </p:cNvPr>
          <p:cNvSpPr>
            <a:spLocks noGrp="1"/>
          </p:cNvSpPr>
          <p:nvPr>
            <p:ph type="body" idx="1"/>
          </p:nvPr>
        </p:nvSpPr>
        <p:spPr>
          <a:xfrm>
            <a:off x="876300" y="1628775"/>
            <a:ext cx="10439400" cy="4319588"/>
          </a:xfrm>
          <a:prstGeom prst="rect">
            <a:avLst/>
          </a:prstGeom>
        </p:spPr>
        <p:txBody>
          <a:bodyPr vert="horz" lIns="0" tIns="0" rIns="0" bIns="0" rtlCol="0">
            <a:noAutofit/>
          </a:bodyPr>
          <a:lstStyle/>
          <a:p>
            <a:pPr lvl="0"/>
            <a:r>
              <a:rPr lang="nl-NL"/>
              <a:t>Eerste niveau</a:t>
            </a:r>
          </a:p>
          <a:p>
            <a:pPr lvl="1"/>
            <a:r>
              <a:rPr lang="nl-NL"/>
              <a:t>Tweede niveau</a:t>
            </a:r>
          </a:p>
          <a:p>
            <a:pPr lvl="2"/>
            <a:r>
              <a:rPr lang="nl-NL"/>
              <a:t>Derde niveau</a:t>
            </a:r>
          </a:p>
        </p:txBody>
      </p:sp>
      <p:sp>
        <p:nvSpPr>
          <p:cNvPr id="6" name="Tijdelijke aanduiding voor dianummer 5">
            <a:extLst>
              <a:ext uri="{FF2B5EF4-FFF2-40B4-BE49-F238E27FC236}">
                <a16:creationId xmlns:a16="http://schemas.microsoft.com/office/drawing/2014/main" id="{AD4482A2-23CE-FF94-17E9-30A105F398BC}"/>
              </a:ext>
            </a:extLst>
          </p:cNvPr>
          <p:cNvSpPr>
            <a:spLocks noGrp="1"/>
          </p:cNvSpPr>
          <p:nvPr>
            <p:ph type="sldNum" sz="quarter" idx="4"/>
          </p:nvPr>
        </p:nvSpPr>
        <p:spPr>
          <a:xfrm>
            <a:off x="876300" y="6129338"/>
            <a:ext cx="809700" cy="544449"/>
          </a:xfrm>
          <a:prstGeom prst="rect">
            <a:avLst/>
          </a:prstGeom>
        </p:spPr>
        <p:txBody>
          <a:bodyPr vert="horz" lIns="0" tIns="0" rIns="0" bIns="0" rtlCol="0" anchor="ctr"/>
          <a:lstStyle>
            <a:lvl1pPr algn="ctr">
              <a:defRPr sz="1200">
                <a:solidFill>
                  <a:schemeClr val="tx1"/>
                </a:solidFill>
              </a:defRPr>
            </a:lvl1pPr>
          </a:lstStyle>
          <a:p>
            <a:fld id="{DEFE328E-F6CA-472B-AF3D-A9535D35AB21}" type="slidenum">
              <a:rPr lang="nl-NL" smtClean="0"/>
              <a:pPr/>
              <a:t>‹nr.›</a:t>
            </a:fld>
            <a:endParaRPr lang="nl-NL"/>
          </a:p>
        </p:txBody>
      </p:sp>
      <p:sp>
        <p:nvSpPr>
          <p:cNvPr id="4" name="Tijdelijke aanduiding voor datum 3">
            <a:extLst>
              <a:ext uri="{FF2B5EF4-FFF2-40B4-BE49-F238E27FC236}">
                <a16:creationId xmlns:a16="http://schemas.microsoft.com/office/drawing/2014/main" id="{D6223AC1-3EBE-481C-B910-1B9A07CA3E9D}"/>
              </a:ext>
            </a:extLst>
          </p:cNvPr>
          <p:cNvSpPr>
            <a:spLocks noGrp="1"/>
          </p:cNvSpPr>
          <p:nvPr>
            <p:ph type="dt" sz="half" idx="2"/>
          </p:nvPr>
        </p:nvSpPr>
        <p:spPr>
          <a:xfrm>
            <a:off x="1956137" y="6140035"/>
            <a:ext cx="990000" cy="529053"/>
          </a:xfrm>
          <a:prstGeom prst="rect">
            <a:avLst/>
          </a:prstGeom>
        </p:spPr>
        <p:txBody>
          <a:bodyPr vert="horz" lIns="0" tIns="0" rIns="0" bIns="0" rtlCol="0" anchor="ctr"/>
          <a:lstStyle>
            <a:lvl1pPr algn="ctr">
              <a:defRPr sz="1200">
                <a:solidFill>
                  <a:schemeClr val="tx1"/>
                </a:solidFill>
              </a:defRPr>
            </a:lvl1pPr>
          </a:lstStyle>
          <a:p>
            <a:fld id="{6B15B19B-6315-44A6-8FCB-33619B7DCB07}" type="datetime1">
              <a:rPr lang="nl-NL" smtClean="0"/>
              <a:pPr/>
              <a:t>18-6-2026</a:t>
            </a:fld>
            <a:endParaRPr lang="nl-NL"/>
          </a:p>
        </p:txBody>
      </p:sp>
      <p:sp>
        <p:nvSpPr>
          <p:cNvPr id="5" name="Tijdelijke aanduiding voor voettekst 4">
            <a:extLst>
              <a:ext uri="{FF2B5EF4-FFF2-40B4-BE49-F238E27FC236}">
                <a16:creationId xmlns:a16="http://schemas.microsoft.com/office/drawing/2014/main" id="{2C7996AC-C829-31AD-207D-372C988DE50E}"/>
              </a:ext>
            </a:extLst>
          </p:cNvPr>
          <p:cNvSpPr>
            <a:spLocks noGrp="1"/>
          </p:cNvSpPr>
          <p:nvPr>
            <p:ph type="ftr" sz="quarter" idx="3"/>
          </p:nvPr>
        </p:nvSpPr>
        <p:spPr>
          <a:xfrm>
            <a:off x="3216275" y="6129338"/>
            <a:ext cx="5759450" cy="539750"/>
          </a:xfrm>
          <a:prstGeom prst="rect">
            <a:avLst/>
          </a:prstGeom>
        </p:spPr>
        <p:txBody>
          <a:bodyPr vert="horz" lIns="0" tIns="0" rIns="0" bIns="0" rtlCol="0" anchor="ctr"/>
          <a:lstStyle>
            <a:lvl1pPr algn="ctr">
              <a:defRPr sz="1200">
                <a:solidFill>
                  <a:schemeClr val="tx1"/>
                </a:solidFill>
              </a:defRPr>
            </a:lvl1pPr>
          </a:lstStyle>
          <a:p>
            <a:endParaRPr lang="nl-NL"/>
          </a:p>
        </p:txBody>
      </p:sp>
    </p:spTree>
    <p:extLst>
      <p:ext uri="{BB962C8B-B14F-4D97-AF65-F5344CB8AC3E}">
        <p14:creationId xmlns:p14="http://schemas.microsoft.com/office/powerpoint/2010/main" val="3965110603"/>
      </p:ext>
    </p:extLst>
  </p:cSld>
  <p:clrMap bg1="lt1" tx1="dk1" bg2="lt2" tx2="dk2" accent1="accent1" accent2="accent2" accent3="accent3" accent4="accent4" accent5="accent5" accent6="accent6" hlink="hlink" folHlink="folHlink"/>
  <p:sldLayoutIdLst>
    <p:sldLayoutId id="2147483684" r:id="rId1"/>
    <p:sldLayoutId id="2147483686" r:id="rId2"/>
    <p:sldLayoutId id="2147483713" r:id="rId3"/>
    <p:sldLayoutId id="2147483687" r:id="rId4"/>
    <p:sldLayoutId id="2147483688" r:id="rId5"/>
    <p:sldLayoutId id="2147483689" r:id="rId6"/>
    <p:sldLayoutId id="2147483649" r:id="rId7"/>
    <p:sldLayoutId id="2147483660" r:id="rId8"/>
    <p:sldLayoutId id="2147483661" r:id="rId9"/>
    <p:sldLayoutId id="2147483662" r:id="rId10"/>
    <p:sldLayoutId id="2147483663" r:id="rId11"/>
    <p:sldLayoutId id="2147483683" r:id="rId12"/>
    <p:sldLayoutId id="2147483650" r:id="rId13"/>
    <p:sldLayoutId id="2147483669" r:id="rId14"/>
    <p:sldLayoutId id="2147483668" r:id="rId15"/>
    <p:sldLayoutId id="2147483652" r:id="rId16"/>
    <p:sldLayoutId id="2147483653" r:id="rId17"/>
    <p:sldLayoutId id="2147483651" r:id="rId18"/>
    <p:sldLayoutId id="2147483664" r:id="rId19"/>
    <p:sldLayoutId id="2147483665" r:id="rId20"/>
    <p:sldLayoutId id="2147483666" r:id="rId21"/>
    <p:sldLayoutId id="2147483667" r:id="rId22"/>
    <p:sldLayoutId id="2147483710" r:id="rId23"/>
    <p:sldLayoutId id="2147483670" r:id="rId24"/>
    <p:sldLayoutId id="2147483714" r:id="rId25"/>
    <p:sldLayoutId id="2147483715" r:id="rId26"/>
    <p:sldLayoutId id="2147483716" r:id="rId27"/>
    <p:sldLayoutId id="2147483717" r:id="rId28"/>
    <p:sldLayoutId id="2147483718" r:id="rId29"/>
    <p:sldLayoutId id="2147483719" r:id="rId30"/>
    <p:sldLayoutId id="2147483697" r:id="rId31"/>
    <p:sldLayoutId id="2147483698" r:id="rId32"/>
    <p:sldLayoutId id="2147483696" r:id="rId33"/>
    <p:sldLayoutId id="2147483672" r:id="rId34"/>
    <p:sldLayoutId id="2147483671" r:id="rId35"/>
    <p:sldLayoutId id="2147483690" r:id="rId36"/>
    <p:sldLayoutId id="2147483705" r:id="rId37"/>
    <p:sldLayoutId id="2147483691" r:id="rId38"/>
    <p:sldLayoutId id="2147483692" r:id="rId39"/>
    <p:sldLayoutId id="2147483694" r:id="rId40"/>
    <p:sldLayoutId id="2147483693" r:id="rId41"/>
    <p:sldLayoutId id="2147483695" r:id="rId42"/>
    <p:sldLayoutId id="2147483707" r:id="rId43"/>
    <p:sldLayoutId id="2147483708" r:id="rId44"/>
    <p:sldLayoutId id="2147483709" r:id="rId45"/>
    <p:sldLayoutId id="2147483677" r:id="rId46"/>
    <p:sldLayoutId id="2147483678" r:id="rId47"/>
    <p:sldLayoutId id="2147483679" r:id="rId48"/>
    <p:sldLayoutId id="2147483680" r:id="rId49"/>
    <p:sldLayoutId id="2147483681" r:id="rId50"/>
    <p:sldLayoutId id="2147483675" r:id="rId51"/>
    <p:sldLayoutId id="2147483682" r:id="rId52"/>
    <p:sldLayoutId id="2147483676" r:id="rId53"/>
    <p:sldLayoutId id="2147483673" r:id="rId54"/>
    <p:sldLayoutId id="2147483674" r:id="rId55"/>
    <p:sldLayoutId id="2147483656" r:id="rId56"/>
    <p:sldLayoutId id="2147483712" r:id="rId57"/>
  </p:sldLayoutIdLst>
  <p:hf sldNum="0" hdr="0" ftr="0"/>
  <p:txStyles>
    <p:titleStyle>
      <a:lvl1pPr algn="l" defTabSz="914400" rtl="0" eaLnBrk="1" latinLnBrk="0" hangingPunct="1">
        <a:lnSpc>
          <a:spcPct val="90000"/>
        </a:lnSpc>
        <a:spcBef>
          <a:spcPct val="0"/>
        </a:spcBef>
        <a:buNone/>
        <a:defRPr sz="36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projecttic@accessiblity.nl"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3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33.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hyperlink" Target="https://www.tpgi.com/color-contrast-checker"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4.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4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https://www.w3.org/WAI/ER/tools/" TargetMode="External"/><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41.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www.w3.org/TR/aria-in-hml/#firstrule" TargetMode="External"/><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776DC3-8E5E-6385-66E9-A1EF943A0755}"/>
              </a:ext>
            </a:extLst>
          </p:cNvPr>
          <p:cNvSpPr>
            <a:spLocks noGrp="1"/>
          </p:cNvSpPr>
          <p:nvPr>
            <p:ph type="title"/>
          </p:nvPr>
        </p:nvSpPr>
        <p:spPr>
          <a:xfrm>
            <a:off x="695325" y="368300"/>
            <a:ext cx="10801350" cy="330200"/>
          </a:xfrm>
        </p:spPr>
        <p:txBody>
          <a:bodyPr/>
          <a:lstStyle/>
          <a:p>
            <a:r>
              <a:rPr lang="nl-NL" dirty="0"/>
              <a:t>Uitleg voor docenten </a:t>
            </a:r>
          </a:p>
        </p:txBody>
      </p:sp>
      <p:sp>
        <p:nvSpPr>
          <p:cNvPr id="3" name="Tijdelijke aanduiding voor inhoud 2">
            <a:extLst>
              <a:ext uri="{FF2B5EF4-FFF2-40B4-BE49-F238E27FC236}">
                <a16:creationId xmlns:a16="http://schemas.microsoft.com/office/drawing/2014/main" id="{4CFC34A2-E0BF-9407-5849-2CDD48E6051A}"/>
              </a:ext>
            </a:extLst>
          </p:cNvPr>
          <p:cNvSpPr>
            <a:spLocks noGrp="1"/>
          </p:cNvSpPr>
          <p:nvPr>
            <p:ph idx="1"/>
          </p:nvPr>
        </p:nvSpPr>
        <p:spPr>
          <a:xfrm>
            <a:off x="355601" y="977899"/>
            <a:ext cx="11658600" cy="4902201"/>
          </a:xfrm>
        </p:spPr>
        <p:txBody>
          <a:bodyPr/>
          <a:lstStyle/>
          <a:p>
            <a:pPr marL="0" indent="0">
              <a:buNone/>
            </a:pPr>
            <a:r>
              <a:rPr lang="nl-NL" sz="1600" b="1" dirty="0"/>
              <a:t>Wat fijn dat je met je studenten aan de slag gaat met digitale toegankelijkheid! </a:t>
            </a:r>
          </a:p>
          <a:p>
            <a:pPr marL="0" indent="0">
              <a:buNone/>
            </a:pPr>
            <a:r>
              <a:rPr lang="nl-NL" sz="1600" dirty="0"/>
              <a:t>Lees onderstaande aandachtspunten voordat je de presentatie gebruikt.</a:t>
            </a:r>
          </a:p>
          <a:p>
            <a:pPr marL="0" indent="0">
              <a:buNone/>
            </a:pPr>
            <a:r>
              <a:rPr lang="nl-NL" sz="1600" dirty="0"/>
              <a:t>1. Ervaringsdeskundige</a:t>
            </a:r>
          </a:p>
          <a:p>
            <a:pPr marL="0" indent="0">
              <a:buNone/>
            </a:pPr>
            <a:r>
              <a:rPr lang="nl-NL" sz="1600" dirty="0"/>
              <a:t>Deze presentatie bevat een moment voor een demo door een ervaringsdeskundige. Plan vooraf een gast in die met een schermlezer werkt, zoals NVDA of </a:t>
            </a:r>
            <a:r>
              <a:rPr lang="nl-NL" sz="1600" dirty="0" err="1"/>
              <a:t>VoiceOver</a:t>
            </a:r>
            <a:r>
              <a:rPr lang="nl-NL" sz="1600" dirty="0"/>
              <a:t>, en reserveer hiervoor 20-30 minuten. </a:t>
            </a:r>
          </a:p>
          <a:p>
            <a:pPr marL="0" indent="0">
              <a:buNone/>
            </a:pPr>
            <a:r>
              <a:rPr lang="nl-NL" sz="1600" dirty="0"/>
              <a:t>Laat bijvoorbeeld zien hoe iemand:</a:t>
            </a:r>
          </a:p>
          <a:p>
            <a:r>
              <a:rPr lang="nl-NL" sz="1600" dirty="0"/>
              <a:t>een product zoekt en in een webwinkel in het winkelmandje plaatst, of</a:t>
            </a:r>
          </a:p>
          <a:p>
            <a:r>
              <a:rPr lang="nl-NL" sz="1600" dirty="0"/>
              <a:t>op een gemeentelijke website een afspraak maakt (zonder persoonlijke gegevens in te vullen).</a:t>
            </a:r>
          </a:p>
          <a:p>
            <a:pPr marL="0" indent="0">
              <a:buNone/>
            </a:pPr>
            <a:r>
              <a:rPr lang="nl-NL" sz="1600" dirty="0"/>
              <a:t>Zo ervaren studenten direct hoe belangrijk goede toetsenbordnavigatie en correcte (semantische) code zijn.</a:t>
            </a:r>
          </a:p>
          <a:p>
            <a:pPr marL="0" indent="0">
              <a:buNone/>
            </a:pPr>
            <a:r>
              <a:rPr lang="nl-NL" sz="1600" dirty="0"/>
              <a:t>2. Gebruik van de slides</a:t>
            </a:r>
          </a:p>
          <a:p>
            <a:pPr marL="0" indent="0">
              <a:buNone/>
            </a:pPr>
            <a:r>
              <a:rPr lang="nl-NL" sz="1600" dirty="0"/>
              <a:t>De slides zijn een basis. Pas ze gerust aan: voeg eigen voorbeelden toe, sla slides over of bouw extra tijd in voor vragen en gesprek.</a:t>
            </a:r>
          </a:p>
          <a:p>
            <a:pPr marL="0" indent="0">
              <a:buNone/>
            </a:pPr>
            <a:r>
              <a:rPr lang="nl-NL" sz="1600" dirty="0"/>
              <a:t>3. Vragen of feedback</a:t>
            </a:r>
          </a:p>
          <a:p>
            <a:pPr marL="0" indent="0">
              <a:buNone/>
            </a:pPr>
            <a:r>
              <a:rPr lang="nl-NL" sz="1600" dirty="0"/>
              <a:t>Mis je informatie in deze presentatie, of heb je opmerkingen? Laat het ons gerust weten. Stuur een bericht naar:  </a:t>
            </a:r>
            <a:r>
              <a:rPr lang="nl-NL" sz="1600" dirty="0">
                <a:hlinkClick r:id="rId3"/>
              </a:rPr>
              <a:t>projecttic@accessiblity.nl</a:t>
            </a:r>
            <a:endParaRPr lang="nl-NL" sz="1600" dirty="0"/>
          </a:p>
          <a:p>
            <a:pPr marL="0" indent="0">
              <a:buNone/>
            </a:pPr>
            <a:endParaRPr lang="nl-NL" sz="1200" dirty="0"/>
          </a:p>
        </p:txBody>
      </p:sp>
      <p:sp>
        <p:nvSpPr>
          <p:cNvPr id="5" name="Tekstvak 4">
            <a:extLst>
              <a:ext uri="{FF2B5EF4-FFF2-40B4-BE49-F238E27FC236}">
                <a16:creationId xmlns:a16="http://schemas.microsoft.com/office/drawing/2014/main" id="{D4B9A96D-7109-F607-B062-258C93EDB0ED}"/>
              </a:ext>
            </a:extLst>
          </p:cNvPr>
          <p:cNvSpPr txBox="1"/>
          <p:nvPr/>
        </p:nvSpPr>
        <p:spPr>
          <a:xfrm>
            <a:off x="593725" y="5969001"/>
            <a:ext cx="7416800" cy="400110"/>
          </a:xfrm>
          <a:prstGeom prst="rect">
            <a:avLst/>
          </a:prstGeom>
          <a:noFill/>
        </p:spPr>
        <p:txBody>
          <a:bodyPr wrap="square">
            <a:spAutoFit/>
          </a:bodyPr>
          <a:lstStyle/>
          <a:p>
            <a:r>
              <a:rPr lang="nl-NL" sz="2000" dirty="0">
                <a:solidFill>
                  <a:srgbClr val="FF0000"/>
                </a:solidFill>
              </a:rPr>
              <a:t>Deze slide niet gebruiken in een presentatie </a:t>
            </a:r>
          </a:p>
        </p:txBody>
      </p:sp>
    </p:spTree>
    <p:extLst>
      <p:ext uri="{BB962C8B-B14F-4D97-AF65-F5344CB8AC3E}">
        <p14:creationId xmlns:p14="http://schemas.microsoft.com/office/powerpoint/2010/main" val="2689497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7E8332-F38D-52DC-73A9-338BA103550F}"/>
              </a:ext>
            </a:extLst>
          </p:cNvPr>
          <p:cNvSpPr>
            <a:spLocks noGrp="1"/>
          </p:cNvSpPr>
          <p:nvPr>
            <p:ph type="ctrTitle"/>
          </p:nvPr>
        </p:nvSpPr>
        <p:spPr/>
        <p:txBody>
          <a:bodyPr/>
          <a:lstStyle/>
          <a:p>
            <a:r>
              <a:rPr lang="nl-NL">
                <a:ea typeface="Verdana"/>
              </a:rPr>
              <a:t>WCAG</a:t>
            </a:r>
            <a:endParaRPr lang="nl-NL" dirty="0">
              <a:ea typeface="Verdana"/>
            </a:endParaRPr>
          </a:p>
        </p:txBody>
      </p:sp>
      <p:sp>
        <p:nvSpPr>
          <p:cNvPr id="3" name="Ondertitel 2">
            <a:extLst>
              <a:ext uri="{FF2B5EF4-FFF2-40B4-BE49-F238E27FC236}">
                <a16:creationId xmlns:a16="http://schemas.microsoft.com/office/drawing/2014/main" id="{1EEE1E35-044A-B932-9320-4E4B2AE336AF}"/>
              </a:ext>
            </a:extLst>
          </p:cNvPr>
          <p:cNvSpPr>
            <a:spLocks noGrp="1"/>
          </p:cNvSpPr>
          <p:nvPr>
            <p:ph type="subTitle" idx="1"/>
          </p:nvPr>
        </p:nvSpPr>
        <p:spPr/>
        <p:txBody>
          <a:bodyPr vert="horz" lIns="0" tIns="0" rIns="0" bIns="0" rtlCol="0" anchor="t">
            <a:noAutofit/>
          </a:bodyPr>
          <a:lstStyle/>
          <a:p>
            <a:r>
              <a:rPr lang="nl-NL"/>
              <a:t>Een introductie</a:t>
            </a:r>
          </a:p>
        </p:txBody>
      </p:sp>
      <p:pic>
        <p:nvPicPr>
          <p:cNvPr id="8" name="Tijdelijke aanduiding voor afbeelding 7" descr="Logo Accessiblity, onderdeel van Batiméus">
            <a:extLst>
              <a:ext uri="{FF2B5EF4-FFF2-40B4-BE49-F238E27FC236}">
                <a16:creationId xmlns:a16="http://schemas.microsoft.com/office/drawing/2014/main" id="{A1A5C82B-7247-3BE7-6D7A-09E4496B24E3}"/>
              </a:ext>
            </a:extLst>
          </p:cNvPr>
          <p:cNvPicPr>
            <a:picLocks noGrp="1" noChangeAspect="1"/>
          </p:cNvPicPr>
          <p:nvPr>
            <p:ph type="pic" sz="quarter" idx="10"/>
          </p:nvPr>
        </p:nvPicPr>
        <p:blipFill>
          <a:blip>
            <a:extLst>
              <a:ext uri="{96DAC541-7B7A-43D3-8B79-37D633B846F1}">
                <asvg:svgBlip xmlns:asvg="http://schemas.microsoft.com/office/drawing/2016/SVG/main" r:embed="rId3"/>
              </a:ext>
            </a:extLst>
          </a:blip>
          <a:srcRect t="620" b="620"/>
          <a:stretch>
            <a:fillRect/>
          </a:stretch>
        </p:blipFill>
        <p:spPr/>
      </p:pic>
    </p:spTree>
    <p:extLst>
      <p:ext uri="{BB962C8B-B14F-4D97-AF65-F5344CB8AC3E}">
        <p14:creationId xmlns:p14="http://schemas.microsoft.com/office/powerpoint/2010/main" val="397643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A166F-D05C-9785-64EB-F7BF532824E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22924F-1696-94DA-2E32-010E3F0C39D9}"/>
              </a:ext>
            </a:extLst>
          </p:cNvPr>
          <p:cNvSpPr>
            <a:spLocks noGrp="1"/>
          </p:cNvSpPr>
          <p:nvPr>
            <p:ph type="title"/>
          </p:nvPr>
        </p:nvSpPr>
        <p:spPr>
          <a:xfrm>
            <a:off x="695325" y="368301"/>
            <a:ext cx="4860926" cy="1188491"/>
          </a:xfrm>
        </p:spPr>
        <p:txBody>
          <a:bodyPr/>
          <a:lstStyle/>
          <a:p>
            <a:r>
              <a:rPr lang="nl-NL" dirty="0"/>
              <a:t>Programma</a:t>
            </a:r>
          </a:p>
        </p:txBody>
      </p:sp>
      <p:sp>
        <p:nvSpPr>
          <p:cNvPr id="3" name="Tijdelijke aanduiding voor tekst 2">
            <a:extLst>
              <a:ext uri="{FF2B5EF4-FFF2-40B4-BE49-F238E27FC236}">
                <a16:creationId xmlns:a16="http://schemas.microsoft.com/office/drawing/2014/main" id="{4A692477-A711-777E-2023-81840E2B702D}"/>
              </a:ext>
            </a:extLst>
          </p:cNvPr>
          <p:cNvSpPr>
            <a:spLocks noGrp="1"/>
          </p:cNvSpPr>
          <p:nvPr>
            <p:ph type="body" sz="quarter" idx="14"/>
          </p:nvPr>
        </p:nvSpPr>
        <p:spPr>
          <a:xfrm>
            <a:off x="695325" y="2204864"/>
            <a:ext cx="4860926" cy="4284835"/>
          </a:xfrm>
        </p:spPr>
        <p:txBody>
          <a:bodyPr/>
          <a:lstStyle/>
          <a:p>
            <a:pPr>
              <a:lnSpc>
                <a:spcPct val="150000"/>
              </a:lnSpc>
            </a:pPr>
            <a:r>
              <a:rPr lang="nl-NL" dirty="0"/>
              <a:t>Wat is digitale toegankelijkheid?</a:t>
            </a:r>
          </a:p>
          <a:p>
            <a:pPr>
              <a:lnSpc>
                <a:spcPct val="150000"/>
              </a:lnSpc>
            </a:pPr>
            <a:r>
              <a:rPr lang="nl-NL" dirty="0"/>
              <a:t>De WCAG richtlijnen</a:t>
            </a:r>
          </a:p>
          <a:p>
            <a:pPr>
              <a:lnSpc>
                <a:spcPct val="150000"/>
              </a:lnSpc>
            </a:pPr>
            <a:r>
              <a:rPr lang="nl-NL" dirty="0"/>
              <a:t>Quick </a:t>
            </a:r>
            <a:r>
              <a:rPr lang="nl-NL" dirty="0" err="1"/>
              <a:t>wins</a:t>
            </a:r>
            <a:endParaRPr lang="nl-NL" dirty="0"/>
          </a:p>
          <a:p>
            <a:pPr>
              <a:lnSpc>
                <a:spcPct val="150000"/>
              </a:lnSpc>
            </a:pPr>
            <a:r>
              <a:rPr lang="nl-NL" dirty="0"/>
              <a:t>Tools</a:t>
            </a:r>
          </a:p>
          <a:p>
            <a:pPr>
              <a:lnSpc>
                <a:spcPct val="150000"/>
              </a:lnSpc>
            </a:pPr>
            <a:r>
              <a:rPr lang="nl-NL" dirty="0" err="1"/>
              <a:t>JavaScript</a:t>
            </a:r>
            <a:r>
              <a:rPr lang="nl-NL" dirty="0"/>
              <a:t> &amp; WAI ARIA </a:t>
            </a:r>
          </a:p>
          <a:p>
            <a:pPr>
              <a:lnSpc>
                <a:spcPct val="150000"/>
              </a:lnSpc>
            </a:pPr>
            <a:endParaRPr lang="nl-NL" dirty="0"/>
          </a:p>
        </p:txBody>
      </p:sp>
    </p:spTree>
    <p:extLst>
      <p:ext uri="{BB962C8B-B14F-4D97-AF65-F5344CB8AC3E}">
        <p14:creationId xmlns:p14="http://schemas.microsoft.com/office/powerpoint/2010/main" val="1103385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829913-08CB-CAFB-E32D-1D51B23D8284}"/>
              </a:ext>
            </a:extLst>
          </p:cNvPr>
          <p:cNvSpPr>
            <a:spLocks noGrp="1"/>
          </p:cNvSpPr>
          <p:nvPr>
            <p:ph type="title"/>
          </p:nvPr>
        </p:nvSpPr>
        <p:spPr/>
        <p:txBody>
          <a:bodyPr/>
          <a:lstStyle/>
          <a:p>
            <a:r>
              <a:rPr lang="nl-NL"/>
              <a:t>Wat is digitale toegankelijkheid?</a:t>
            </a:r>
          </a:p>
        </p:txBody>
      </p:sp>
      <p:sp>
        <p:nvSpPr>
          <p:cNvPr id="3" name="Tijdelijke aanduiding voor tekst 2">
            <a:extLst>
              <a:ext uri="{FF2B5EF4-FFF2-40B4-BE49-F238E27FC236}">
                <a16:creationId xmlns:a16="http://schemas.microsoft.com/office/drawing/2014/main" id="{0862F81C-EA89-1A91-80E2-3FB334670CC1}"/>
              </a:ext>
            </a:extLst>
          </p:cNvPr>
          <p:cNvSpPr>
            <a:spLocks noGrp="1"/>
          </p:cNvSpPr>
          <p:nvPr>
            <p:ph type="body" sz="quarter" idx="14"/>
          </p:nvPr>
        </p:nvSpPr>
        <p:spPr>
          <a:xfrm>
            <a:off x="695325" y="1988840"/>
            <a:ext cx="5328667" cy="4500860"/>
          </a:xfrm>
        </p:spPr>
        <p:txBody>
          <a:bodyPr/>
          <a:lstStyle/>
          <a:p>
            <a:pPr marL="0" indent="0">
              <a:lnSpc>
                <a:spcPct val="150000"/>
              </a:lnSpc>
              <a:buNone/>
            </a:pPr>
            <a:r>
              <a:rPr lang="nl-NL" sz="2000" dirty="0"/>
              <a:t>Websites, software, andere media en applicaties moeten </a:t>
            </a:r>
            <a:r>
              <a:rPr lang="nl-NL" sz="2000" b="1" dirty="0"/>
              <a:t>voor iedereen</a:t>
            </a:r>
            <a:r>
              <a:rPr lang="nl-NL" sz="2000" dirty="0"/>
              <a:t> bruikbaar zijn.</a:t>
            </a:r>
          </a:p>
          <a:p>
            <a:pPr marL="0" indent="0">
              <a:lnSpc>
                <a:spcPct val="150000"/>
              </a:lnSpc>
              <a:buNone/>
            </a:pPr>
            <a:endParaRPr lang="nl-NL" sz="2000" dirty="0"/>
          </a:p>
          <a:p>
            <a:pPr marL="0" indent="0">
              <a:lnSpc>
                <a:spcPct val="150000"/>
              </a:lnSpc>
              <a:buNone/>
            </a:pPr>
            <a:r>
              <a:rPr lang="nl-NL" sz="2000" dirty="0"/>
              <a:t>De bruikbaarheid mag niet afhankelijk zijn van de </a:t>
            </a:r>
            <a:r>
              <a:rPr lang="nl-NL" sz="2000" b="1" dirty="0"/>
              <a:t>hardware, software, taal, locatie of vaardigheden van de gebruiker. </a:t>
            </a:r>
          </a:p>
        </p:txBody>
      </p:sp>
      <p:pic>
        <p:nvPicPr>
          <p:cNvPr id="8" name="Tijdelijke aanduiding voor afbeelding 7">
            <a:extLst>
              <a:ext uri="{FF2B5EF4-FFF2-40B4-BE49-F238E27FC236}">
                <a16:creationId xmlns:a16="http://schemas.microsoft.com/office/drawing/2014/main" id="{B91970F4-60A9-9346-9474-A3513C508EFA}"/>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3085" b="3085"/>
          <a:stretch>
            <a:fillRect/>
          </a:stretch>
        </p:blipFill>
        <p:spPr>
          <a:xfrm>
            <a:off x="6788745" y="-20340"/>
            <a:ext cx="5400675" cy="6872344"/>
          </a:xfrm>
        </p:spPr>
      </p:pic>
    </p:spTree>
    <p:extLst>
      <p:ext uri="{BB962C8B-B14F-4D97-AF65-F5344CB8AC3E}">
        <p14:creationId xmlns:p14="http://schemas.microsoft.com/office/powerpoint/2010/main" val="95763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9F7824-062A-8803-ECDD-154F95D6E9E5}"/>
              </a:ext>
            </a:extLst>
          </p:cNvPr>
          <p:cNvSpPr>
            <a:spLocks noGrp="1"/>
          </p:cNvSpPr>
          <p:nvPr>
            <p:ph type="title"/>
          </p:nvPr>
        </p:nvSpPr>
        <p:spPr>
          <a:xfrm>
            <a:off x="695400" y="2933700"/>
            <a:ext cx="4860924" cy="990600"/>
          </a:xfrm>
        </p:spPr>
        <p:txBody>
          <a:bodyPr/>
          <a:lstStyle/>
          <a:p>
            <a:r>
              <a:rPr lang="nl-NL" dirty="0"/>
              <a:t>De WCAG richtlijnen</a:t>
            </a:r>
          </a:p>
        </p:txBody>
      </p:sp>
    </p:spTree>
    <p:extLst>
      <p:ext uri="{BB962C8B-B14F-4D97-AF65-F5344CB8AC3E}">
        <p14:creationId xmlns:p14="http://schemas.microsoft.com/office/powerpoint/2010/main" val="151020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264175-AD74-0E2E-B9F8-2DF1014B2056}"/>
              </a:ext>
            </a:extLst>
          </p:cNvPr>
          <p:cNvSpPr>
            <a:spLocks noGrp="1"/>
          </p:cNvSpPr>
          <p:nvPr>
            <p:ph type="title"/>
          </p:nvPr>
        </p:nvSpPr>
        <p:spPr>
          <a:xfrm>
            <a:off x="695324" y="692696"/>
            <a:ext cx="4860925" cy="1368152"/>
          </a:xfrm>
        </p:spPr>
        <p:txBody>
          <a:bodyPr/>
          <a:lstStyle/>
          <a:p>
            <a:r>
              <a:rPr lang="nl-NL"/>
              <a:t>WCAG - Web Content Accessibility </a:t>
            </a:r>
            <a:r>
              <a:rPr lang="nl-NL" err="1"/>
              <a:t>Guidelines</a:t>
            </a:r>
            <a:endParaRPr lang="nl-NL"/>
          </a:p>
        </p:txBody>
      </p:sp>
      <p:sp>
        <p:nvSpPr>
          <p:cNvPr id="3" name="Tijdelijke aanduiding voor tekst 2">
            <a:extLst>
              <a:ext uri="{FF2B5EF4-FFF2-40B4-BE49-F238E27FC236}">
                <a16:creationId xmlns:a16="http://schemas.microsoft.com/office/drawing/2014/main" id="{29C32E83-0B5C-6711-66FF-76B5008576BC}"/>
              </a:ext>
            </a:extLst>
          </p:cNvPr>
          <p:cNvSpPr>
            <a:spLocks noGrp="1"/>
          </p:cNvSpPr>
          <p:nvPr>
            <p:ph type="body" sz="quarter" idx="14"/>
          </p:nvPr>
        </p:nvSpPr>
        <p:spPr>
          <a:xfrm>
            <a:off x="695325" y="2636912"/>
            <a:ext cx="4860925" cy="3852788"/>
          </a:xfrm>
        </p:spPr>
        <p:txBody>
          <a:bodyPr/>
          <a:lstStyle/>
          <a:p>
            <a:pPr>
              <a:lnSpc>
                <a:spcPct val="200000"/>
              </a:lnSpc>
            </a:pPr>
            <a:r>
              <a:rPr lang="nl-NL"/>
              <a:t>Internationale standaard</a:t>
            </a:r>
          </a:p>
          <a:p>
            <a:pPr>
              <a:lnSpc>
                <a:spcPct val="200000"/>
              </a:lnSpc>
            </a:pPr>
            <a:r>
              <a:rPr lang="nl-NL"/>
              <a:t>Ontwikkeld door het W3C</a:t>
            </a:r>
          </a:p>
          <a:p>
            <a:pPr>
              <a:lnSpc>
                <a:spcPct val="200000"/>
              </a:lnSpc>
            </a:pPr>
            <a:r>
              <a:rPr lang="nl-NL"/>
              <a:t>Opgenomen in wereldwijde wet- en regelgeving</a:t>
            </a:r>
          </a:p>
        </p:txBody>
      </p:sp>
      <p:pic>
        <p:nvPicPr>
          <p:cNvPr id="6" name="Tijdelijke aanduiding voor afbeelding 5" descr="Logo van W3C">
            <a:extLst>
              <a:ext uri="{FF2B5EF4-FFF2-40B4-BE49-F238E27FC236}">
                <a16:creationId xmlns:a16="http://schemas.microsoft.com/office/drawing/2014/main" id="{02450C21-DAF6-29D4-27D8-0F1AAB3A3404}"/>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51052" t="-93200" r="-36858" b="-116945"/>
          <a:stretch>
            <a:fillRect/>
          </a:stretch>
        </p:blipFill>
        <p:spPr>
          <a:xfrm>
            <a:off x="6096000" y="0"/>
            <a:ext cx="6096000" cy="6858000"/>
          </a:xfrm>
        </p:spPr>
      </p:pic>
    </p:spTree>
    <p:extLst>
      <p:ext uri="{BB962C8B-B14F-4D97-AF65-F5344CB8AC3E}">
        <p14:creationId xmlns:p14="http://schemas.microsoft.com/office/powerpoint/2010/main" val="1415833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9129C8-8ED9-B90F-97F1-9A0E71B70092}"/>
              </a:ext>
            </a:extLst>
          </p:cNvPr>
          <p:cNvSpPr>
            <a:spLocks noGrp="1"/>
          </p:cNvSpPr>
          <p:nvPr>
            <p:ph type="title"/>
          </p:nvPr>
        </p:nvSpPr>
        <p:spPr>
          <a:xfrm>
            <a:off x="695323" y="476672"/>
            <a:ext cx="4860925" cy="990600"/>
          </a:xfrm>
        </p:spPr>
        <p:txBody>
          <a:bodyPr/>
          <a:lstStyle/>
          <a:p>
            <a:pPr>
              <a:lnSpc>
                <a:spcPct val="100000"/>
              </a:lnSpc>
            </a:pPr>
            <a:r>
              <a:rPr lang="nl-NL"/>
              <a:t>De WCAG bestaat uit 4 principes</a:t>
            </a:r>
          </a:p>
        </p:txBody>
      </p:sp>
      <p:sp>
        <p:nvSpPr>
          <p:cNvPr id="3" name="Tijdelijke aanduiding voor tekst 2">
            <a:extLst>
              <a:ext uri="{FF2B5EF4-FFF2-40B4-BE49-F238E27FC236}">
                <a16:creationId xmlns:a16="http://schemas.microsoft.com/office/drawing/2014/main" id="{E1A56190-B886-DEA3-E3E9-22E826C08A52}"/>
              </a:ext>
            </a:extLst>
          </p:cNvPr>
          <p:cNvSpPr>
            <a:spLocks noGrp="1"/>
          </p:cNvSpPr>
          <p:nvPr>
            <p:ph type="body" sz="quarter" idx="14"/>
          </p:nvPr>
        </p:nvSpPr>
        <p:spPr>
          <a:xfrm>
            <a:off x="695324" y="1772816"/>
            <a:ext cx="4860925" cy="4860926"/>
          </a:xfrm>
        </p:spPr>
        <p:txBody>
          <a:bodyPr/>
          <a:lstStyle/>
          <a:p>
            <a:pPr marL="457200" indent="-457200">
              <a:lnSpc>
                <a:spcPct val="200000"/>
              </a:lnSpc>
              <a:buFont typeface="+mj-lt"/>
              <a:buAutoNum type="arabicPeriod"/>
            </a:pPr>
            <a:r>
              <a:rPr lang="nl-NL"/>
              <a:t>Waarneembaar</a:t>
            </a:r>
          </a:p>
          <a:p>
            <a:pPr marL="457200" indent="-457200">
              <a:lnSpc>
                <a:spcPct val="200000"/>
              </a:lnSpc>
              <a:buFont typeface="+mj-lt"/>
              <a:buAutoNum type="arabicPeriod"/>
            </a:pPr>
            <a:r>
              <a:rPr lang="nl-NL"/>
              <a:t>Bedienbaar</a:t>
            </a:r>
          </a:p>
          <a:p>
            <a:pPr marL="457200" indent="-457200">
              <a:lnSpc>
                <a:spcPct val="200000"/>
              </a:lnSpc>
              <a:buFont typeface="+mj-lt"/>
              <a:buAutoNum type="arabicPeriod"/>
            </a:pPr>
            <a:r>
              <a:rPr lang="nl-NL"/>
              <a:t>Begrijpelijk </a:t>
            </a:r>
          </a:p>
          <a:p>
            <a:pPr marL="457200" indent="-457200">
              <a:lnSpc>
                <a:spcPct val="200000"/>
              </a:lnSpc>
              <a:buFont typeface="+mj-lt"/>
              <a:buAutoNum type="arabicPeriod"/>
            </a:pPr>
            <a:r>
              <a:rPr lang="nl-NL"/>
              <a:t>Robuust </a:t>
            </a:r>
          </a:p>
        </p:txBody>
      </p:sp>
      <p:pic>
        <p:nvPicPr>
          <p:cNvPr id="6" name="Tijdelijke aanduiding voor afbeelding 5">
            <a:extLst>
              <a:ext uri="{FF2B5EF4-FFF2-40B4-BE49-F238E27FC236}">
                <a16:creationId xmlns:a16="http://schemas.microsoft.com/office/drawing/2014/main" id="{BC0FBE2E-CD7F-27CB-55C4-1F0F20E5CC5A}"/>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20237" r="-312"/>
          <a:stretch>
            <a:fillRect/>
          </a:stretch>
        </p:blipFill>
        <p:spPr>
          <a:xfrm>
            <a:off x="6096000" y="0"/>
            <a:ext cx="6096000" cy="6858000"/>
          </a:xfrm>
        </p:spPr>
      </p:pic>
    </p:spTree>
    <p:extLst>
      <p:ext uri="{BB962C8B-B14F-4D97-AF65-F5344CB8AC3E}">
        <p14:creationId xmlns:p14="http://schemas.microsoft.com/office/powerpoint/2010/main" val="3689361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055F0F-4C3D-2EF0-B37D-42AF0A31C7C0}"/>
              </a:ext>
            </a:extLst>
          </p:cNvPr>
          <p:cNvSpPr>
            <a:spLocks noGrp="1"/>
          </p:cNvSpPr>
          <p:nvPr>
            <p:ph type="title"/>
          </p:nvPr>
        </p:nvSpPr>
        <p:spPr/>
        <p:txBody>
          <a:bodyPr/>
          <a:lstStyle/>
          <a:p>
            <a:r>
              <a:rPr lang="nl-NL"/>
              <a:t>De gelaagde structuur van de WCAG</a:t>
            </a:r>
          </a:p>
        </p:txBody>
      </p:sp>
      <p:pic>
        <p:nvPicPr>
          <p:cNvPr id="7" name="Tijdelijke aanduiding voor inhoud 6" descr="Afbeelding van de structuur van de WCAG, die bestaat uit vier principes: Waarneembaar, Bedienbaar, Begrijpelijk en Robuust. Daaronder vallen 13 richtlijnen en 86 succescriteria, verdeeld in 31 niveau A, 24 niveau AA en 31 niveau AAA. Niveau A en AA vallen onder de Nederlandse wetgeving.">
            <a:extLst>
              <a:ext uri="{FF2B5EF4-FFF2-40B4-BE49-F238E27FC236}">
                <a16:creationId xmlns:a16="http://schemas.microsoft.com/office/drawing/2014/main" id="{C53CF266-40F6-6C50-B3DE-47C5991496FF}"/>
              </a:ext>
              <a:ext uri="{C183D7F6-B498-43B3-948B-1728B52AA6E4}">
                <adec:decorative xmlns:adec="http://schemas.microsoft.com/office/drawing/2017/decorative" val="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95600" y="1628800"/>
            <a:ext cx="6436858" cy="4901225"/>
          </a:xfrm>
        </p:spPr>
      </p:pic>
    </p:spTree>
    <p:extLst>
      <p:ext uri="{BB962C8B-B14F-4D97-AF65-F5344CB8AC3E}">
        <p14:creationId xmlns:p14="http://schemas.microsoft.com/office/powerpoint/2010/main" val="1956909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FD0BD0-0772-A5C4-3290-9B00DB7F56CC}"/>
              </a:ext>
            </a:extLst>
          </p:cNvPr>
          <p:cNvSpPr>
            <a:spLocks noGrp="1"/>
          </p:cNvSpPr>
          <p:nvPr>
            <p:ph type="title"/>
          </p:nvPr>
        </p:nvSpPr>
        <p:spPr>
          <a:xfrm>
            <a:off x="844671" y="917281"/>
            <a:ext cx="10528990" cy="990601"/>
          </a:xfrm>
        </p:spPr>
        <p:txBody>
          <a:bodyPr/>
          <a:lstStyle/>
          <a:p>
            <a:r>
              <a:rPr lang="nl-NL"/>
              <a:t>De richtlijnen vertaald naar gebruikers met een </a:t>
            </a:r>
            <a:r>
              <a:rPr lang="nl-NL" b="1"/>
              <a:t>visuele</a:t>
            </a:r>
            <a:r>
              <a:rPr lang="nl-NL"/>
              <a:t> beperking</a:t>
            </a:r>
          </a:p>
        </p:txBody>
      </p:sp>
      <p:pic>
        <p:nvPicPr>
          <p:cNvPr id="8" name="Tijdelijke aanduiding voor inhoud 7" descr="Iconogram voor 'Bedienbaar 2.1 Toetsenbordtoegankelijk': pictogram van een toetsenbord met label 'Toetsenbordbediening'">
            <a:extLst>
              <a:ext uri="{FF2B5EF4-FFF2-40B4-BE49-F238E27FC236}">
                <a16:creationId xmlns:a16="http://schemas.microsoft.com/office/drawing/2014/main" id="{2E83424B-93AC-FF1A-7603-F6603D990C5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7289" t="32798" r="18942" b="-1"/>
          <a:stretch>
            <a:fillRect/>
          </a:stretch>
        </p:blipFill>
        <p:spPr>
          <a:xfrm>
            <a:off x="978842" y="2238034"/>
            <a:ext cx="2275802" cy="2042292"/>
          </a:xfrm>
        </p:spPr>
      </p:pic>
      <p:sp>
        <p:nvSpPr>
          <p:cNvPr id="4" name="Tekstvak 3">
            <a:extLst>
              <a:ext uri="{FF2B5EF4-FFF2-40B4-BE49-F238E27FC236}">
                <a16:creationId xmlns:a16="http://schemas.microsoft.com/office/drawing/2014/main" id="{00E6FB1F-3CFF-F12A-40F8-61A987E9E8FC}"/>
              </a:ext>
            </a:extLst>
          </p:cNvPr>
          <p:cNvSpPr txBox="1"/>
          <p:nvPr/>
        </p:nvSpPr>
        <p:spPr>
          <a:xfrm>
            <a:off x="844671" y="4374592"/>
            <a:ext cx="2657946" cy="1282787"/>
          </a:xfrm>
          <a:prstGeom prst="rect">
            <a:avLst/>
          </a:prstGeom>
          <a:noFill/>
        </p:spPr>
        <p:txBody>
          <a:bodyPr wrap="square">
            <a:spAutoFit/>
          </a:bodyPr>
          <a:lstStyle/>
          <a:p>
            <a:pPr>
              <a:lnSpc>
                <a:spcPct val="150000"/>
              </a:lnSpc>
            </a:pPr>
            <a:r>
              <a:rPr lang="nl-NL" dirty="0"/>
              <a:t>Alle functies zijn bereikbaar zonder muis</a:t>
            </a:r>
          </a:p>
        </p:txBody>
      </p:sp>
      <p:pic>
        <p:nvPicPr>
          <p:cNvPr id="10" name="Tijdelijke aanduiding voor inhoud 9" descr="Iconogram voor 'Waarneembaar 1.4 Onderscheidbaarheid - Schermvergroting': een vergrootglas over een icoon met pijl omhoog in een kader met streepjes, met label 'Schermvergroting'.">
            <a:extLst>
              <a:ext uri="{FF2B5EF4-FFF2-40B4-BE49-F238E27FC236}">
                <a16:creationId xmlns:a16="http://schemas.microsoft.com/office/drawing/2014/main" id="{7182D773-2176-C51B-0DE9-80C3386F37F3}"/>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rcRect l="17355" t="28915" r="17503" b="7068"/>
          <a:stretch>
            <a:fillRect/>
          </a:stretch>
        </p:blipFill>
        <p:spPr>
          <a:xfrm>
            <a:off x="4717361" y="2195822"/>
            <a:ext cx="2130104" cy="1953755"/>
          </a:xfrm>
        </p:spPr>
      </p:pic>
      <p:sp>
        <p:nvSpPr>
          <p:cNvPr id="6" name="Tekstvak 5">
            <a:extLst>
              <a:ext uri="{FF2B5EF4-FFF2-40B4-BE49-F238E27FC236}">
                <a16:creationId xmlns:a16="http://schemas.microsoft.com/office/drawing/2014/main" id="{7AC8FAA8-EF9C-13E0-1C60-E46D4840144C}"/>
              </a:ext>
            </a:extLst>
          </p:cNvPr>
          <p:cNvSpPr txBox="1"/>
          <p:nvPr/>
        </p:nvSpPr>
        <p:spPr>
          <a:xfrm>
            <a:off x="4308529" y="4374592"/>
            <a:ext cx="2867186" cy="1282787"/>
          </a:xfrm>
          <a:prstGeom prst="rect">
            <a:avLst/>
          </a:prstGeom>
          <a:noFill/>
        </p:spPr>
        <p:txBody>
          <a:bodyPr wrap="square">
            <a:spAutoFit/>
          </a:bodyPr>
          <a:lstStyle/>
          <a:p>
            <a:pPr>
              <a:lnSpc>
                <a:spcPct val="150000"/>
              </a:lnSpc>
            </a:pPr>
            <a:r>
              <a:rPr lang="nl-NL" dirty="0"/>
              <a:t>Content blijft leesbaar tot 200% zoom zonder verlies van informatie</a:t>
            </a:r>
          </a:p>
        </p:txBody>
      </p:sp>
      <p:pic>
        <p:nvPicPr>
          <p:cNvPr id="12" name="Tijdelijke aanduiding voor inhoud 11" descr="Iconogram voor 'Waarneembaar 1.4 Onderscheidbaar': pictogram van een cirkel half wit en half zwart met label 'Voldoende contrast">
            <a:extLst>
              <a:ext uri="{FF2B5EF4-FFF2-40B4-BE49-F238E27FC236}">
                <a16:creationId xmlns:a16="http://schemas.microsoft.com/office/drawing/2014/main" id="{0A928500-2A61-BE47-36F3-5E7DB20695F4}"/>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rcRect l="12166" t="31589" r="15406" b="6598"/>
          <a:stretch>
            <a:fillRect/>
          </a:stretch>
        </p:blipFill>
        <p:spPr>
          <a:xfrm>
            <a:off x="8603629" y="2262752"/>
            <a:ext cx="2130104" cy="1773300"/>
          </a:xfrm>
        </p:spPr>
      </p:pic>
      <p:sp>
        <p:nvSpPr>
          <p:cNvPr id="9" name="Tekstvak 8">
            <a:extLst>
              <a:ext uri="{FF2B5EF4-FFF2-40B4-BE49-F238E27FC236}">
                <a16:creationId xmlns:a16="http://schemas.microsoft.com/office/drawing/2014/main" id="{24F49AC6-EAD0-A1AE-5751-87835CA04822}"/>
              </a:ext>
            </a:extLst>
          </p:cNvPr>
          <p:cNvSpPr txBox="1"/>
          <p:nvPr/>
        </p:nvSpPr>
        <p:spPr>
          <a:xfrm>
            <a:off x="8480143" y="4374591"/>
            <a:ext cx="2867186" cy="1282787"/>
          </a:xfrm>
          <a:prstGeom prst="rect">
            <a:avLst/>
          </a:prstGeom>
          <a:noFill/>
        </p:spPr>
        <p:txBody>
          <a:bodyPr wrap="square">
            <a:spAutoFit/>
          </a:bodyPr>
          <a:lstStyle/>
          <a:p>
            <a:pPr>
              <a:lnSpc>
                <a:spcPct val="150000"/>
              </a:lnSpc>
            </a:pPr>
            <a:r>
              <a:rPr lang="nl-NL" dirty="0"/>
              <a:t>Minimaal 4,5:1 verhouding tussen tekst en achtergrond</a:t>
            </a:r>
          </a:p>
        </p:txBody>
      </p:sp>
    </p:spTree>
    <p:extLst>
      <p:ext uri="{BB962C8B-B14F-4D97-AF65-F5344CB8AC3E}">
        <p14:creationId xmlns:p14="http://schemas.microsoft.com/office/powerpoint/2010/main" val="4099502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F8E04B-FF3A-38DD-C0AF-D62A8972051E}"/>
              </a:ext>
            </a:extLst>
          </p:cNvPr>
          <p:cNvSpPr>
            <a:spLocks noGrp="1"/>
          </p:cNvSpPr>
          <p:nvPr>
            <p:ph type="title"/>
          </p:nvPr>
        </p:nvSpPr>
        <p:spPr>
          <a:xfrm>
            <a:off x="695324" y="919956"/>
            <a:ext cx="10801351" cy="990601"/>
          </a:xfrm>
        </p:spPr>
        <p:txBody>
          <a:bodyPr/>
          <a:lstStyle/>
          <a:p>
            <a:r>
              <a:rPr lang="nl-NL"/>
              <a:t>De richtlijnen vertaald naar gebruikers met een </a:t>
            </a:r>
            <a:r>
              <a:rPr lang="nl-NL" b="1"/>
              <a:t>cognitieve/neurologische</a:t>
            </a:r>
            <a:r>
              <a:rPr lang="nl-NL"/>
              <a:t> beperking </a:t>
            </a:r>
          </a:p>
        </p:txBody>
      </p:sp>
      <p:pic>
        <p:nvPicPr>
          <p:cNvPr id="8" name="Tijdelijke aanduiding voor inhoud 7" descr="Iconogram voor 'Waarneembaar 1.3 Aanpasbaar': pictogram van een hiërarchische boomstructuur met label 'Semantische structuur'.">
            <a:extLst>
              <a:ext uri="{FF2B5EF4-FFF2-40B4-BE49-F238E27FC236}">
                <a16:creationId xmlns:a16="http://schemas.microsoft.com/office/drawing/2014/main" id="{B53355C1-7EE9-91BC-8AF9-2A9971E3C78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t="22352"/>
          <a:stretch>
            <a:fillRect/>
          </a:stretch>
        </p:blipFill>
        <p:spPr>
          <a:xfrm>
            <a:off x="923302" y="2140654"/>
            <a:ext cx="2610271" cy="2039908"/>
          </a:xfrm>
        </p:spPr>
      </p:pic>
      <p:sp>
        <p:nvSpPr>
          <p:cNvPr id="4" name="Tekstvak 3">
            <a:extLst>
              <a:ext uri="{FF2B5EF4-FFF2-40B4-BE49-F238E27FC236}">
                <a16:creationId xmlns:a16="http://schemas.microsoft.com/office/drawing/2014/main" id="{F2E95741-2D07-9C18-4398-29C91D024BB6}"/>
              </a:ext>
            </a:extLst>
          </p:cNvPr>
          <p:cNvSpPr txBox="1"/>
          <p:nvPr/>
        </p:nvSpPr>
        <p:spPr>
          <a:xfrm>
            <a:off x="676547" y="4264923"/>
            <a:ext cx="3368511" cy="1282787"/>
          </a:xfrm>
          <a:prstGeom prst="rect">
            <a:avLst/>
          </a:prstGeom>
          <a:noFill/>
        </p:spPr>
        <p:txBody>
          <a:bodyPr wrap="square">
            <a:spAutoFit/>
          </a:bodyPr>
          <a:lstStyle/>
          <a:p>
            <a:pPr>
              <a:lnSpc>
                <a:spcPct val="150000"/>
              </a:lnSpc>
            </a:pPr>
            <a:r>
              <a:rPr lang="nl-NL" dirty="0"/>
              <a:t>Gebruik correcte HTML-elementen voor logische volgorde en hiërarchie.</a:t>
            </a:r>
          </a:p>
        </p:txBody>
      </p:sp>
      <p:pic>
        <p:nvPicPr>
          <p:cNvPr id="10" name="Tijdelijke aanduiding voor inhoud 9" descr="Iconogram voor 'Bedienbaar 2.4 Navigeerbaar': pictogram van een webpagina met gemarkeerd titelgebied met label 'Duidelijke kopteksten'.">
            <a:extLst>
              <a:ext uri="{FF2B5EF4-FFF2-40B4-BE49-F238E27FC236}">
                <a16:creationId xmlns:a16="http://schemas.microsoft.com/office/drawing/2014/main" id="{D8D66348-5C88-F13C-1680-29F5BEB420EC}"/>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rcRect l="6607" t="28002"/>
          <a:stretch>
            <a:fillRect/>
          </a:stretch>
        </p:blipFill>
        <p:spPr>
          <a:xfrm>
            <a:off x="4579460" y="2359684"/>
            <a:ext cx="2450220" cy="1951411"/>
          </a:xfrm>
        </p:spPr>
      </p:pic>
      <p:sp>
        <p:nvSpPr>
          <p:cNvPr id="5" name="Tekstvak 4">
            <a:extLst>
              <a:ext uri="{FF2B5EF4-FFF2-40B4-BE49-F238E27FC236}">
                <a16:creationId xmlns:a16="http://schemas.microsoft.com/office/drawing/2014/main" id="{4EBE0D1F-5D44-CFC0-D552-24F716028A49}"/>
              </a:ext>
            </a:extLst>
          </p:cNvPr>
          <p:cNvSpPr txBox="1"/>
          <p:nvPr/>
        </p:nvSpPr>
        <p:spPr>
          <a:xfrm>
            <a:off x="4419409" y="4285695"/>
            <a:ext cx="2946591" cy="867289"/>
          </a:xfrm>
          <a:prstGeom prst="rect">
            <a:avLst/>
          </a:prstGeom>
          <a:noFill/>
        </p:spPr>
        <p:txBody>
          <a:bodyPr wrap="square">
            <a:spAutoFit/>
          </a:bodyPr>
          <a:lstStyle/>
          <a:p>
            <a:pPr>
              <a:lnSpc>
                <a:spcPct val="150000"/>
              </a:lnSpc>
            </a:pPr>
            <a:r>
              <a:rPr lang="nl-NL" dirty="0"/>
              <a:t>Gebruik beschrijvende titels en koppen</a:t>
            </a:r>
          </a:p>
        </p:txBody>
      </p:sp>
      <p:pic>
        <p:nvPicPr>
          <p:cNvPr id="11" name="Tijdelijke aanduiding voor inhoud 10" descr="Iconogram voor 'Bedienbaar 2.2 Voldoende tijd': icoon van drie UI-knoppen die pauzeren, stoppen en verbergen symboliseren, met daaronder de tekst: Pauzeren, Stoppen en Verbergen.">
            <a:extLst>
              <a:ext uri="{FF2B5EF4-FFF2-40B4-BE49-F238E27FC236}">
                <a16:creationId xmlns:a16="http://schemas.microsoft.com/office/drawing/2014/main" id="{CD4483C0-A04A-8995-ACA3-F95686B23E46}"/>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rcRect l="8628" t="17926" r="6436" b="9989"/>
          <a:stretch>
            <a:fillRect/>
          </a:stretch>
        </p:blipFill>
        <p:spPr>
          <a:xfrm>
            <a:off x="7900402" y="2418642"/>
            <a:ext cx="3463653" cy="1761920"/>
          </a:xfrm>
          <a:prstGeom prst="rect">
            <a:avLst/>
          </a:prstGeom>
        </p:spPr>
      </p:pic>
      <p:sp>
        <p:nvSpPr>
          <p:cNvPr id="6" name="Tekstvak 5">
            <a:extLst>
              <a:ext uri="{FF2B5EF4-FFF2-40B4-BE49-F238E27FC236}">
                <a16:creationId xmlns:a16="http://schemas.microsoft.com/office/drawing/2014/main" id="{0AF7BFC3-BC01-314A-F0BC-F3518730C06C}"/>
              </a:ext>
            </a:extLst>
          </p:cNvPr>
          <p:cNvSpPr txBox="1"/>
          <p:nvPr/>
        </p:nvSpPr>
        <p:spPr>
          <a:xfrm>
            <a:off x="7900402" y="4270131"/>
            <a:ext cx="3596273" cy="1698285"/>
          </a:xfrm>
          <a:prstGeom prst="rect">
            <a:avLst/>
          </a:prstGeom>
          <a:noFill/>
        </p:spPr>
        <p:txBody>
          <a:bodyPr wrap="square">
            <a:spAutoFit/>
          </a:bodyPr>
          <a:lstStyle/>
          <a:p>
            <a:pPr>
              <a:lnSpc>
                <a:spcPct val="150000"/>
              </a:lnSpc>
            </a:pPr>
            <a:r>
              <a:rPr lang="nl-NL" dirty="0"/>
              <a:t>Alle bewegende, knipperende of scrollende content moet </a:t>
            </a:r>
            <a:r>
              <a:rPr lang="nl-NL" dirty="0" err="1"/>
              <a:t>pauzeerbaar</a:t>
            </a:r>
            <a:r>
              <a:rPr lang="nl-NL" dirty="0"/>
              <a:t> zijn</a:t>
            </a:r>
          </a:p>
          <a:p>
            <a:pPr>
              <a:lnSpc>
                <a:spcPct val="150000"/>
              </a:lnSpc>
            </a:pPr>
            <a:endParaRPr lang="nl-NL" dirty="0"/>
          </a:p>
        </p:txBody>
      </p:sp>
    </p:spTree>
    <p:extLst>
      <p:ext uri="{BB962C8B-B14F-4D97-AF65-F5344CB8AC3E}">
        <p14:creationId xmlns:p14="http://schemas.microsoft.com/office/powerpoint/2010/main" val="993069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2B5CEE-FCD4-B783-FD87-8D2941E4CE81}"/>
              </a:ext>
            </a:extLst>
          </p:cNvPr>
          <p:cNvSpPr>
            <a:spLocks noGrp="1"/>
          </p:cNvSpPr>
          <p:nvPr>
            <p:ph type="title"/>
          </p:nvPr>
        </p:nvSpPr>
        <p:spPr>
          <a:xfrm>
            <a:off x="695324" y="739304"/>
            <a:ext cx="10801351" cy="990601"/>
          </a:xfrm>
        </p:spPr>
        <p:txBody>
          <a:bodyPr/>
          <a:lstStyle/>
          <a:p>
            <a:r>
              <a:rPr lang="nl-NL"/>
              <a:t>De richtlijnen vertaald naar gebruikers met een </a:t>
            </a:r>
            <a:r>
              <a:rPr lang="nl-NL" b="1"/>
              <a:t>fysieke</a:t>
            </a:r>
            <a:r>
              <a:rPr lang="nl-NL"/>
              <a:t> beperking </a:t>
            </a:r>
          </a:p>
        </p:txBody>
      </p:sp>
      <p:pic>
        <p:nvPicPr>
          <p:cNvPr id="8" name="Tijdelijke aanduiding voor inhoud 7" descr="Iconogram voor 'Bedienbaar 2.1 Toetsenbordtoegankelijk': pictogram van een toetsenbord met label 'Toetsenbordbediening'">
            <a:extLst>
              <a:ext uri="{FF2B5EF4-FFF2-40B4-BE49-F238E27FC236}">
                <a16:creationId xmlns:a16="http://schemas.microsoft.com/office/drawing/2014/main" id="{F03B15CF-A307-D1D8-6AF6-957804CFD36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t="32747"/>
          <a:stretch>
            <a:fillRect/>
          </a:stretch>
        </p:blipFill>
        <p:spPr>
          <a:xfrm>
            <a:off x="571789" y="2032798"/>
            <a:ext cx="3591787" cy="2011668"/>
          </a:xfrm>
        </p:spPr>
      </p:pic>
      <p:sp>
        <p:nvSpPr>
          <p:cNvPr id="3" name="Tekstvak 2">
            <a:extLst>
              <a:ext uri="{FF2B5EF4-FFF2-40B4-BE49-F238E27FC236}">
                <a16:creationId xmlns:a16="http://schemas.microsoft.com/office/drawing/2014/main" id="{A4877833-89B9-0827-A7F0-F240207C37A6}"/>
              </a:ext>
            </a:extLst>
          </p:cNvPr>
          <p:cNvSpPr txBox="1"/>
          <p:nvPr/>
        </p:nvSpPr>
        <p:spPr>
          <a:xfrm>
            <a:off x="933061" y="4264923"/>
            <a:ext cx="3111997" cy="1282787"/>
          </a:xfrm>
          <a:prstGeom prst="rect">
            <a:avLst/>
          </a:prstGeom>
          <a:noFill/>
        </p:spPr>
        <p:txBody>
          <a:bodyPr wrap="square">
            <a:spAutoFit/>
          </a:bodyPr>
          <a:lstStyle/>
          <a:p>
            <a:pPr>
              <a:lnSpc>
                <a:spcPct val="150000"/>
              </a:lnSpc>
            </a:pPr>
            <a:r>
              <a:rPr lang="nl-NL" dirty="0"/>
              <a:t>Alle functionaliteit moet met toetsenbord bereikbaar zijn</a:t>
            </a:r>
          </a:p>
        </p:txBody>
      </p:sp>
      <p:pic>
        <p:nvPicPr>
          <p:cNvPr id="10" name="Tijdelijke aanduiding voor inhoud 9" descr="Iconogram voor 'Bedienbaar 2.4 Navigeerbaar': pictogram van een focuskader met label 'Zichtbare focusomlijning'.">
            <a:extLst>
              <a:ext uri="{FF2B5EF4-FFF2-40B4-BE49-F238E27FC236}">
                <a16:creationId xmlns:a16="http://schemas.microsoft.com/office/drawing/2014/main" id="{5FAF982D-46E1-EE3E-665E-B8EF8086FE9A}"/>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rcRect t="32747"/>
          <a:stretch>
            <a:fillRect/>
          </a:stretch>
        </p:blipFill>
        <p:spPr>
          <a:xfrm>
            <a:off x="4477445" y="2102223"/>
            <a:ext cx="3008509" cy="1942243"/>
          </a:xfrm>
        </p:spPr>
      </p:pic>
      <p:sp>
        <p:nvSpPr>
          <p:cNvPr id="4" name="Tekstvak 3">
            <a:extLst>
              <a:ext uri="{FF2B5EF4-FFF2-40B4-BE49-F238E27FC236}">
                <a16:creationId xmlns:a16="http://schemas.microsoft.com/office/drawing/2014/main" id="{94DDE32F-0481-625F-1851-F54D7FAFEC26}"/>
              </a:ext>
            </a:extLst>
          </p:cNvPr>
          <p:cNvSpPr txBox="1"/>
          <p:nvPr/>
        </p:nvSpPr>
        <p:spPr>
          <a:xfrm>
            <a:off x="4687691" y="4264923"/>
            <a:ext cx="3008509" cy="867289"/>
          </a:xfrm>
          <a:prstGeom prst="rect">
            <a:avLst/>
          </a:prstGeom>
          <a:noFill/>
        </p:spPr>
        <p:txBody>
          <a:bodyPr wrap="square">
            <a:spAutoFit/>
          </a:bodyPr>
          <a:lstStyle/>
          <a:p>
            <a:pPr>
              <a:lnSpc>
                <a:spcPct val="150000"/>
              </a:lnSpc>
            </a:pPr>
            <a:r>
              <a:rPr lang="nl-NL" dirty="0"/>
              <a:t>Altijd duidelijk zichtbaar waar de focus is</a:t>
            </a:r>
          </a:p>
        </p:txBody>
      </p:sp>
      <p:pic>
        <p:nvPicPr>
          <p:cNvPr id="12" name="Tijdelijke aanduiding voor inhoud 11" descr="Iconogram voor 'Bedienbaar 2.2 Genoeg tijd': pictogram van een klok met pijl die tijd verlengt met label 'Genoeg tijd'.">
            <a:extLst>
              <a:ext uri="{FF2B5EF4-FFF2-40B4-BE49-F238E27FC236}">
                <a16:creationId xmlns:a16="http://schemas.microsoft.com/office/drawing/2014/main" id="{D0DABF46-5DAE-684F-DC9D-097B496CC389}"/>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rcRect t="31308"/>
          <a:stretch>
            <a:fillRect/>
          </a:stretch>
        </p:blipFill>
        <p:spPr>
          <a:xfrm>
            <a:off x="7960257" y="1982761"/>
            <a:ext cx="2559066" cy="2011668"/>
          </a:xfrm>
        </p:spPr>
      </p:pic>
      <p:sp>
        <p:nvSpPr>
          <p:cNvPr id="5" name="Tekstvak 4">
            <a:extLst>
              <a:ext uri="{FF2B5EF4-FFF2-40B4-BE49-F238E27FC236}">
                <a16:creationId xmlns:a16="http://schemas.microsoft.com/office/drawing/2014/main" id="{F8335CFF-5252-5875-5ED3-6C8F9F62FACB}"/>
              </a:ext>
            </a:extLst>
          </p:cNvPr>
          <p:cNvSpPr txBox="1"/>
          <p:nvPr/>
        </p:nvSpPr>
        <p:spPr>
          <a:xfrm>
            <a:off x="8146944" y="4221885"/>
            <a:ext cx="2835728" cy="1282787"/>
          </a:xfrm>
          <a:prstGeom prst="rect">
            <a:avLst/>
          </a:prstGeom>
          <a:noFill/>
        </p:spPr>
        <p:txBody>
          <a:bodyPr wrap="square">
            <a:spAutoFit/>
          </a:bodyPr>
          <a:lstStyle/>
          <a:p>
            <a:pPr>
              <a:lnSpc>
                <a:spcPct val="150000"/>
              </a:lnSpc>
            </a:pPr>
            <a:r>
              <a:rPr lang="nl-NL" dirty="0"/>
              <a:t>Time-outs moeten uitzetbaar/verlengbaar zijn </a:t>
            </a:r>
          </a:p>
        </p:txBody>
      </p:sp>
    </p:spTree>
    <p:extLst>
      <p:ext uri="{BB962C8B-B14F-4D97-AF65-F5344CB8AC3E}">
        <p14:creationId xmlns:p14="http://schemas.microsoft.com/office/powerpoint/2010/main" val="2350190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77F9C6-A244-60B5-B14E-E4FC999C5ECD}"/>
              </a:ext>
            </a:extLst>
          </p:cNvPr>
          <p:cNvSpPr>
            <a:spLocks noGrp="1"/>
          </p:cNvSpPr>
          <p:nvPr>
            <p:ph type="title"/>
          </p:nvPr>
        </p:nvSpPr>
        <p:spPr/>
        <p:txBody>
          <a:bodyPr/>
          <a:lstStyle/>
          <a:p>
            <a:r>
              <a:rPr lang="nl-NL" dirty="0"/>
              <a:t>Een toegankelijke website betekent…</a:t>
            </a:r>
          </a:p>
        </p:txBody>
      </p:sp>
      <p:sp>
        <p:nvSpPr>
          <p:cNvPr id="6" name="Tijdelijke aanduiding voor tekst 2">
            <a:extLst>
              <a:ext uri="{FF2B5EF4-FFF2-40B4-BE49-F238E27FC236}">
                <a16:creationId xmlns:a16="http://schemas.microsoft.com/office/drawing/2014/main" id="{55B21527-4856-95D2-EC67-96796C776008}"/>
              </a:ext>
            </a:extLst>
          </p:cNvPr>
          <p:cNvSpPr txBox="1">
            <a:spLocks/>
          </p:cNvSpPr>
          <p:nvPr/>
        </p:nvSpPr>
        <p:spPr>
          <a:xfrm>
            <a:off x="876301" y="1628775"/>
            <a:ext cx="2700276" cy="630238"/>
          </a:xfrm>
          <a:prstGeom prst="rect">
            <a:avLst/>
          </a:prstGeom>
        </p:spPr>
        <p:txBody>
          <a:bodyPr vert="horz" lIns="0" tIns="0" rIns="0" bIns="0" numCol="2" spcCol="540000" rtlCol="0">
            <a:noAutofit/>
          </a:bodyPr>
          <a:lstStyle>
            <a:lvl1pPr marL="230400" indent="-2304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582300" indent="-3429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49140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3pPr>
            <a:lvl4pPr marL="74340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4pPr>
            <a:lvl5pPr marL="99540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b="1" dirty="0"/>
              <a:t>Mythe</a:t>
            </a:r>
            <a:r>
              <a:rPr lang="nl-NL" dirty="0"/>
              <a:t> </a:t>
            </a:r>
          </a:p>
        </p:txBody>
      </p:sp>
      <p:sp>
        <p:nvSpPr>
          <p:cNvPr id="7" name="Tijdelijke aanduiding voor tekst 2">
            <a:extLst>
              <a:ext uri="{FF2B5EF4-FFF2-40B4-BE49-F238E27FC236}">
                <a16:creationId xmlns:a16="http://schemas.microsoft.com/office/drawing/2014/main" id="{779436E6-A0A3-6E14-5DD8-74FC08868A72}"/>
              </a:ext>
            </a:extLst>
          </p:cNvPr>
          <p:cNvSpPr txBox="1">
            <a:spLocks/>
          </p:cNvSpPr>
          <p:nvPr/>
        </p:nvSpPr>
        <p:spPr>
          <a:xfrm>
            <a:off x="5231757" y="1628775"/>
            <a:ext cx="2604304" cy="630238"/>
          </a:xfrm>
          <a:prstGeom prst="rect">
            <a:avLst/>
          </a:prstGeom>
        </p:spPr>
        <p:txBody>
          <a:bodyPr vert="horz" lIns="0" tIns="0" rIns="0" bIns="0" numCol="2" spcCol="540000" rtlCol="0">
            <a:noAutofit/>
          </a:bodyPr>
          <a:lstStyle>
            <a:lvl1pPr marL="230400" indent="-2304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582300" indent="-3429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49140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3pPr>
            <a:lvl4pPr marL="74340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4pPr>
            <a:lvl5pPr marL="99540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b="1" dirty="0"/>
              <a:t>Feit</a:t>
            </a:r>
            <a:r>
              <a:rPr lang="nl-NL" dirty="0"/>
              <a:t>  </a:t>
            </a:r>
          </a:p>
        </p:txBody>
      </p:sp>
      <p:sp>
        <p:nvSpPr>
          <p:cNvPr id="10" name="Tijdelijke aanduiding voor inhoud 3">
            <a:extLst>
              <a:ext uri="{FF2B5EF4-FFF2-40B4-BE49-F238E27FC236}">
                <a16:creationId xmlns:a16="http://schemas.microsoft.com/office/drawing/2014/main" id="{AF7F8EC2-5A33-F6AF-D521-DAD696284EC6}"/>
              </a:ext>
            </a:extLst>
          </p:cNvPr>
          <p:cNvSpPr txBox="1">
            <a:spLocks/>
          </p:cNvSpPr>
          <p:nvPr/>
        </p:nvSpPr>
        <p:spPr>
          <a:xfrm>
            <a:off x="541176" y="2311173"/>
            <a:ext cx="4424906" cy="435429"/>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400" lvl="1" indent="0">
              <a:buFont typeface="Arial" panose="020B0604020202020204" pitchFamily="34" charset="0"/>
              <a:buNone/>
            </a:pPr>
            <a:r>
              <a:rPr lang="nl-NL" dirty="0"/>
              <a:t>Je mag geen afbeeldingen gebruiken</a:t>
            </a:r>
          </a:p>
          <a:p>
            <a:pPr marL="0" indent="0">
              <a:buFont typeface="Arial" panose="020B0604020202020204" pitchFamily="34" charset="0"/>
              <a:buNone/>
            </a:pPr>
            <a:endParaRPr lang="nl-NL" dirty="0"/>
          </a:p>
        </p:txBody>
      </p:sp>
      <p:sp>
        <p:nvSpPr>
          <p:cNvPr id="11" name="Tekstvak 10">
            <a:extLst>
              <a:ext uri="{FF2B5EF4-FFF2-40B4-BE49-F238E27FC236}">
                <a16:creationId xmlns:a16="http://schemas.microsoft.com/office/drawing/2014/main" id="{1FB1F343-D2F9-0BC8-3775-3403D2D0DD00}"/>
              </a:ext>
            </a:extLst>
          </p:cNvPr>
          <p:cNvSpPr txBox="1"/>
          <p:nvPr/>
        </p:nvSpPr>
        <p:spPr>
          <a:xfrm>
            <a:off x="5231757" y="2205721"/>
            <a:ext cx="5660021" cy="646331"/>
          </a:xfrm>
          <a:prstGeom prst="rect">
            <a:avLst/>
          </a:prstGeom>
          <a:noFill/>
        </p:spPr>
        <p:txBody>
          <a:bodyPr wrap="square">
            <a:spAutoFit/>
          </a:bodyPr>
          <a:lstStyle/>
          <a:p>
            <a:r>
              <a:rPr lang="nl-NL" b="1" dirty="0"/>
              <a:t>Niet waar! </a:t>
            </a:r>
            <a:r>
              <a:rPr lang="nl-NL" dirty="0"/>
              <a:t>Informatie hoort juist op meerdere manieren aangeboden te worden. </a:t>
            </a:r>
          </a:p>
        </p:txBody>
      </p:sp>
      <p:sp>
        <p:nvSpPr>
          <p:cNvPr id="12" name="Tijdelijke aanduiding voor inhoud 3">
            <a:extLst>
              <a:ext uri="{FF2B5EF4-FFF2-40B4-BE49-F238E27FC236}">
                <a16:creationId xmlns:a16="http://schemas.microsoft.com/office/drawing/2014/main" id="{62A7E0BF-26D2-2E0A-C00C-C8C8BF372836}"/>
              </a:ext>
            </a:extLst>
          </p:cNvPr>
          <p:cNvSpPr txBox="1">
            <a:spLocks/>
          </p:cNvSpPr>
          <p:nvPr/>
        </p:nvSpPr>
        <p:spPr>
          <a:xfrm>
            <a:off x="541176" y="3263446"/>
            <a:ext cx="4424906" cy="435429"/>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400" lvl="1" indent="0">
              <a:buFont typeface="Arial" panose="020B0604020202020204" pitchFamily="34" charset="0"/>
              <a:buNone/>
            </a:pPr>
            <a:r>
              <a:rPr lang="nl-NL" dirty="0"/>
              <a:t>Alles moet zwart-wit zijn, zonder kleuren.</a:t>
            </a:r>
          </a:p>
          <a:p>
            <a:pPr marL="0" indent="0">
              <a:buFont typeface="Arial" panose="020B0604020202020204" pitchFamily="34" charset="0"/>
              <a:buNone/>
            </a:pPr>
            <a:endParaRPr lang="nl-NL" dirty="0"/>
          </a:p>
        </p:txBody>
      </p:sp>
      <p:sp>
        <p:nvSpPr>
          <p:cNvPr id="14" name="Tekstvak 13">
            <a:extLst>
              <a:ext uri="{FF2B5EF4-FFF2-40B4-BE49-F238E27FC236}">
                <a16:creationId xmlns:a16="http://schemas.microsoft.com/office/drawing/2014/main" id="{04668EAB-0803-0D88-76CB-E1B927F397B7}"/>
              </a:ext>
            </a:extLst>
          </p:cNvPr>
          <p:cNvSpPr txBox="1"/>
          <p:nvPr/>
        </p:nvSpPr>
        <p:spPr>
          <a:xfrm>
            <a:off x="5129513" y="3263446"/>
            <a:ext cx="5660021" cy="646331"/>
          </a:xfrm>
          <a:prstGeom prst="rect">
            <a:avLst/>
          </a:prstGeom>
          <a:noFill/>
        </p:spPr>
        <p:txBody>
          <a:bodyPr wrap="square">
            <a:spAutoFit/>
          </a:bodyPr>
          <a:lstStyle/>
          <a:p>
            <a:r>
              <a:rPr lang="nl-NL" b="1" dirty="0"/>
              <a:t>Niet waar! </a:t>
            </a:r>
            <a:r>
              <a:rPr lang="nl-NL" dirty="0"/>
              <a:t>Kleuren zijn welkom zolang het contrast maar voldoende is. </a:t>
            </a:r>
          </a:p>
        </p:txBody>
      </p:sp>
      <p:sp>
        <p:nvSpPr>
          <p:cNvPr id="15" name="Tijdelijke aanduiding voor inhoud 3">
            <a:extLst>
              <a:ext uri="{FF2B5EF4-FFF2-40B4-BE49-F238E27FC236}">
                <a16:creationId xmlns:a16="http://schemas.microsoft.com/office/drawing/2014/main" id="{7F5B1EE3-77A5-D358-2EB1-8F0017EC6485}"/>
              </a:ext>
            </a:extLst>
          </p:cNvPr>
          <p:cNvSpPr txBox="1">
            <a:spLocks/>
          </p:cNvSpPr>
          <p:nvPr/>
        </p:nvSpPr>
        <p:spPr>
          <a:xfrm>
            <a:off x="541176" y="4215719"/>
            <a:ext cx="4424906" cy="435429"/>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400" lvl="1" indent="0">
              <a:buFont typeface="Arial" panose="020B0604020202020204" pitchFamily="34" charset="0"/>
              <a:buNone/>
            </a:pPr>
            <a:r>
              <a:rPr lang="nl-NL" dirty="0"/>
              <a:t>De vormgeving wordt saai </a:t>
            </a:r>
          </a:p>
          <a:p>
            <a:pPr marL="0" indent="0">
              <a:buFont typeface="Arial" panose="020B0604020202020204" pitchFamily="34" charset="0"/>
              <a:buNone/>
            </a:pPr>
            <a:endParaRPr lang="nl-NL" dirty="0"/>
          </a:p>
        </p:txBody>
      </p:sp>
      <p:sp>
        <p:nvSpPr>
          <p:cNvPr id="16" name="Tekstvak 15">
            <a:extLst>
              <a:ext uri="{FF2B5EF4-FFF2-40B4-BE49-F238E27FC236}">
                <a16:creationId xmlns:a16="http://schemas.microsoft.com/office/drawing/2014/main" id="{9F19FFEB-D138-E2BB-CC38-288F45CB708E}"/>
              </a:ext>
            </a:extLst>
          </p:cNvPr>
          <p:cNvSpPr txBox="1"/>
          <p:nvPr/>
        </p:nvSpPr>
        <p:spPr>
          <a:xfrm>
            <a:off x="5129513" y="4208131"/>
            <a:ext cx="5660021" cy="646331"/>
          </a:xfrm>
          <a:prstGeom prst="rect">
            <a:avLst/>
          </a:prstGeom>
          <a:noFill/>
        </p:spPr>
        <p:txBody>
          <a:bodyPr wrap="square">
            <a:spAutoFit/>
          </a:bodyPr>
          <a:lstStyle/>
          <a:p>
            <a:r>
              <a:rPr lang="nl-NL" b="1" dirty="0"/>
              <a:t>Niet waar! </a:t>
            </a:r>
            <a:r>
              <a:rPr lang="nl-NL" dirty="0"/>
              <a:t>Apple, BBC, en GOV.UK bewijzen: mooi én toegankelijk gaat prima samen, </a:t>
            </a:r>
          </a:p>
        </p:txBody>
      </p:sp>
      <p:sp>
        <p:nvSpPr>
          <p:cNvPr id="19" name="Tijdelijke aanduiding voor inhoud 3">
            <a:extLst>
              <a:ext uri="{FF2B5EF4-FFF2-40B4-BE49-F238E27FC236}">
                <a16:creationId xmlns:a16="http://schemas.microsoft.com/office/drawing/2014/main" id="{382B483C-4FC3-86F0-E5CD-42C9B8ABB416}"/>
              </a:ext>
            </a:extLst>
          </p:cNvPr>
          <p:cNvSpPr txBox="1">
            <a:spLocks/>
          </p:cNvSpPr>
          <p:nvPr/>
        </p:nvSpPr>
        <p:spPr>
          <a:xfrm>
            <a:off x="541176" y="5167992"/>
            <a:ext cx="4158146" cy="435429"/>
          </a:xfrm>
          <a:prstGeom prst="rect">
            <a:avLst/>
          </a:prstGeom>
        </p:spPr>
        <p:txBody>
          <a:bodyPr/>
          <a:lst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9400" lvl="1" indent="0">
              <a:buFont typeface="Arial" panose="020B0604020202020204" pitchFamily="34" charset="0"/>
              <a:buNone/>
            </a:pPr>
            <a:r>
              <a:rPr lang="nl-NL" dirty="0"/>
              <a:t>Het kost te veel tijd en geld </a:t>
            </a:r>
          </a:p>
          <a:p>
            <a:pPr marL="0" indent="0">
              <a:buFont typeface="Arial" panose="020B0604020202020204" pitchFamily="34" charset="0"/>
              <a:buNone/>
            </a:pPr>
            <a:endParaRPr lang="nl-NL" dirty="0"/>
          </a:p>
        </p:txBody>
      </p:sp>
      <p:sp>
        <p:nvSpPr>
          <p:cNvPr id="20" name="Tekstvak 19">
            <a:extLst>
              <a:ext uri="{FF2B5EF4-FFF2-40B4-BE49-F238E27FC236}">
                <a16:creationId xmlns:a16="http://schemas.microsoft.com/office/drawing/2014/main" id="{68A3971B-DFCC-BC9A-3AE5-5E036AF1462F}"/>
              </a:ext>
            </a:extLst>
          </p:cNvPr>
          <p:cNvSpPr txBox="1"/>
          <p:nvPr/>
        </p:nvSpPr>
        <p:spPr>
          <a:xfrm>
            <a:off x="5129513" y="5167992"/>
            <a:ext cx="5660021" cy="646331"/>
          </a:xfrm>
          <a:prstGeom prst="rect">
            <a:avLst/>
          </a:prstGeom>
          <a:noFill/>
        </p:spPr>
        <p:txBody>
          <a:bodyPr wrap="square">
            <a:spAutoFit/>
          </a:bodyPr>
          <a:lstStyle/>
          <a:p>
            <a:r>
              <a:rPr lang="nl-NL" b="1" dirty="0"/>
              <a:t>Niet waar! </a:t>
            </a:r>
            <a:r>
              <a:rPr lang="nl-NL" dirty="0"/>
              <a:t>Toegankelijkheid is een investering in kwaliteit, bereik en toekomstbestendigheid</a:t>
            </a:r>
          </a:p>
        </p:txBody>
      </p:sp>
    </p:spTree>
    <p:extLst>
      <p:ext uri="{BB962C8B-B14F-4D97-AF65-F5344CB8AC3E}">
        <p14:creationId xmlns:p14="http://schemas.microsoft.com/office/powerpoint/2010/main" val="288642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P spid="14" grpId="0"/>
      <p:bldP spid="15" grpId="0"/>
      <p:bldP spid="16" grpId="0"/>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FC4505-8FC8-08B8-CA3D-C411C024FE1D}"/>
              </a:ext>
            </a:extLst>
          </p:cNvPr>
          <p:cNvSpPr>
            <a:spLocks noGrp="1"/>
          </p:cNvSpPr>
          <p:nvPr>
            <p:ph type="title"/>
          </p:nvPr>
        </p:nvSpPr>
        <p:spPr/>
        <p:txBody>
          <a:bodyPr/>
          <a:lstStyle/>
          <a:p>
            <a:r>
              <a:rPr lang="nl-NL"/>
              <a:t>En? </a:t>
            </a:r>
          </a:p>
        </p:txBody>
      </p:sp>
      <p:sp>
        <p:nvSpPr>
          <p:cNvPr id="3" name="Tijdelijke aanduiding voor tekst 2">
            <a:extLst>
              <a:ext uri="{FF2B5EF4-FFF2-40B4-BE49-F238E27FC236}">
                <a16:creationId xmlns:a16="http://schemas.microsoft.com/office/drawing/2014/main" id="{0EA17B3C-1752-BA76-E6CB-2AB83B69A34D}"/>
              </a:ext>
            </a:extLst>
          </p:cNvPr>
          <p:cNvSpPr>
            <a:spLocks noGrp="1"/>
          </p:cNvSpPr>
          <p:nvPr>
            <p:ph type="body" sz="quarter" idx="14"/>
          </p:nvPr>
        </p:nvSpPr>
        <p:spPr>
          <a:xfrm>
            <a:off x="695325" y="2276872"/>
            <a:ext cx="4860925" cy="4212828"/>
          </a:xfrm>
        </p:spPr>
        <p:txBody>
          <a:bodyPr/>
          <a:lstStyle/>
          <a:p>
            <a:pPr marL="0" indent="0">
              <a:lnSpc>
                <a:spcPct val="200000"/>
              </a:lnSpc>
              <a:buNone/>
            </a:pPr>
            <a:r>
              <a:rPr lang="nl-NL" dirty="0"/>
              <a:t>Hoe goed houd jij rekening met alle gebruikers?</a:t>
            </a:r>
          </a:p>
        </p:txBody>
      </p:sp>
      <p:pic>
        <p:nvPicPr>
          <p:cNvPr id="6" name="Tijdelijke aanduiding voor afbeelding 5">
            <a:extLst>
              <a:ext uri="{FF2B5EF4-FFF2-40B4-BE49-F238E27FC236}">
                <a16:creationId xmlns:a16="http://schemas.microsoft.com/office/drawing/2014/main" id="{163ECFF1-6B7C-5F39-3868-68205FC462EC}"/>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0258" r="-10258"/>
          <a:stretch>
            <a:fillRect/>
          </a:stretch>
        </p:blipFill>
        <p:spPr>
          <a:xfrm>
            <a:off x="6611964" y="0"/>
            <a:ext cx="6096000" cy="6858000"/>
          </a:xfrm>
        </p:spPr>
      </p:pic>
    </p:spTree>
    <p:extLst>
      <p:ext uri="{BB962C8B-B14F-4D97-AF65-F5344CB8AC3E}">
        <p14:creationId xmlns:p14="http://schemas.microsoft.com/office/powerpoint/2010/main" val="2564027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AB83D0-97E7-4C1B-C49D-5AE525A8451F}"/>
              </a:ext>
            </a:extLst>
          </p:cNvPr>
          <p:cNvSpPr>
            <a:spLocks noGrp="1"/>
          </p:cNvSpPr>
          <p:nvPr>
            <p:ph type="title"/>
          </p:nvPr>
        </p:nvSpPr>
        <p:spPr>
          <a:xfrm>
            <a:off x="551384" y="368300"/>
            <a:ext cx="5004867" cy="3492748"/>
          </a:xfrm>
        </p:spPr>
        <p:txBody>
          <a:bodyPr/>
          <a:lstStyle/>
          <a:p>
            <a:r>
              <a:rPr lang="nl-NL"/>
              <a:t>Demo [Naam ervaringsdeskundige]</a:t>
            </a:r>
          </a:p>
        </p:txBody>
      </p:sp>
    </p:spTree>
    <p:extLst>
      <p:ext uri="{BB962C8B-B14F-4D97-AF65-F5344CB8AC3E}">
        <p14:creationId xmlns:p14="http://schemas.microsoft.com/office/powerpoint/2010/main" val="3895760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D617BD-CC29-7C16-85B8-0D023C27631D}"/>
              </a:ext>
            </a:extLst>
          </p:cNvPr>
          <p:cNvSpPr>
            <a:spLocks noGrp="1"/>
          </p:cNvSpPr>
          <p:nvPr>
            <p:ph type="title"/>
          </p:nvPr>
        </p:nvSpPr>
        <p:spPr>
          <a:xfrm>
            <a:off x="983432" y="2933700"/>
            <a:ext cx="4860924" cy="990600"/>
          </a:xfrm>
        </p:spPr>
        <p:txBody>
          <a:bodyPr/>
          <a:lstStyle/>
          <a:p>
            <a:r>
              <a:rPr lang="nl-NL"/>
              <a:t>Quick </a:t>
            </a:r>
            <a:r>
              <a:rPr lang="nl-NL" err="1"/>
              <a:t>wins</a:t>
            </a:r>
            <a:endParaRPr lang="nl-NL"/>
          </a:p>
        </p:txBody>
      </p:sp>
    </p:spTree>
    <p:extLst>
      <p:ext uri="{BB962C8B-B14F-4D97-AF65-F5344CB8AC3E}">
        <p14:creationId xmlns:p14="http://schemas.microsoft.com/office/powerpoint/2010/main" val="987558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80926-E1F8-452B-4DD5-D552FA39687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A0C42CB-95F7-1D03-65D1-F12A093675C7}"/>
              </a:ext>
            </a:extLst>
          </p:cNvPr>
          <p:cNvSpPr>
            <a:spLocks noGrp="1"/>
          </p:cNvSpPr>
          <p:nvPr>
            <p:ph type="title"/>
          </p:nvPr>
        </p:nvSpPr>
        <p:spPr/>
        <p:txBody>
          <a:bodyPr/>
          <a:lstStyle/>
          <a:p>
            <a:r>
              <a:rPr lang="nl-NL"/>
              <a:t>Quick </a:t>
            </a:r>
            <a:r>
              <a:rPr lang="nl-NL" err="1"/>
              <a:t>wins</a:t>
            </a:r>
            <a:r>
              <a:rPr lang="nl-NL"/>
              <a:t> (deel 1) </a:t>
            </a:r>
          </a:p>
        </p:txBody>
      </p:sp>
      <p:sp>
        <p:nvSpPr>
          <p:cNvPr id="3" name="Tijdelijke aanduiding voor inhoud 2">
            <a:extLst>
              <a:ext uri="{FF2B5EF4-FFF2-40B4-BE49-F238E27FC236}">
                <a16:creationId xmlns:a16="http://schemas.microsoft.com/office/drawing/2014/main" id="{A226A2DF-70A4-3BF8-910B-2ACD6F440A35}"/>
              </a:ext>
            </a:extLst>
          </p:cNvPr>
          <p:cNvSpPr>
            <a:spLocks noGrp="1"/>
          </p:cNvSpPr>
          <p:nvPr>
            <p:ph sz="quarter" idx="17"/>
          </p:nvPr>
        </p:nvSpPr>
        <p:spPr/>
        <p:txBody>
          <a:bodyPr/>
          <a:lstStyle/>
          <a:p>
            <a:r>
              <a:rPr lang="nl-NL"/>
              <a:t>Koppen </a:t>
            </a:r>
          </a:p>
          <a:p>
            <a:r>
              <a:rPr lang="nl-NL"/>
              <a:t>Naam, rol, waarde  </a:t>
            </a:r>
          </a:p>
          <a:p>
            <a:r>
              <a:rPr lang="nl-NL"/>
              <a:t>Contrast </a:t>
            </a:r>
          </a:p>
          <a:p>
            <a:r>
              <a:rPr lang="nl-NL"/>
              <a:t>Alternatieve tekst </a:t>
            </a:r>
          </a:p>
        </p:txBody>
      </p:sp>
      <p:pic>
        <p:nvPicPr>
          <p:cNvPr id="11" name="Tijdelijke aanduiding voor inhoud 10" descr="Voorbeeld van een correcte documentstructuur met koppen h1 tot en met h4  voor semantische HTML.">
            <a:extLst>
              <a:ext uri="{FF2B5EF4-FFF2-40B4-BE49-F238E27FC236}">
                <a16:creationId xmlns:a16="http://schemas.microsoft.com/office/drawing/2014/main" id="{4D15C1AE-1712-94A2-1F51-6570BD74C98E}"/>
              </a:ext>
              <a:ext uri="{C183D7F6-B498-43B3-948B-1728B52AA6E4}">
                <adec:decorative xmlns:adec="http://schemas.microsoft.com/office/drawing/2017/decorative" val="0"/>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95324" y="3756015"/>
            <a:ext cx="2490889" cy="1803168"/>
          </a:xfrm>
        </p:spPr>
      </p:pic>
      <p:pic>
        <p:nvPicPr>
          <p:cNvPr id="21" name="Tijdelijke aanduiding voor inhoud 20" descr="Afbeelding van een deel van een deel van een webpagina waar het hamburgermenu is geselecteerd ">
            <a:extLst>
              <a:ext uri="{FF2B5EF4-FFF2-40B4-BE49-F238E27FC236}">
                <a16:creationId xmlns:a16="http://schemas.microsoft.com/office/drawing/2014/main" id="{34A0348A-71A9-A9C1-EF7C-14039957ACD4}"/>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720702" y="3756015"/>
            <a:ext cx="2840455" cy="1803168"/>
          </a:xfrm>
        </p:spPr>
      </p:pic>
      <p:pic>
        <p:nvPicPr>
          <p:cNvPr id="27" name="Tijdelijke aanduiding voor inhoud 26" descr="Afbeelding met gele achtergrond en witte letters &quot;Yellow&quot; die slecht zichtbaar zijn ">
            <a:extLst>
              <a:ext uri="{FF2B5EF4-FFF2-40B4-BE49-F238E27FC236}">
                <a16:creationId xmlns:a16="http://schemas.microsoft.com/office/drawing/2014/main" id="{30417372-5421-6321-CCFC-1D74F674E0F4}"/>
              </a:ext>
            </a:extLst>
          </p:cNvPr>
          <p:cNvPicPr>
            <a:picLocks noGrp="1" noChangeAspect="1"/>
          </p:cNvPicPr>
          <p:nvPr>
            <p:ph sz="quarter" idx="15"/>
          </p:nvPr>
        </p:nvPicPr>
        <p:blipFill>
          <a:blip r:embed="rId5">
            <a:extLst>
              <a:ext uri="{28A0092B-C50C-407E-A947-70E740481C1C}">
                <a14:useLocalDpi xmlns:a14="http://schemas.microsoft.com/office/drawing/2010/main" val="0"/>
              </a:ext>
            </a:extLst>
          </a:blip>
          <a:stretch>
            <a:fillRect/>
          </a:stretch>
        </p:blipFill>
        <p:spPr>
          <a:xfrm>
            <a:off x="6855628" y="3628899"/>
            <a:ext cx="1962150" cy="2057400"/>
          </a:xfrm>
        </p:spPr>
      </p:pic>
      <p:pic>
        <p:nvPicPr>
          <p:cNvPr id="29" name="Tijdelijke aanduiding voor inhoud 28" descr="Afbeelding van het Facebook-logo met onderaan alt=&quot;Facebook&quot;">
            <a:extLst>
              <a:ext uri="{FF2B5EF4-FFF2-40B4-BE49-F238E27FC236}">
                <a16:creationId xmlns:a16="http://schemas.microsoft.com/office/drawing/2014/main" id="{74EFC343-7AF7-F379-8DF2-C452F6A61BDA}"/>
              </a:ext>
            </a:extLst>
          </p:cNvPr>
          <p:cNvPicPr>
            <a:picLocks noGrp="1" noChangeAspect="1"/>
          </p:cNvPicPr>
          <p:nvPr>
            <p:ph sz="quarter" idx="16"/>
          </p:nvPr>
        </p:nvPicPr>
        <p:blipFill>
          <a:blip r:embed="rId6">
            <a:extLst>
              <a:ext uri="{28A0092B-C50C-407E-A947-70E740481C1C}">
                <a14:useLocalDpi xmlns:a14="http://schemas.microsoft.com/office/drawing/2010/main" val="0"/>
              </a:ext>
            </a:extLst>
          </a:blip>
          <a:stretch>
            <a:fillRect/>
          </a:stretch>
        </p:blipFill>
        <p:spPr>
          <a:xfrm>
            <a:off x="9410549" y="3638424"/>
            <a:ext cx="2066925" cy="2047875"/>
          </a:xfrm>
        </p:spPr>
      </p:pic>
    </p:spTree>
    <p:extLst>
      <p:ext uri="{BB962C8B-B14F-4D97-AF65-F5344CB8AC3E}">
        <p14:creationId xmlns:p14="http://schemas.microsoft.com/office/powerpoint/2010/main" val="4109794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6501C-F03E-9752-F745-F368C6BDEA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51D91B-D6A4-479B-621C-27B85F75FD3E}"/>
              </a:ext>
            </a:extLst>
          </p:cNvPr>
          <p:cNvSpPr>
            <a:spLocks noGrp="1"/>
          </p:cNvSpPr>
          <p:nvPr>
            <p:ph type="title"/>
          </p:nvPr>
        </p:nvSpPr>
        <p:spPr/>
        <p:txBody>
          <a:bodyPr/>
          <a:lstStyle/>
          <a:p>
            <a:r>
              <a:rPr lang="nl-NL" dirty="0"/>
              <a:t>Quick </a:t>
            </a:r>
            <a:r>
              <a:rPr lang="nl-NL" dirty="0" err="1"/>
              <a:t>wins</a:t>
            </a:r>
            <a:r>
              <a:rPr lang="nl-NL" dirty="0"/>
              <a:t> (deel 2) </a:t>
            </a:r>
          </a:p>
        </p:txBody>
      </p:sp>
      <p:sp>
        <p:nvSpPr>
          <p:cNvPr id="3" name="Tijdelijke aanduiding voor inhoud 2">
            <a:extLst>
              <a:ext uri="{FF2B5EF4-FFF2-40B4-BE49-F238E27FC236}">
                <a16:creationId xmlns:a16="http://schemas.microsoft.com/office/drawing/2014/main" id="{1D1DCB3D-8A7F-17A1-E7FB-795AAE5F0C95}"/>
              </a:ext>
            </a:extLst>
          </p:cNvPr>
          <p:cNvSpPr>
            <a:spLocks noGrp="1"/>
          </p:cNvSpPr>
          <p:nvPr>
            <p:ph sz="quarter" idx="17"/>
          </p:nvPr>
        </p:nvSpPr>
        <p:spPr/>
        <p:txBody>
          <a:bodyPr/>
          <a:lstStyle/>
          <a:p>
            <a:r>
              <a:rPr lang="nl-NL"/>
              <a:t>Formulieren </a:t>
            </a:r>
          </a:p>
          <a:p>
            <a:r>
              <a:rPr lang="nl-NL"/>
              <a:t>Foutmeldingen </a:t>
            </a:r>
          </a:p>
          <a:p>
            <a:r>
              <a:rPr lang="nl-NL"/>
              <a:t>Focus</a:t>
            </a:r>
          </a:p>
          <a:p>
            <a:r>
              <a:rPr lang="nl-NL"/>
              <a:t>Taal </a:t>
            </a:r>
          </a:p>
        </p:txBody>
      </p:sp>
      <p:pic>
        <p:nvPicPr>
          <p:cNvPr id="23" name="Tijdelijke aanduiding voor inhoud 22" descr="Afbeelding van een formulier met de velden: Aangever, Voornaam en Tussenvoegsel.">
            <a:extLst>
              <a:ext uri="{FF2B5EF4-FFF2-40B4-BE49-F238E27FC236}">
                <a16:creationId xmlns:a16="http://schemas.microsoft.com/office/drawing/2014/main" id="{75857578-44C5-EE28-803B-8216939DE0FB}"/>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876300" y="3837400"/>
            <a:ext cx="2339975" cy="1989900"/>
          </a:xfrm>
        </p:spPr>
      </p:pic>
      <p:pic>
        <p:nvPicPr>
          <p:cNvPr id="25" name="Tijdelijke aanduiding voor inhoud 24" descr="Afbeelding van een formulier met de titel ‘Gegevens aanvanger’, waarop foutmeldingen te zien zijn.">
            <a:extLst>
              <a:ext uri="{FF2B5EF4-FFF2-40B4-BE49-F238E27FC236}">
                <a16:creationId xmlns:a16="http://schemas.microsoft.com/office/drawing/2014/main" id="{61615C17-76B9-BA26-A278-C714AC0AF622}"/>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576638" y="3934759"/>
            <a:ext cx="2339975" cy="1777719"/>
          </a:xfrm>
        </p:spPr>
      </p:pic>
      <p:pic>
        <p:nvPicPr>
          <p:cNvPr id="27" name="Tijdelijke aanduiding voor inhoud 26" descr="Afbeelding van een roze, afgeronde knop met witte tekst &quot;Call to action&quot; erop, met een lichte gloed en grijze rand.">
            <a:extLst>
              <a:ext uri="{FF2B5EF4-FFF2-40B4-BE49-F238E27FC236}">
                <a16:creationId xmlns:a16="http://schemas.microsoft.com/office/drawing/2014/main" id="{915D9138-7FA2-8245-0A59-B8250345CA54}"/>
              </a:ext>
            </a:extLst>
          </p:cNvPr>
          <p:cNvPicPr>
            <a:picLocks noGrp="1" noChangeAspect="1"/>
          </p:cNvPicPr>
          <p:nvPr>
            <p:ph sz="quarter" idx="15"/>
          </p:nvPr>
        </p:nvPicPr>
        <p:blipFill>
          <a:blip r:embed="rId5">
            <a:extLst>
              <a:ext uri="{28A0092B-C50C-407E-A947-70E740481C1C}">
                <a14:useLocalDpi xmlns:a14="http://schemas.microsoft.com/office/drawing/2010/main" val="0"/>
              </a:ext>
            </a:extLst>
          </a:blip>
          <a:stretch>
            <a:fillRect/>
          </a:stretch>
        </p:blipFill>
        <p:spPr>
          <a:xfrm>
            <a:off x="6275388" y="4027583"/>
            <a:ext cx="2339975" cy="1592071"/>
          </a:xfrm>
        </p:spPr>
      </p:pic>
      <p:pic>
        <p:nvPicPr>
          <p:cNvPr id="29" name="Tijdelijke aanduiding voor inhoud 28" descr="Afbeelding en HTML‑codesnippet van de taalinstelling op Engels (en-US).">
            <a:extLst>
              <a:ext uri="{FF2B5EF4-FFF2-40B4-BE49-F238E27FC236}">
                <a16:creationId xmlns:a16="http://schemas.microsoft.com/office/drawing/2014/main" id="{3E80650C-616C-45C1-E162-C5D9CB39EF07}"/>
              </a:ext>
            </a:extLst>
          </p:cNvPr>
          <p:cNvPicPr>
            <a:picLocks noGrp="1" noChangeAspect="1"/>
          </p:cNvPicPr>
          <p:nvPr>
            <p:ph sz="quarter" idx="16"/>
          </p:nvPr>
        </p:nvPicPr>
        <p:blipFill>
          <a:blip r:embed="rId6">
            <a:extLst>
              <a:ext uri="{28A0092B-C50C-407E-A947-70E740481C1C}">
                <a14:useLocalDpi xmlns:a14="http://schemas.microsoft.com/office/drawing/2010/main" val="0"/>
              </a:ext>
            </a:extLst>
          </a:blip>
          <a:stretch>
            <a:fillRect/>
          </a:stretch>
        </p:blipFill>
        <p:spPr>
          <a:xfrm>
            <a:off x="8975725" y="4365104"/>
            <a:ext cx="2636446" cy="824333"/>
          </a:xfrm>
        </p:spPr>
      </p:pic>
    </p:spTree>
    <p:extLst>
      <p:ext uri="{BB962C8B-B14F-4D97-AF65-F5344CB8AC3E}">
        <p14:creationId xmlns:p14="http://schemas.microsoft.com/office/powerpoint/2010/main" val="2433760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A4AD04-98C7-BE08-6EBF-8BB732455B7E}"/>
              </a:ext>
            </a:extLst>
          </p:cNvPr>
          <p:cNvSpPr>
            <a:spLocks noGrp="1"/>
          </p:cNvSpPr>
          <p:nvPr>
            <p:ph type="title"/>
          </p:nvPr>
        </p:nvSpPr>
        <p:spPr/>
        <p:txBody>
          <a:bodyPr/>
          <a:lstStyle/>
          <a:p>
            <a:r>
              <a:rPr lang="nl-NL"/>
              <a:t>Koppen</a:t>
            </a:r>
          </a:p>
        </p:txBody>
      </p:sp>
      <p:sp>
        <p:nvSpPr>
          <p:cNvPr id="3" name="Tijdelijke aanduiding voor inhoud 2">
            <a:extLst>
              <a:ext uri="{FF2B5EF4-FFF2-40B4-BE49-F238E27FC236}">
                <a16:creationId xmlns:a16="http://schemas.microsoft.com/office/drawing/2014/main" id="{BD42C43A-9674-0E3C-5286-D4DE0CAECE5D}"/>
              </a:ext>
            </a:extLst>
          </p:cNvPr>
          <p:cNvSpPr>
            <a:spLocks noGrp="1"/>
          </p:cNvSpPr>
          <p:nvPr>
            <p:ph idx="1"/>
          </p:nvPr>
        </p:nvSpPr>
        <p:spPr/>
        <p:txBody>
          <a:bodyPr/>
          <a:lstStyle/>
          <a:p>
            <a:pPr>
              <a:lnSpc>
                <a:spcPct val="150000"/>
              </a:lnSpc>
            </a:pPr>
            <a:r>
              <a:rPr lang="nl-NL" dirty="0"/>
              <a:t>Koppen hebben de juiste opmaak  &lt;h1&gt;, &lt;h2&gt;, etc., &lt;</a:t>
            </a:r>
            <a:r>
              <a:rPr lang="nl-NL" dirty="0" err="1"/>
              <a:t>caption</a:t>
            </a:r>
            <a:r>
              <a:rPr lang="nl-NL" dirty="0"/>
              <a:t>&gt; or &lt;legend&gt;</a:t>
            </a:r>
          </a:p>
          <a:p>
            <a:pPr>
              <a:lnSpc>
                <a:spcPct val="150000"/>
              </a:lnSpc>
            </a:pPr>
            <a:r>
              <a:rPr lang="nl-NL" dirty="0"/>
              <a:t>Koppen beschrijven de inhoud eronder: een gebruiker moet uit de koptekst direct kunnen afleiden waar de onderliggende alinea over gaat </a:t>
            </a:r>
          </a:p>
          <a:p>
            <a:pPr>
              <a:lnSpc>
                <a:spcPct val="150000"/>
              </a:lnSpc>
            </a:pPr>
            <a:r>
              <a:rPr lang="nl-NL" dirty="0"/>
              <a:t>Een kop wordt gevolgd door inhoud</a:t>
            </a:r>
          </a:p>
          <a:p>
            <a:pPr marL="0" indent="0">
              <a:lnSpc>
                <a:spcPct val="150000"/>
              </a:lnSpc>
              <a:buNone/>
            </a:pPr>
            <a:r>
              <a:rPr lang="nl-NL" dirty="0"/>
              <a:t>Testen kan met een browserplug-in zoals </a:t>
            </a:r>
            <a:r>
              <a:rPr lang="nl-NL" dirty="0" err="1"/>
              <a:t>Headingmap</a:t>
            </a:r>
            <a:endParaRPr lang="nl-NL" dirty="0"/>
          </a:p>
        </p:txBody>
      </p:sp>
    </p:spTree>
    <p:extLst>
      <p:ext uri="{BB962C8B-B14F-4D97-AF65-F5344CB8AC3E}">
        <p14:creationId xmlns:p14="http://schemas.microsoft.com/office/powerpoint/2010/main" val="2928132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C11C-4593-E773-3AB5-431B7FE5CB12}"/>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B630C601-16C6-0D01-71F7-5B58E3972D77}"/>
              </a:ext>
            </a:extLst>
          </p:cNvPr>
          <p:cNvSpPr>
            <a:spLocks noGrp="1"/>
          </p:cNvSpPr>
          <p:nvPr>
            <p:ph type="title"/>
          </p:nvPr>
        </p:nvSpPr>
        <p:spPr>
          <a:xfrm>
            <a:off x="695325" y="368300"/>
            <a:ext cx="10801350" cy="990600"/>
          </a:xfrm>
        </p:spPr>
        <p:txBody>
          <a:bodyPr anchor="b">
            <a:normAutofit/>
          </a:bodyPr>
          <a:lstStyle/>
          <a:p>
            <a:r>
              <a:rPr lang="nl-NL" dirty="0"/>
              <a:t>Koppen - Uitleg</a:t>
            </a:r>
          </a:p>
        </p:txBody>
      </p:sp>
      <p:pic>
        <p:nvPicPr>
          <p:cNvPr id="4" name="Tijdelijke aanduiding voor afbeelding 4" descr="Diagram dat de semantische HTML-structuur toont van een webpagina over 'Auditieve beperking'. De structuur bestaat uit: een H1-kop met de titel 'Auditieve beperking' gevolgd door een paragraaf met de definitie, een H2-kop 'Effectief surfen met een auditieve beperking' met een paragraaf en een lijst (UL, LI) met vier items over toegankelijkheidsmaatregelen, een paragraaf met aanvullende uitleg, en een H3-kop 'Voorbeelden van auditieve beperkingen' met een lijst met drie items (slechthorend, doof, doofblind)">
            <a:extLst>
              <a:ext uri="{FF2B5EF4-FFF2-40B4-BE49-F238E27FC236}">
                <a16:creationId xmlns:a16="http://schemas.microsoft.com/office/drawing/2014/main" id="{AC17A47D-5A1C-5E45-16B5-67F79B5A570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467" t="-414" r="-9339" b="-4247"/>
          <a:stretch>
            <a:fillRect/>
          </a:stretch>
        </p:blipFill>
        <p:spPr>
          <a:xfrm>
            <a:off x="1231892" y="1772612"/>
            <a:ext cx="8662645" cy="4521013"/>
          </a:xfrm>
          <a:noFill/>
        </p:spPr>
      </p:pic>
    </p:spTree>
    <p:extLst>
      <p:ext uri="{BB962C8B-B14F-4D97-AF65-F5344CB8AC3E}">
        <p14:creationId xmlns:p14="http://schemas.microsoft.com/office/powerpoint/2010/main" val="186127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AA7AE-459D-E63A-AC68-60AC359BD1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5968CA5-1F93-2745-285F-46C1C229E0B9}"/>
              </a:ext>
            </a:extLst>
          </p:cNvPr>
          <p:cNvSpPr>
            <a:spLocks noGrp="1"/>
          </p:cNvSpPr>
          <p:nvPr>
            <p:ph type="title"/>
          </p:nvPr>
        </p:nvSpPr>
        <p:spPr/>
        <p:txBody>
          <a:bodyPr/>
          <a:lstStyle/>
          <a:p>
            <a:r>
              <a:rPr lang="nl-NL" dirty="0"/>
              <a:t>Naam, rol en waarde - uitleg</a:t>
            </a:r>
          </a:p>
        </p:txBody>
      </p:sp>
      <p:sp>
        <p:nvSpPr>
          <p:cNvPr id="3" name="Tijdelijke aanduiding voor inhoud 2">
            <a:extLst>
              <a:ext uri="{FF2B5EF4-FFF2-40B4-BE49-F238E27FC236}">
                <a16:creationId xmlns:a16="http://schemas.microsoft.com/office/drawing/2014/main" id="{079AE547-24F3-93C9-CDAF-439F4ADDA830}"/>
              </a:ext>
            </a:extLst>
          </p:cNvPr>
          <p:cNvSpPr>
            <a:spLocks noGrp="1"/>
          </p:cNvSpPr>
          <p:nvPr>
            <p:ph sz="half" idx="1"/>
          </p:nvPr>
        </p:nvSpPr>
        <p:spPr>
          <a:xfrm>
            <a:off x="876301" y="1902457"/>
            <a:ext cx="3968832" cy="4045905"/>
          </a:xfrm>
        </p:spPr>
        <p:txBody>
          <a:bodyPr/>
          <a:lstStyle/>
          <a:p>
            <a:r>
              <a:rPr lang="nl-NL" dirty="0"/>
              <a:t>Alle interactieve elementen hebben de juiste naam en rol. De naam is vaak uniek voor dat ene element (bijvoorbeeld “Versturen”). De rol geeft aan wat voor type interactief element het is (bijvoorbeeld “knop”).</a:t>
            </a:r>
          </a:p>
          <a:p>
            <a:pPr marL="0" indent="0">
              <a:buNone/>
            </a:pPr>
            <a:endParaRPr lang="nl-NL" dirty="0"/>
          </a:p>
        </p:txBody>
      </p:sp>
      <p:pic>
        <p:nvPicPr>
          <p:cNvPr id="10" name="Tijdelijke aanduiding voor inhoud 9" descr="Illustratie van WCAG-succescriterium 4.1.2 Naam, Rol en Waarde. Links zijn websitecomponenten te zien: een knop, een selectievakje en een invoerveld met tekstballonnen die de naam, rol en waarde in het Nederlands tonen. In het midden staat een groen vinkje. Rechts gebruikt een blinde persoon een laptop met een schermlezer die de juiste informatie voorleest. Onderschrift: &quot;Zorg dat hulptechnologie weet wat elk element">
            <a:extLst>
              <a:ext uri="{FF2B5EF4-FFF2-40B4-BE49-F238E27FC236}">
                <a16:creationId xmlns:a16="http://schemas.microsoft.com/office/drawing/2014/main" id="{A22F1F15-A60D-93B7-D956-5619791C1E9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1530" t="27784" r="1814" b="31092"/>
          <a:stretch>
            <a:fillRect/>
          </a:stretch>
        </p:blipFill>
        <p:spPr>
          <a:xfrm>
            <a:off x="4810777" y="1902457"/>
            <a:ext cx="6829843" cy="2905849"/>
          </a:xfrm>
          <a:prstGeom prst="rect">
            <a:avLst/>
          </a:prstGeom>
        </p:spPr>
      </p:pic>
    </p:spTree>
    <p:extLst>
      <p:ext uri="{BB962C8B-B14F-4D97-AF65-F5344CB8AC3E}">
        <p14:creationId xmlns:p14="http://schemas.microsoft.com/office/powerpoint/2010/main" val="2727191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366953-4695-01FB-AB74-2A9EF76BBE63}"/>
              </a:ext>
            </a:extLst>
          </p:cNvPr>
          <p:cNvSpPr>
            <a:spLocks noGrp="1"/>
          </p:cNvSpPr>
          <p:nvPr>
            <p:ph type="title"/>
          </p:nvPr>
        </p:nvSpPr>
        <p:spPr/>
        <p:txBody>
          <a:bodyPr/>
          <a:lstStyle/>
          <a:p>
            <a:r>
              <a:rPr lang="nl-NL" dirty="0"/>
              <a:t>Naam, rol en waarde - voorbeeld</a:t>
            </a:r>
          </a:p>
        </p:txBody>
      </p:sp>
      <p:sp>
        <p:nvSpPr>
          <p:cNvPr id="3" name="Tijdelijke aanduiding voor inhoud 2">
            <a:extLst>
              <a:ext uri="{FF2B5EF4-FFF2-40B4-BE49-F238E27FC236}">
                <a16:creationId xmlns:a16="http://schemas.microsoft.com/office/drawing/2014/main" id="{FC1D5719-A00A-1DB9-4017-9993146E189B}"/>
              </a:ext>
            </a:extLst>
          </p:cNvPr>
          <p:cNvSpPr>
            <a:spLocks noGrp="1"/>
          </p:cNvSpPr>
          <p:nvPr>
            <p:ph sz="half" idx="1"/>
          </p:nvPr>
        </p:nvSpPr>
        <p:spPr/>
        <p:txBody>
          <a:bodyPr/>
          <a:lstStyle/>
          <a:p>
            <a:pPr marL="0" indent="0">
              <a:lnSpc>
                <a:spcPct val="150000"/>
              </a:lnSpc>
              <a:buNone/>
            </a:pPr>
            <a:r>
              <a:rPr lang="nl-NL"/>
              <a:t>Wat de schermlezer voorleest: “Was dit antwoord nuttig? Knop </a:t>
            </a:r>
            <a:r>
              <a:rPr lang="nl-NL" err="1"/>
              <a:t>Knop</a:t>
            </a:r>
            <a:r>
              <a:rPr lang="nl-NL"/>
              <a:t>”</a:t>
            </a:r>
          </a:p>
          <a:p>
            <a:pPr marL="0" indent="0">
              <a:lnSpc>
                <a:spcPct val="150000"/>
              </a:lnSpc>
              <a:buNone/>
            </a:pPr>
            <a:endParaRPr lang="nl-NL"/>
          </a:p>
          <a:p>
            <a:pPr marL="0" indent="0">
              <a:lnSpc>
                <a:spcPct val="150000"/>
              </a:lnSpc>
              <a:buNone/>
            </a:pPr>
            <a:r>
              <a:rPr lang="nl-NL"/>
              <a:t>Naam: Ja / Nee</a:t>
            </a:r>
          </a:p>
          <a:p>
            <a:pPr marL="0" indent="0">
              <a:lnSpc>
                <a:spcPct val="150000"/>
              </a:lnSpc>
              <a:buNone/>
            </a:pPr>
            <a:r>
              <a:rPr lang="nl-NL"/>
              <a:t>Rol: Radio button </a:t>
            </a:r>
          </a:p>
          <a:p>
            <a:pPr marL="0" indent="0">
              <a:lnSpc>
                <a:spcPct val="150000"/>
              </a:lnSpc>
              <a:buNone/>
            </a:pPr>
            <a:r>
              <a:rPr lang="nl-NL"/>
              <a:t>Waarde: Geselecteerd </a:t>
            </a:r>
          </a:p>
        </p:txBody>
      </p:sp>
      <p:pic>
        <p:nvPicPr>
          <p:cNvPr id="8" name="Tijdelijke aanduiding voor inhoud 7" descr="Afbeelding van een feedbackvraag &quot;Was dit antwoord nuttig?&quot; met twee knoppen: een duim omhoog-pictogram (positieve feedback) en een duim omlaag-pictogram (negatieve feedback).">
            <a:extLst>
              <a:ext uri="{FF2B5EF4-FFF2-40B4-BE49-F238E27FC236}">
                <a16:creationId xmlns:a16="http://schemas.microsoft.com/office/drawing/2014/main" id="{0C12FE74-13A2-8654-9BB4-38CA050129C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28048" y="2338314"/>
            <a:ext cx="5365999" cy="1430933"/>
          </a:xfrm>
        </p:spPr>
      </p:pic>
    </p:spTree>
    <p:extLst>
      <p:ext uri="{BB962C8B-B14F-4D97-AF65-F5344CB8AC3E}">
        <p14:creationId xmlns:p14="http://schemas.microsoft.com/office/powerpoint/2010/main" val="2716087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4636E9-C783-B1B9-4DD9-0863641E8B11}"/>
              </a:ext>
            </a:extLst>
          </p:cNvPr>
          <p:cNvSpPr>
            <a:spLocks noGrp="1"/>
          </p:cNvSpPr>
          <p:nvPr>
            <p:ph type="title"/>
          </p:nvPr>
        </p:nvSpPr>
        <p:spPr/>
        <p:txBody>
          <a:bodyPr/>
          <a:lstStyle/>
          <a:p>
            <a:r>
              <a:rPr lang="nl-NL"/>
              <a:t>Contrast</a:t>
            </a:r>
          </a:p>
        </p:txBody>
      </p:sp>
      <p:sp>
        <p:nvSpPr>
          <p:cNvPr id="3" name="Tijdelijke aanduiding voor inhoud 2">
            <a:extLst>
              <a:ext uri="{FF2B5EF4-FFF2-40B4-BE49-F238E27FC236}">
                <a16:creationId xmlns:a16="http://schemas.microsoft.com/office/drawing/2014/main" id="{18F7E70A-CCA4-2BCD-03B6-9948E8A817A5}"/>
              </a:ext>
            </a:extLst>
          </p:cNvPr>
          <p:cNvSpPr>
            <a:spLocks noGrp="1"/>
          </p:cNvSpPr>
          <p:nvPr>
            <p:ph idx="1"/>
          </p:nvPr>
        </p:nvSpPr>
        <p:spPr/>
        <p:txBody>
          <a:bodyPr/>
          <a:lstStyle/>
          <a:p>
            <a:pPr>
              <a:lnSpc>
                <a:spcPct val="100000"/>
              </a:lnSpc>
            </a:pPr>
            <a:r>
              <a:rPr lang="nl-NL"/>
              <a:t>Zorg voor voldoende contrast tussen de tekst en de achtergrond. </a:t>
            </a:r>
          </a:p>
          <a:p>
            <a:pPr>
              <a:lnSpc>
                <a:spcPct val="100000"/>
              </a:lnSpc>
            </a:pPr>
            <a:r>
              <a:rPr lang="nl-NL"/>
              <a:t>Contrast van tekst: minimaal 4,5:1</a:t>
            </a:r>
          </a:p>
          <a:p>
            <a:pPr>
              <a:lnSpc>
                <a:spcPct val="100000"/>
              </a:lnSpc>
            </a:pPr>
            <a:r>
              <a:rPr lang="nl-NL"/>
              <a:t>Contrast van niet-tekst: minimaal 3:1 </a:t>
            </a:r>
          </a:p>
          <a:p>
            <a:pPr>
              <a:lnSpc>
                <a:spcPct val="100000"/>
              </a:lnSpc>
            </a:pPr>
            <a:endParaRPr lang="nl-NL"/>
          </a:p>
          <a:p>
            <a:pPr>
              <a:lnSpc>
                <a:spcPct val="100000"/>
              </a:lnSpc>
            </a:pPr>
            <a:r>
              <a:rPr lang="nl-NL"/>
              <a:t>Hoe controleer je dit? </a:t>
            </a:r>
          </a:p>
          <a:p>
            <a:pPr marL="0" indent="0">
              <a:lnSpc>
                <a:spcPct val="100000"/>
              </a:lnSpc>
              <a:buNone/>
            </a:pPr>
            <a:r>
              <a:rPr lang="nl-NL"/>
              <a:t>Bijvoorbeeld: Colour Contrast Analyzer: </a:t>
            </a:r>
            <a:r>
              <a:rPr lang="nl-NL">
                <a:hlinkClick r:id="rId3"/>
              </a:rPr>
              <a:t>https://www.tpgi.com/color-contrast-checker</a:t>
            </a:r>
            <a:r>
              <a:rPr lang="nl-NL"/>
              <a:t> </a:t>
            </a:r>
          </a:p>
          <a:p>
            <a:pPr>
              <a:lnSpc>
                <a:spcPct val="100000"/>
              </a:lnSpc>
            </a:pPr>
            <a:endParaRPr lang="nl-NL"/>
          </a:p>
        </p:txBody>
      </p:sp>
    </p:spTree>
    <p:extLst>
      <p:ext uri="{BB962C8B-B14F-4D97-AF65-F5344CB8AC3E}">
        <p14:creationId xmlns:p14="http://schemas.microsoft.com/office/powerpoint/2010/main" val="1498570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49F72C-A163-B9BB-85BC-E186E853B9CA}"/>
              </a:ext>
            </a:extLst>
          </p:cNvPr>
          <p:cNvSpPr>
            <a:spLocks noGrp="1"/>
          </p:cNvSpPr>
          <p:nvPr>
            <p:ph type="title"/>
          </p:nvPr>
        </p:nvSpPr>
        <p:spPr/>
        <p:txBody>
          <a:bodyPr/>
          <a:lstStyle/>
          <a:p>
            <a:r>
              <a:rPr lang="nl-NL"/>
              <a:t>Alternatieve tekst</a:t>
            </a:r>
          </a:p>
        </p:txBody>
      </p:sp>
      <p:sp>
        <p:nvSpPr>
          <p:cNvPr id="3" name="Tijdelijke aanduiding voor inhoud 2">
            <a:extLst>
              <a:ext uri="{FF2B5EF4-FFF2-40B4-BE49-F238E27FC236}">
                <a16:creationId xmlns:a16="http://schemas.microsoft.com/office/drawing/2014/main" id="{A03467A3-68BA-CEF4-7EC1-56B9BB08A7F9}"/>
              </a:ext>
            </a:extLst>
          </p:cNvPr>
          <p:cNvSpPr>
            <a:spLocks noGrp="1"/>
          </p:cNvSpPr>
          <p:nvPr>
            <p:ph sz="half" idx="1"/>
          </p:nvPr>
        </p:nvSpPr>
        <p:spPr>
          <a:xfrm>
            <a:off x="876300" y="1628775"/>
            <a:ext cx="4526973" cy="4319588"/>
          </a:xfrm>
        </p:spPr>
        <p:txBody>
          <a:bodyPr/>
          <a:lstStyle/>
          <a:p>
            <a:r>
              <a:rPr lang="nl-NL" dirty="0"/>
              <a:t>Wil je iets vertellen met een afbeelding? Voeg dan een alternatieve tekst toe. </a:t>
            </a:r>
          </a:p>
          <a:p>
            <a:r>
              <a:rPr lang="nl-NL" dirty="0"/>
              <a:t>Is de afbeelding alleen ter decoratie: voeg dan altijd een leeg ALT-attribuut toe (alt=“”).</a:t>
            </a:r>
          </a:p>
        </p:txBody>
      </p:sp>
      <p:pic>
        <p:nvPicPr>
          <p:cNvPr id="12" name="Tijdelijke aanduiding voor inhoud 11" descr="Illustratie van WCAG-succescriterium 1.1.1 Niet-tekstuele inhoud. Bovenste scenario &quot;Betekenisvolle afbeelding&quot;: een foto van een hond met de alt-tekst &quot;Vrolijke golden retriever speelt in het park&quot;, een blije schermlezer en een blinde gebruiker met koptelefoon. Label: &quot;Vertel wat je ziet!&quot;. Onderste scenario &quot;Decoratieve afbeelding&quot;: een decoratief ornament met alt=&quot;&quot; in de code, een schermlezer die stilblijft met &quot;Sla over&quot; en een gebruiker die duim omhoog geeft. Label: 'Decoratie? Gebruik alt=&quot;&quot;'. Onderschrift: &quot;Wil je iets vertellen met een afbeelding? Voeg dan een alternatieve tekst toe. Is de afbeelding alleen ter decoratie? Gebruik dan altijd alt=&quot;&quot;.&quot;">
            <a:extLst>
              <a:ext uri="{FF2B5EF4-FFF2-40B4-BE49-F238E27FC236}">
                <a16:creationId xmlns:a16="http://schemas.microsoft.com/office/drawing/2014/main" id="{7043AD00-0CD2-5070-1E01-8DAF53F6047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6005" b="13169"/>
          <a:stretch>
            <a:fillRect/>
          </a:stretch>
        </p:blipFill>
        <p:spPr>
          <a:xfrm>
            <a:off x="6094974" y="516906"/>
            <a:ext cx="4526973" cy="5488449"/>
          </a:xfrm>
          <a:prstGeom prst="rect">
            <a:avLst/>
          </a:prstGeom>
        </p:spPr>
      </p:pic>
    </p:spTree>
    <p:extLst>
      <p:ext uri="{BB962C8B-B14F-4D97-AF65-F5344CB8AC3E}">
        <p14:creationId xmlns:p14="http://schemas.microsoft.com/office/powerpoint/2010/main" val="622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649505-8868-DE9A-C697-12D28178FD29}"/>
              </a:ext>
            </a:extLst>
          </p:cNvPr>
          <p:cNvSpPr>
            <a:spLocks noGrp="1"/>
          </p:cNvSpPr>
          <p:nvPr>
            <p:ph type="title"/>
          </p:nvPr>
        </p:nvSpPr>
        <p:spPr/>
        <p:txBody>
          <a:bodyPr/>
          <a:lstStyle/>
          <a:p>
            <a:r>
              <a:rPr lang="nl-NL"/>
              <a:t>Formulieren</a:t>
            </a:r>
          </a:p>
        </p:txBody>
      </p:sp>
      <p:sp>
        <p:nvSpPr>
          <p:cNvPr id="3" name="Tijdelijke aanduiding voor inhoud 2">
            <a:extLst>
              <a:ext uri="{FF2B5EF4-FFF2-40B4-BE49-F238E27FC236}">
                <a16:creationId xmlns:a16="http://schemas.microsoft.com/office/drawing/2014/main" id="{B09C96F9-38A2-9D0D-81E5-F1CE97069F75}"/>
              </a:ext>
            </a:extLst>
          </p:cNvPr>
          <p:cNvSpPr>
            <a:spLocks noGrp="1"/>
          </p:cNvSpPr>
          <p:nvPr>
            <p:ph idx="1"/>
          </p:nvPr>
        </p:nvSpPr>
        <p:spPr>
          <a:xfrm>
            <a:off x="876300" y="1628774"/>
            <a:ext cx="10439400" cy="4860925"/>
          </a:xfrm>
        </p:spPr>
        <p:txBody>
          <a:bodyPr/>
          <a:lstStyle/>
          <a:p>
            <a:r>
              <a:rPr lang="nl-NL" dirty="0"/>
              <a:t>Elk invoerveld moet een label hebben.</a:t>
            </a:r>
          </a:p>
          <a:p>
            <a:r>
              <a:rPr lang="nl-NL" dirty="0"/>
              <a:t>Het label moet gekoppeld zijn aan het invoerveld (</a:t>
            </a:r>
            <a:r>
              <a:rPr lang="nl-NL" dirty="0" err="1"/>
              <a:t>for</a:t>
            </a:r>
            <a:r>
              <a:rPr lang="nl-NL" dirty="0"/>
              <a:t>/id-relatie).</a:t>
            </a:r>
          </a:p>
          <a:p>
            <a:r>
              <a:rPr lang="nl-NL" dirty="0"/>
              <a:t>Elke knop moet een naam hebben. </a:t>
            </a:r>
          </a:p>
          <a:p>
            <a:endParaRPr lang="nl-NL" dirty="0"/>
          </a:p>
          <a:p>
            <a:pPr marL="0" indent="0">
              <a:buNone/>
            </a:pPr>
            <a:r>
              <a:rPr lang="nl-NL" dirty="0"/>
              <a:t>Voorbeeld code:</a:t>
            </a:r>
          </a:p>
          <a:p>
            <a:pPr marL="0" indent="0">
              <a:buNone/>
            </a:pPr>
            <a:r>
              <a:rPr lang="nl-NL" sz="1800" dirty="0"/>
              <a:t>&lt;label </a:t>
            </a:r>
            <a:r>
              <a:rPr lang="nl-NL" sz="1800" dirty="0" err="1"/>
              <a:t>for</a:t>
            </a:r>
            <a:r>
              <a:rPr lang="nl-NL" sz="1800" dirty="0"/>
              <a:t>=“first name”&gt; First name: &lt;/label&gt;</a:t>
            </a:r>
          </a:p>
          <a:p>
            <a:pPr marL="0" indent="0">
              <a:buNone/>
            </a:pPr>
            <a:r>
              <a:rPr lang="nl-NL" sz="1800" dirty="0"/>
              <a:t>&lt;input type=“</a:t>
            </a:r>
            <a:r>
              <a:rPr lang="nl-NL" sz="1800" dirty="0" err="1"/>
              <a:t>text</a:t>
            </a:r>
            <a:r>
              <a:rPr lang="nl-NL" sz="1800" dirty="0"/>
              <a:t>” name=“</a:t>
            </a:r>
            <a:r>
              <a:rPr lang="nl-NL" sz="1800" dirty="0" err="1"/>
              <a:t>firstname</a:t>
            </a:r>
            <a:r>
              <a:rPr lang="nl-NL" sz="1800" dirty="0"/>
              <a:t>” id=“</a:t>
            </a:r>
            <a:r>
              <a:rPr lang="nl-NL" sz="1800" dirty="0" err="1"/>
              <a:t>first_name</a:t>
            </a:r>
            <a:r>
              <a:rPr lang="nl-NL" sz="1800" dirty="0"/>
              <a:t>”&gt;&lt;</a:t>
            </a:r>
            <a:r>
              <a:rPr lang="nl-NL" sz="1800" dirty="0" err="1"/>
              <a:t>br</a:t>
            </a:r>
            <a:r>
              <a:rPr lang="nl-NL" sz="1800" dirty="0"/>
              <a:t>&gt;</a:t>
            </a:r>
          </a:p>
          <a:p>
            <a:pPr marL="0" indent="0">
              <a:buNone/>
            </a:pPr>
            <a:endParaRPr lang="nl-NL" sz="1800" dirty="0"/>
          </a:p>
          <a:p>
            <a:pPr marL="0" indent="0">
              <a:buNone/>
            </a:pPr>
            <a:r>
              <a:rPr lang="nl-NL" sz="1800" dirty="0"/>
              <a:t>&lt;button type=“</a:t>
            </a:r>
            <a:r>
              <a:rPr lang="nl-NL" sz="1800" dirty="0" err="1"/>
              <a:t>submit</a:t>
            </a:r>
            <a:r>
              <a:rPr lang="nl-NL" sz="1800" dirty="0"/>
              <a:t>”&gt;</a:t>
            </a:r>
            <a:r>
              <a:rPr lang="nl-NL" sz="1800" dirty="0" err="1"/>
              <a:t>Submit</a:t>
            </a:r>
            <a:r>
              <a:rPr lang="nl-NL" sz="1800" dirty="0"/>
              <a:t>&lt;/button&gt;</a:t>
            </a:r>
          </a:p>
          <a:p>
            <a:pPr marL="0" indent="0">
              <a:buNone/>
            </a:pPr>
            <a:r>
              <a:rPr lang="nl-NL" sz="1800" dirty="0"/>
              <a:t>&lt;button type=“button”&gt;Cancel&lt;/button&gt;</a:t>
            </a:r>
          </a:p>
        </p:txBody>
      </p:sp>
    </p:spTree>
    <p:extLst>
      <p:ext uri="{BB962C8B-B14F-4D97-AF65-F5344CB8AC3E}">
        <p14:creationId xmlns:p14="http://schemas.microsoft.com/office/powerpoint/2010/main" val="320329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F6368-3947-D552-6161-D756D34F19C1}"/>
              </a:ext>
            </a:extLst>
          </p:cNvPr>
          <p:cNvSpPr>
            <a:spLocks noGrp="1"/>
          </p:cNvSpPr>
          <p:nvPr>
            <p:ph type="title"/>
          </p:nvPr>
        </p:nvSpPr>
        <p:spPr/>
        <p:txBody>
          <a:bodyPr/>
          <a:lstStyle/>
          <a:p>
            <a:r>
              <a:rPr lang="nl-NL"/>
              <a:t>Formulieren - foutmeldingen</a:t>
            </a:r>
          </a:p>
        </p:txBody>
      </p:sp>
      <p:sp>
        <p:nvSpPr>
          <p:cNvPr id="3" name="Tijdelijke aanduiding voor inhoud 2" descr="Illustratie van WCAG-succescriterium 3.3.1 Foutidentificatie. Links een fout-voorbeeld &quot;Fout&quot;: een formulierveld &quot;E-mailadres&quot; met alleen een rood kader en de melding &quot;Is verplicht&quot;, een verwarde schermlezer die vraagt &quot;Wat is er mis?&quot; en een gefrustreerde blinde gebruiker. Rechts een goed-voorbeeld &quot;Goed&quot;: hetzelfde veld met de duidelijke foutmelding &quot;Fout: Dit veld is verplicht. Voer een geldig e-mailadres in.&quot;, een blije schermlezer en een tevreden gebruiker met koptelefoon. Onderschrift: &quot;Beschrijf fouten in tekst, zodat iedereen begrijpt wat er mis is en hoe het opgelost kan worden.&quot;">
            <a:extLst>
              <a:ext uri="{FF2B5EF4-FFF2-40B4-BE49-F238E27FC236}">
                <a16:creationId xmlns:a16="http://schemas.microsoft.com/office/drawing/2014/main" id="{2A938CB7-A8AD-FE7E-C259-D912629E443A}"/>
              </a:ext>
            </a:extLst>
          </p:cNvPr>
          <p:cNvSpPr>
            <a:spLocks noGrp="1"/>
          </p:cNvSpPr>
          <p:nvPr>
            <p:ph idx="1"/>
          </p:nvPr>
        </p:nvSpPr>
        <p:spPr>
          <a:xfrm>
            <a:off x="876300" y="1916831"/>
            <a:ext cx="4495800" cy="4031531"/>
          </a:xfrm>
        </p:spPr>
        <p:txBody>
          <a:bodyPr/>
          <a:lstStyle/>
          <a:p>
            <a:pPr>
              <a:lnSpc>
                <a:spcPct val="200000"/>
              </a:lnSpc>
            </a:pPr>
            <a:r>
              <a:rPr lang="nl-NL" sz="2000" dirty="0"/>
              <a:t>Beschrijf </a:t>
            </a:r>
            <a:r>
              <a:rPr lang="nl-NL" sz="2000" b="1" dirty="0"/>
              <a:t>dat</a:t>
            </a:r>
            <a:r>
              <a:rPr lang="nl-NL" sz="2000" dirty="0"/>
              <a:t> er iets mis is gegaan. </a:t>
            </a:r>
          </a:p>
          <a:p>
            <a:pPr>
              <a:lnSpc>
                <a:spcPct val="200000"/>
              </a:lnSpc>
            </a:pPr>
            <a:r>
              <a:rPr lang="nl-NL" sz="2000" dirty="0"/>
              <a:t>Beschrijf </a:t>
            </a:r>
            <a:r>
              <a:rPr lang="nl-NL" sz="2000" b="1" dirty="0"/>
              <a:t>wat</a:t>
            </a:r>
            <a:r>
              <a:rPr lang="nl-NL" sz="2000" dirty="0"/>
              <a:t> er mis is gegaan.</a:t>
            </a:r>
          </a:p>
          <a:p>
            <a:pPr>
              <a:lnSpc>
                <a:spcPct val="200000"/>
              </a:lnSpc>
            </a:pPr>
            <a:r>
              <a:rPr lang="nl-NL" sz="2000" dirty="0"/>
              <a:t>Beschrijf </a:t>
            </a:r>
            <a:r>
              <a:rPr lang="nl-NL" sz="2000" b="1" dirty="0"/>
              <a:t>waar</a:t>
            </a:r>
            <a:r>
              <a:rPr lang="nl-NL" sz="2000" dirty="0"/>
              <a:t> het mis is gegaan. </a:t>
            </a:r>
          </a:p>
        </p:txBody>
      </p:sp>
      <p:pic>
        <p:nvPicPr>
          <p:cNvPr id="5" name="Afbeelding 4" descr="Illustratie van WCAG-succescriterium 3.3.1 Foutidentificatie. Links een fout-voorbeeld &quot;Fout&quot;: een formulierveld &quot;E-mailadres&quot; met alleen een rood kader en de melding &quot;Is verplicht&quot;, een verwarde schermlezer die vraagt &quot;Wat is er mis?&quot; en een gefrustreerde blinde gebruiker. Rechts een goed-voorbeeld &quot;Goed&quot;: hetzelfde veld met de duidelijke foutmelding &quot;Fout: Dit veld is verplicht. Voer een geldig e-mailadres in.&quot;, een blije schermlezer en een tevreden gebruiker met koptelefoon. Onderschrift: &quot;Beschrijf fouten in tekst, zodat iedereen begrijpt wat er mis is en hoe het opgelost kan worden.&quot;">
            <a:extLst>
              <a:ext uri="{FF2B5EF4-FFF2-40B4-BE49-F238E27FC236}">
                <a16:creationId xmlns:a16="http://schemas.microsoft.com/office/drawing/2014/main" id="{9A0C2DE9-79FE-0D23-0F67-E8C94FC6C316}"/>
              </a:ext>
            </a:extLst>
          </p:cNvPr>
          <p:cNvPicPr>
            <a:picLocks noChangeAspect="1"/>
          </p:cNvPicPr>
          <p:nvPr/>
        </p:nvPicPr>
        <p:blipFill>
          <a:blip r:embed="rId3">
            <a:extLst>
              <a:ext uri="{28A0092B-C50C-407E-A947-70E740481C1C}">
                <a14:useLocalDpi xmlns:a14="http://schemas.microsoft.com/office/drawing/2010/main" val="0"/>
              </a:ext>
            </a:extLst>
          </a:blip>
          <a:srcRect t="11080" r="1307"/>
          <a:stretch>
            <a:fillRect/>
          </a:stretch>
        </p:blipFill>
        <p:spPr>
          <a:xfrm>
            <a:off x="5213350" y="1861268"/>
            <a:ext cx="6711950" cy="4031531"/>
          </a:xfrm>
          <a:prstGeom prst="rect">
            <a:avLst/>
          </a:prstGeom>
        </p:spPr>
      </p:pic>
    </p:spTree>
    <p:extLst>
      <p:ext uri="{BB962C8B-B14F-4D97-AF65-F5344CB8AC3E}">
        <p14:creationId xmlns:p14="http://schemas.microsoft.com/office/powerpoint/2010/main" val="3396051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25C732-8BDC-E684-934A-EC0D6B67807D}"/>
              </a:ext>
            </a:extLst>
          </p:cNvPr>
          <p:cNvSpPr>
            <a:spLocks noGrp="1"/>
          </p:cNvSpPr>
          <p:nvPr>
            <p:ph type="title"/>
          </p:nvPr>
        </p:nvSpPr>
        <p:spPr/>
        <p:txBody>
          <a:bodyPr/>
          <a:lstStyle/>
          <a:p>
            <a:r>
              <a:rPr lang="nl-NL"/>
              <a:t>Focus</a:t>
            </a:r>
          </a:p>
        </p:txBody>
      </p:sp>
      <p:sp>
        <p:nvSpPr>
          <p:cNvPr id="3" name="Tijdelijke aanduiding voor inhoud 2">
            <a:extLst>
              <a:ext uri="{FF2B5EF4-FFF2-40B4-BE49-F238E27FC236}">
                <a16:creationId xmlns:a16="http://schemas.microsoft.com/office/drawing/2014/main" id="{B75883BF-890E-23AA-DCAE-819C656FA78A}"/>
              </a:ext>
            </a:extLst>
          </p:cNvPr>
          <p:cNvSpPr>
            <a:spLocks noGrp="1"/>
          </p:cNvSpPr>
          <p:nvPr>
            <p:ph idx="1"/>
          </p:nvPr>
        </p:nvSpPr>
        <p:spPr/>
        <p:txBody>
          <a:bodyPr/>
          <a:lstStyle/>
          <a:p>
            <a:pPr>
              <a:lnSpc>
                <a:spcPct val="150000"/>
              </a:lnSpc>
            </a:pPr>
            <a:r>
              <a:rPr lang="nl-NL" dirty="0"/>
              <a:t>De focus dient altijd zichtbaar te zijn. </a:t>
            </a:r>
          </a:p>
          <a:p>
            <a:pPr>
              <a:lnSpc>
                <a:spcPct val="150000"/>
              </a:lnSpc>
            </a:pPr>
            <a:r>
              <a:rPr lang="nl-NL" dirty="0"/>
              <a:t>Wanneer de focus op een verborgen element wordt geplaatst, moet het element zichtbaar worden. </a:t>
            </a:r>
          </a:p>
          <a:p>
            <a:pPr>
              <a:lnSpc>
                <a:spcPct val="150000"/>
              </a:lnSpc>
            </a:pPr>
            <a:r>
              <a:rPr lang="nl-NL" dirty="0"/>
              <a:t>Geef de focus niet alleen aan door de kleur te veranderen (tekst/rand/achtergrond, enz.) </a:t>
            </a:r>
          </a:p>
          <a:p>
            <a:pPr>
              <a:lnSpc>
                <a:spcPct val="150000"/>
              </a:lnSpc>
            </a:pPr>
            <a:endParaRPr lang="nl-NL" dirty="0"/>
          </a:p>
        </p:txBody>
      </p:sp>
    </p:spTree>
    <p:extLst>
      <p:ext uri="{BB962C8B-B14F-4D97-AF65-F5344CB8AC3E}">
        <p14:creationId xmlns:p14="http://schemas.microsoft.com/office/powerpoint/2010/main" val="3864982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9221A1-B6AA-717E-9F3A-9E7F7B255A2E}"/>
              </a:ext>
            </a:extLst>
          </p:cNvPr>
          <p:cNvSpPr>
            <a:spLocks noGrp="1"/>
          </p:cNvSpPr>
          <p:nvPr>
            <p:ph type="title"/>
          </p:nvPr>
        </p:nvSpPr>
        <p:spPr/>
        <p:txBody>
          <a:bodyPr/>
          <a:lstStyle/>
          <a:p>
            <a:r>
              <a:rPr lang="nl-NL"/>
              <a:t>Taal </a:t>
            </a:r>
          </a:p>
        </p:txBody>
      </p:sp>
      <p:sp>
        <p:nvSpPr>
          <p:cNvPr id="3" name="Tijdelijke aanduiding voor inhoud 2">
            <a:extLst>
              <a:ext uri="{FF2B5EF4-FFF2-40B4-BE49-F238E27FC236}">
                <a16:creationId xmlns:a16="http://schemas.microsoft.com/office/drawing/2014/main" id="{596DEEC5-671B-8633-B750-FF9C653083B5}"/>
              </a:ext>
            </a:extLst>
          </p:cNvPr>
          <p:cNvSpPr>
            <a:spLocks noGrp="1"/>
          </p:cNvSpPr>
          <p:nvPr>
            <p:ph idx="1"/>
          </p:nvPr>
        </p:nvSpPr>
        <p:spPr/>
        <p:txBody>
          <a:bodyPr/>
          <a:lstStyle/>
          <a:p>
            <a:pPr>
              <a:lnSpc>
                <a:spcPct val="100000"/>
              </a:lnSpc>
            </a:pPr>
            <a:r>
              <a:rPr lang="nl-NL" dirty="0"/>
              <a:t>De basistaal van de webpagina wordt aangegeven.</a:t>
            </a:r>
          </a:p>
          <a:p>
            <a:pPr>
              <a:lnSpc>
                <a:spcPct val="100000"/>
              </a:lnSpc>
            </a:pPr>
            <a:r>
              <a:rPr lang="nl-NL" dirty="0"/>
              <a:t>De taalwijzigingen op de webpagina worden aangegeven.</a:t>
            </a:r>
          </a:p>
          <a:p>
            <a:pPr marL="0" indent="0">
              <a:lnSpc>
                <a:spcPct val="100000"/>
              </a:lnSpc>
              <a:buNone/>
            </a:pPr>
            <a:endParaRPr lang="nl-NL" dirty="0"/>
          </a:p>
          <a:p>
            <a:pPr marL="0" indent="0">
              <a:lnSpc>
                <a:spcPct val="100000"/>
              </a:lnSpc>
              <a:buNone/>
            </a:pPr>
            <a:r>
              <a:rPr lang="nl-NL" dirty="0"/>
              <a:t>Dit voorkomt dat schermlezer software tekst in een verkeerde taal voorleest.  </a:t>
            </a:r>
          </a:p>
          <a:p>
            <a:pPr>
              <a:lnSpc>
                <a:spcPct val="100000"/>
              </a:lnSpc>
            </a:pPr>
            <a:endParaRPr lang="nl-NL" dirty="0"/>
          </a:p>
          <a:p>
            <a:pPr marL="0" indent="0">
              <a:lnSpc>
                <a:spcPct val="100000"/>
              </a:lnSpc>
              <a:buNone/>
            </a:pPr>
            <a:r>
              <a:rPr lang="nl-NL" dirty="0"/>
              <a:t>Let op:</a:t>
            </a:r>
          </a:p>
          <a:p>
            <a:pPr>
              <a:lnSpc>
                <a:spcPct val="100000"/>
              </a:lnSpc>
            </a:pPr>
            <a:r>
              <a:rPr lang="nl-NL" dirty="0"/>
              <a:t>Menu-items, cookiemeldingen.</a:t>
            </a:r>
          </a:p>
          <a:p>
            <a:pPr>
              <a:lnSpc>
                <a:spcPct val="100000"/>
              </a:lnSpc>
            </a:pPr>
            <a:r>
              <a:rPr lang="nl-NL" dirty="0"/>
              <a:t>Tekstalternatieven van afbeeldingen.</a:t>
            </a:r>
          </a:p>
          <a:p>
            <a:pPr>
              <a:lnSpc>
                <a:spcPct val="100000"/>
              </a:lnSpc>
            </a:pPr>
            <a:r>
              <a:rPr lang="nl-NL" dirty="0"/>
              <a:t>Anderstalige teksten. </a:t>
            </a:r>
          </a:p>
        </p:txBody>
      </p:sp>
    </p:spTree>
    <p:extLst>
      <p:ext uri="{BB962C8B-B14F-4D97-AF65-F5344CB8AC3E}">
        <p14:creationId xmlns:p14="http://schemas.microsoft.com/office/powerpoint/2010/main" val="3992910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56262C-D9F8-2AE6-5F21-EDA30B0F586E}"/>
              </a:ext>
            </a:extLst>
          </p:cNvPr>
          <p:cNvSpPr>
            <a:spLocks noGrp="1"/>
          </p:cNvSpPr>
          <p:nvPr>
            <p:ph type="title"/>
          </p:nvPr>
        </p:nvSpPr>
        <p:spPr/>
        <p:txBody>
          <a:bodyPr/>
          <a:lstStyle/>
          <a:p>
            <a:r>
              <a:rPr lang="nl-NL" dirty="0"/>
              <a:t>Wat willen ze hiermee zeggen? </a:t>
            </a:r>
          </a:p>
        </p:txBody>
      </p:sp>
      <p:pic>
        <p:nvPicPr>
          <p:cNvPr id="4" name="What happens" descr="Opnamen van een Nederlandstalige tekst die wordt uitgesproken met een Engels accent.">
            <a:hlinkClick r:id="" action="ppaction://media"/>
            <a:extLst>
              <a:ext uri="{FF2B5EF4-FFF2-40B4-BE49-F238E27FC236}">
                <a16:creationId xmlns:a16="http://schemas.microsoft.com/office/drawing/2014/main" id="{D798E19A-FC88-3061-A63E-2F155B88DB7B}"/>
              </a:ext>
            </a:extLst>
          </p:cNvPr>
          <p:cNvPicPr>
            <a:picLocks noGrp="1" noChangeAspect="1"/>
          </p:cNvPicPr>
          <p:nvPr>
            <p:ph type="media" sz="quarter" idx="13"/>
            <a:audioFile r:link="rId2"/>
            <p:extLst>
              <p:ext uri="{DAA4B4D4-6D71-4841-9C94-3DE7FCFB9230}">
                <p14:media xmlns:p14="http://schemas.microsoft.com/office/powerpoint/2010/main" r:embed="rId1"/>
              </p:ext>
            </p:extLst>
          </p:nvPr>
        </p:nvPicPr>
        <p:blipFill>
          <a:blip r:embed="rId5"/>
          <a:stretch>
            <a:fillRect/>
          </a:stretch>
        </p:blipFill>
        <p:spPr>
          <a:xfrm>
            <a:off x="7032104" y="1911412"/>
            <a:ext cx="3035176" cy="3035176"/>
          </a:xfrm>
        </p:spPr>
      </p:pic>
    </p:spTree>
    <p:extLst>
      <p:ext uri="{BB962C8B-B14F-4D97-AF65-F5344CB8AC3E}">
        <p14:creationId xmlns:p14="http://schemas.microsoft.com/office/powerpoint/2010/main" val="411799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4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E1CB8-DE7F-BA47-B753-1307CA60027E}"/>
              </a:ext>
            </a:extLst>
          </p:cNvPr>
          <p:cNvSpPr>
            <a:spLocks noGrp="1"/>
          </p:cNvSpPr>
          <p:nvPr>
            <p:ph type="title"/>
          </p:nvPr>
        </p:nvSpPr>
        <p:spPr/>
        <p:txBody>
          <a:bodyPr/>
          <a:lstStyle/>
          <a:p>
            <a:r>
              <a:rPr lang="nl-NL"/>
              <a:t>Nu met de tekst…</a:t>
            </a:r>
          </a:p>
        </p:txBody>
      </p:sp>
      <p:sp>
        <p:nvSpPr>
          <p:cNvPr id="3" name="Tijdelijke aanduiding voor inhoud 2">
            <a:extLst>
              <a:ext uri="{FF2B5EF4-FFF2-40B4-BE49-F238E27FC236}">
                <a16:creationId xmlns:a16="http://schemas.microsoft.com/office/drawing/2014/main" id="{4BF155DD-21C6-E7F4-D1AC-F1262D79BA66}"/>
              </a:ext>
            </a:extLst>
          </p:cNvPr>
          <p:cNvSpPr>
            <a:spLocks noGrp="1"/>
          </p:cNvSpPr>
          <p:nvPr>
            <p:ph idx="1"/>
          </p:nvPr>
        </p:nvSpPr>
        <p:spPr>
          <a:xfrm>
            <a:off x="876300" y="2420887"/>
            <a:ext cx="10439400" cy="3527475"/>
          </a:xfrm>
        </p:spPr>
        <p:txBody>
          <a:bodyPr/>
          <a:lstStyle/>
          <a:p>
            <a:pPr marL="0" indent="0" algn="ctr">
              <a:buNone/>
            </a:pPr>
            <a:r>
              <a:rPr lang="nl-NL" noProof="0"/>
              <a:t>Door de stagnatie in de woningmarkt valt een aantal werkzaamheden en bijhorende financiële dekking tijdelijk weg. Het daaruit ontstane aanvullend tekort verzwaart de bezuinigingstaakstelling, bovenop de algemene taakstelling die de gemeente zichzelf al had opgelegd. </a:t>
            </a:r>
          </a:p>
        </p:txBody>
      </p:sp>
    </p:spTree>
    <p:extLst>
      <p:ext uri="{BB962C8B-B14F-4D97-AF65-F5344CB8AC3E}">
        <p14:creationId xmlns:p14="http://schemas.microsoft.com/office/powerpoint/2010/main" val="607076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7C5EC2-C8E5-61A1-CA4F-5DA8747ACF35}"/>
              </a:ext>
            </a:extLst>
          </p:cNvPr>
          <p:cNvSpPr>
            <a:spLocks noGrp="1"/>
          </p:cNvSpPr>
          <p:nvPr>
            <p:ph type="title"/>
          </p:nvPr>
        </p:nvSpPr>
        <p:spPr/>
        <p:txBody>
          <a:bodyPr/>
          <a:lstStyle/>
          <a:p>
            <a:r>
              <a:rPr lang="nl-NL" dirty="0"/>
              <a:t>Quick </a:t>
            </a:r>
            <a:r>
              <a:rPr lang="nl-NL"/>
              <a:t>wins</a:t>
            </a:r>
            <a:r>
              <a:rPr lang="nl-NL" dirty="0"/>
              <a:t> -</a:t>
            </a:r>
            <a:r>
              <a:rPr lang="nl-NL"/>
              <a:t> </a:t>
            </a:r>
            <a:r>
              <a:rPr lang="nl-NL" dirty="0"/>
              <a:t>samenvatting</a:t>
            </a:r>
          </a:p>
        </p:txBody>
      </p:sp>
      <p:sp>
        <p:nvSpPr>
          <p:cNvPr id="3" name="Tijdelijke aanduiding voor inhoud 2">
            <a:extLst>
              <a:ext uri="{FF2B5EF4-FFF2-40B4-BE49-F238E27FC236}">
                <a16:creationId xmlns:a16="http://schemas.microsoft.com/office/drawing/2014/main" id="{D09680D8-A020-D08F-B72C-AF7AB8DB942F}"/>
              </a:ext>
            </a:extLst>
          </p:cNvPr>
          <p:cNvSpPr>
            <a:spLocks noGrp="1"/>
          </p:cNvSpPr>
          <p:nvPr>
            <p:ph idx="1"/>
          </p:nvPr>
        </p:nvSpPr>
        <p:spPr/>
        <p:txBody>
          <a:bodyPr/>
          <a:lstStyle/>
          <a:p>
            <a:pPr>
              <a:lnSpc>
                <a:spcPct val="100000"/>
              </a:lnSpc>
            </a:pPr>
            <a:r>
              <a:rPr lang="nl-NL" dirty="0"/>
              <a:t>Kopstructuur</a:t>
            </a:r>
          </a:p>
          <a:p>
            <a:pPr>
              <a:lnSpc>
                <a:spcPct val="100000"/>
              </a:lnSpc>
            </a:pPr>
            <a:r>
              <a:rPr lang="nl-NL" dirty="0"/>
              <a:t>Naam, rol en waarde</a:t>
            </a:r>
          </a:p>
          <a:p>
            <a:pPr>
              <a:lnSpc>
                <a:spcPct val="100000"/>
              </a:lnSpc>
            </a:pPr>
            <a:r>
              <a:rPr lang="nl-NL" dirty="0"/>
              <a:t>Kleurcontrast</a:t>
            </a:r>
          </a:p>
          <a:p>
            <a:pPr>
              <a:lnSpc>
                <a:spcPct val="100000"/>
              </a:lnSpc>
            </a:pPr>
            <a:r>
              <a:rPr lang="nl-NL" dirty="0"/>
              <a:t>Alternatieve teksten</a:t>
            </a:r>
          </a:p>
          <a:p>
            <a:pPr>
              <a:lnSpc>
                <a:spcPct val="100000"/>
              </a:lnSpc>
            </a:pPr>
            <a:r>
              <a:rPr lang="nl-NL" dirty="0"/>
              <a:t>Focus </a:t>
            </a:r>
          </a:p>
          <a:p>
            <a:pPr>
              <a:lnSpc>
                <a:spcPct val="100000"/>
              </a:lnSpc>
            </a:pPr>
            <a:r>
              <a:rPr lang="nl-NL" dirty="0"/>
              <a:t>Formulieren en foutmeldingen</a:t>
            </a:r>
          </a:p>
          <a:p>
            <a:pPr>
              <a:lnSpc>
                <a:spcPct val="100000"/>
              </a:lnSpc>
            </a:pPr>
            <a:r>
              <a:rPr lang="nl-NL" dirty="0"/>
              <a:t>Taal</a:t>
            </a:r>
          </a:p>
        </p:txBody>
      </p:sp>
    </p:spTree>
    <p:extLst>
      <p:ext uri="{BB962C8B-B14F-4D97-AF65-F5344CB8AC3E}">
        <p14:creationId xmlns:p14="http://schemas.microsoft.com/office/powerpoint/2010/main" val="911122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D617BD-CC29-7C16-85B8-0D023C27631D}"/>
              </a:ext>
            </a:extLst>
          </p:cNvPr>
          <p:cNvSpPr>
            <a:spLocks noGrp="1"/>
          </p:cNvSpPr>
          <p:nvPr>
            <p:ph type="title"/>
          </p:nvPr>
        </p:nvSpPr>
        <p:spPr>
          <a:xfrm>
            <a:off x="983432" y="2933700"/>
            <a:ext cx="4860924" cy="990600"/>
          </a:xfrm>
        </p:spPr>
        <p:txBody>
          <a:bodyPr/>
          <a:lstStyle/>
          <a:p>
            <a:r>
              <a:rPr lang="nl-NL" dirty="0"/>
              <a:t>Tools</a:t>
            </a:r>
          </a:p>
        </p:txBody>
      </p:sp>
    </p:spTree>
    <p:extLst>
      <p:ext uri="{BB962C8B-B14F-4D97-AF65-F5344CB8AC3E}">
        <p14:creationId xmlns:p14="http://schemas.microsoft.com/office/powerpoint/2010/main" val="653435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279385-AFE6-339B-B2B3-DA1E5829A9D3}"/>
              </a:ext>
            </a:extLst>
          </p:cNvPr>
          <p:cNvSpPr>
            <a:spLocks noGrp="1"/>
          </p:cNvSpPr>
          <p:nvPr>
            <p:ph type="title"/>
          </p:nvPr>
        </p:nvSpPr>
        <p:spPr/>
        <p:txBody>
          <a:bodyPr/>
          <a:lstStyle/>
          <a:p>
            <a:r>
              <a:rPr lang="nl-NL"/>
              <a:t>Geautomatiseerde toegankelijkheidstesten</a:t>
            </a:r>
          </a:p>
        </p:txBody>
      </p:sp>
      <p:sp>
        <p:nvSpPr>
          <p:cNvPr id="3" name="Tijdelijke aanduiding voor inhoud 2">
            <a:extLst>
              <a:ext uri="{FF2B5EF4-FFF2-40B4-BE49-F238E27FC236}">
                <a16:creationId xmlns:a16="http://schemas.microsoft.com/office/drawing/2014/main" id="{D9CC6E4E-9446-AE7A-29F4-DF1DAC86F807}"/>
              </a:ext>
            </a:extLst>
          </p:cNvPr>
          <p:cNvSpPr>
            <a:spLocks noGrp="1"/>
          </p:cNvSpPr>
          <p:nvPr>
            <p:ph idx="1"/>
          </p:nvPr>
        </p:nvSpPr>
        <p:spPr/>
        <p:txBody>
          <a:bodyPr vert="horz" lIns="0" tIns="0" rIns="0" bIns="0" rtlCol="0" anchor="t">
            <a:noAutofit/>
          </a:bodyPr>
          <a:lstStyle/>
          <a:p>
            <a:r>
              <a:rPr lang="nl-NL"/>
              <a:t>Verschillende tools: </a:t>
            </a:r>
          </a:p>
          <a:p>
            <a:pPr lvl="1"/>
            <a:r>
              <a:rPr lang="nl-NL"/>
              <a:t>Wave</a:t>
            </a:r>
          </a:p>
          <a:p>
            <a:pPr marL="467995" lvl="1"/>
            <a:r>
              <a:rPr lang="nl-NL" err="1"/>
              <a:t>Axe</a:t>
            </a:r>
            <a:endParaRPr lang="nl-NL">
              <a:ea typeface="Verdana"/>
            </a:endParaRPr>
          </a:p>
          <a:p>
            <a:pPr marL="467995" lvl="1"/>
            <a:r>
              <a:rPr lang="nl-NL" err="1"/>
              <a:t>Lighthouse</a:t>
            </a:r>
            <a:r>
              <a:rPr lang="nl-NL"/>
              <a:t> (Chrome </a:t>
            </a:r>
            <a:r>
              <a:rPr lang="nl-NL" err="1"/>
              <a:t>devtools</a:t>
            </a:r>
            <a:r>
              <a:rPr lang="nl-NL"/>
              <a:t>)</a:t>
            </a:r>
            <a:endParaRPr lang="nl-NL">
              <a:ea typeface="Verdana"/>
            </a:endParaRPr>
          </a:p>
          <a:p>
            <a:pPr lvl="1"/>
            <a:endParaRPr lang="nl-NL"/>
          </a:p>
          <a:p>
            <a:pPr marL="239395" lvl="1" indent="0">
              <a:buNone/>
            </a:pPr>
            <a:r>
              <a:rPr lang="nl-NL"/>
              <a:t>Belangrijk: dit vindt niet alles!</a:t>
            </a:r>
            <a:endParaRPr lang="nl-NL">
              <a:ea typeface="Verdana"/>
            </a:endParaRPr>
          </a:p>
          <a:p>
            <a:pPr lvl="1"/>
            <a:r>
              <a:rPr lang="nl-NL"/>
              <a:t>10-20% van de toegankelijkheidsproblemen kan worden gevonden met geautomatiseerde tests. </a:t>
            </a:r>
          </a:p>
          <a:p>
            <a:pPr lvl="1"/>
            <a:r>
              <a:rPr lang="nl-NL"/>
              <a:t>Veel hang af van de context.</a:t>
            </a:r>
          </a:p>
          <a:p>
            <a:pPr lvl="1"/>
            <a:r>
              <a:rPr lang="nl-NL"/>
              <a:t>Alternatieven voor inhoud of functionaliteit zijn ook een mogelijkheid. </a:t>
            </a:r>
          </a:p>
        </p:txBody>
      </p:sp>
    </p:spTree>
    <p:extLst>
      <p:ext uri="{BB962C8B-B14F-4D97-AF65-F5344CB8AC3E}">
        <p14:creationId xmlns:p14="http://schemas.microsoft.com/office/powerpoint/2010/main" val="1562075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360652-BB7E-B860-6AD2-C183663BD676}"/>
              </a:ext>
            </a:extLst>
          </p:cNvPr>
          <p:cNvSpPr>
            <a:spLocks noGrp="1"/>
          </p:cNvSpPr>
          <p:nvPr>
            <p:ph type="title"/>
          </p:nvPr>
        </p:nvSpPr>
        <p:spPr/>
        <p:txBody>
          <a:bodyPr/>
          <a:lstStyle/>
          <a:p>
            <a:r>
              <a:rPr lang="nl-NL" noProof="0" dirty="0"/>
              <a:t>Testwebsite – </a:t>
            </a:r>
            <a:r>
              <a:rPr lang="nl-NL" dirty="0"/>
              <a:t>toetsenbord en NVDA</a:t>
            </a:r>
            <a:endParaRPr lang="nl-NL" noProof="0" dirty="0"/>
          </a:p>
        </p:txBody>
      </p:sp>
      <p:sp>
        <p:nvSpPr>
          <p:cNvPr id="3" name="Tijdelijke aanduiding voor inhoud 2">
            <a:extLst>
              <a:ext uri="{FF2B5EF4-FFF2-40B4-BE49-F238E27FC236}">
                <a16:creationId xmlns:a16="http://schemas.microsoft.com/office/drawing/2014/main" id="{DA74DBD6-A4D0-7402-A8CA-260BE70AE844}"/>
              </a:ext>
            </a:extLst>
          </p:cNvPr>
          <p:cNvSpPr>
            <a:spLocks noGrp="1"/>
          </p:cNvSpPr>
          <p:nvPr>
            <p:ph sz="half" idx="1"/>
          </p:nvPr>
        </p:nvSpPr>
        <p:spPr>
          <a:xfrm>
            <a:off x="876300" y="1628775"/>
            <a:ext cx="7235924" cy="4319588"/>
          </a:xfrm>
        </p:spPr>
        <p:txBody>
          <a:bodyPr vert="horz" lIns="0" tIns="0" rIns="0" bIns="0" rtlCol="0" anchor="t">
            <a:noAutofit/>
          </a:bodyPr>
          <a:lstStyle/>
          <a:p>
            <a:pPr marL="0" indent="0">
              <a:buNone/>
            </a:pPr>
            <a:r>
              <a:rPr lang="nl-NL" noProof="0" dirty="0"/>
              <a:t>Probeer alleen een toetsenbord te gebruiken.</a:t>
            </a:r>
          </a:p>
          <a:p>
            <a:r>
              <a:rPr lang="nl-NL" noProof="0" dirty="0"/>
              <a:t>Kun je alle interactieve elementen bedienen?</a:t>
            </a:r>
          </a:p>
          <a:p>
            <a:r>
              <a:rPr lang="nl-NL" noProof="0" dirty="0"/>
              <a:t>Is de focusindicator zichtbaar?</a:t>
            </a:r>
          </a:p>
          <a:p>
            <a:r>
              <a:rPr lang="nl-NL" noProof="0" dirty="0"/>
              <a:t>Is alles in een logische volgorde?</a:t>
            </a:r>
          </a:p>
          <a:p>
            <a:endParaRPr lang="nl-NL" noProof="0" dirty="0"/>
          </a:p>
          <a:p>
            <a:pPr marL="0" indent="0">
              <a:buNone/>
            </a:pPr>
            <a:r>
              <a:rPr lang="nl-NL" noProof="0" dirty="0"/>
              <a:t>Test jouw website met een schermlezer</a:t>
            </a:r>
          </a:p>
          <a:p>
            <a:r>
              <a:rPr lang="nl-NL" dirty="0" err="1"/>
              <a:t>VoiceOver</a:t>
            </a:r>
            <a:r>
              <a:rPr lang="nl-NL" noProof="0" dirty="0"/>
              <a:t>, NVDA</a:t>
            </a:r>
            <a:endParaRPr lang="nl-NL" noProof="0" dirty="0">
              <a:ea typeface="Verdana"/>
            </a:endParaRPr>
          </a:p>
          <a:p>
            <a:r>
              <a:rPr lang="nl-NL" noProof="0" dirty="0"/>
              <a:t>Worden alle informatieve afbeeldingen en pictogrammen goed voorgelezen? </a:t>
            </a:r>
          </a:p>
          <a:p>
            <a:pPr marL="0" indent="0">
              <a:buNone/>
            </a:pPr>
            <a:r>
              <a:rPr lang="nl-NL" noProof="0" dirty="0">
                <a:hlinkClick r:id="rId3"/>
              </a:rPr>
              <a:t>https://www.w3.org/WAI/ER/tools/</a:t>
            </a:r>
            <a:endParaRPr lang="nl-NL" noProof="0" dirty="0"/>
          </a:p>
          <a:p>
            <a:pPr marL="0" indent="0">
              <a:buNone/>
            </a:pPr>
            <a:endParaRPr lang="nl-NL" noProof="0" dirty="0"/>
          </a:p>
          <a:p>
            <a:pPr marL="0" indent="0">
              <a:buNone/>
            </a:pPr>
            <a:endParaRPr lang="nl-NL" noProof="0" dirty="0"/>
          </a:p>
        </p:txBody>
      </p:sp>
      <p:pic>
        <p:nvPicPr>
          <p:cNvPr id="6" name="Tijdelijke aanduiding voor inhoud 5">
            <a:extLst>
              <a:ext uri="{FF2B5EF4-FFF2-40B4-BE49-F238E27FC236}">
                <a16:creationId xmlns:a16="http://schemas.microsoft.com/office/drawing/2014/main" id="{02D8DDEE-CDC2-10DA-5280-BE7995CF8CB3}"/>
              </a:ext>
              <a:ext uri="{C183D7F6-B498-43B3-948B-1728B52AA6E4}">
                <adec:decorative xmlns:adec="http://schemas.microsoft.com/office/drawing/2017/decorative" val="1"/>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a:stretch>
            <a:fillRect/>
          </a:stretch>
        </p:blipFill>
        <p:spPr>
          <a:xfrm>
            <a:off x="8307321" y="2204865"/>
            <a:ext cx="3325502" cy="2910600"/>
          </a:xfrm>
        </p:spPr>
      </p:pic>
    </p:spTree>
    <p:extLst>
      <p:ext uri="{BB962C8B-B14F-4D97-AF65-F5344CB8AC3E}">
        <p14:creationId xmlns:p14="http://schemas.microsoft.com/office/powerpoint/2010/main" val="2132511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9541A3-7C0F-6D4B-C268-CF1B98A0AA7D}"/>
              </a:ext>
            </a:extLst>
          </p:cNvPr>
          <p:cNvSpPr>
            <a:spLocks noGrp="1"/>
          </p:cNvSpPr>
          <p:nvPr>
            <p:ph type="title"/>
          </p:nvPr>
        </p:nvSpPr>
        <p:spPr/>
        <p:txBody>
          <a:bodyPr/>
          <a:lstStyle/>
          <a:p>
            <a:r>
              <a:rPr lang="nl-NL" dirty="0"/>
              <a:t>Testwebsite - </a:t>
            </a:r>
            <a:r>
              <a:rPr lang="nl-NL" dirty="0" err="1"/>
              <a:t>add-ons</a:t>
            </a:r>
            <a:r>
              <a:rPr lang="nl-NL" dirty="0"/>
              <a:t>/plug-ins </a:t>
            </a:r>
          </a:p>
        </p:txBody>
      </p:sp>
      <p:sp>
        <p:nvSpPr>
          <p:cNvPr id="3" name="Tijdelijke aanduiding voor inhoud 2">
            <a:extLst>
              <a:ext uri="{FF2B5EF4-FFF2-40B4-BE49-F238E27FC236}">
                <a16:creationId xmlns:a16="http://schemas.microsoft.com/office/drawing/2014/main" id="{5082BC81-D18B-1808-923D-3BAB848161D6}"/>
              </a:ext>
            </a:extLst>
          </p:cNvPr>
          <p:cNvSpPr>
            <a:spLocks noGrp="1"/>
          </p:cNvSpPr>
          <p:nvPr>
            <p:ph idx="1"/>
          </p:nvPr>
        </p:nvSpPr>
        <p:spPr/>
        <p:txBody>
          <a:bodyPr vert="horz" lIns="0" tIns="0" rIns="0" bIns="0" rtlCol="0" anchor="t">
            <a:noAutofit/>
          </a:bodyPr>
          <a:lstStyle/>
          <a:p>
            <a:pPr marL="229870" indent="-229870">
              <a:lnSpc>
                <a:spcPct val="150000"/>
              </a:lnSpc>
            </a:pPr>
            <a:r>
              <a:rPr lang="nl-NL" dirty="0" err="1"/>
              <a:t>HeadingsMap</a:t>
            </a:r>
            <a:endParaRPr lang="nl-NL" dirty="0">
              <a:ea typeface="Verdana"/>
            </a:endParaRPr>
          </a:p>
          <a:p>
            <a:pPr>
              <a:lnSpc>
                <a:spcPct val="150000"/>
              </a:lnSpc>
            </a:pPr>
            <a:r>
              <a:rPr lang="nl-NL" dirty="0"/>
              <a:t>WCAG Colour contrast checker</a:t>
            </a:r>
          </a:p>
          <a:p>
            <a:pPr marL="229870" indent="-229870">
              <a:lnSpc>
                <a:spcPct val="150000"/>
              </a:lnSpc>
            </a:pPr>
            <a:r>
              <a:rPr lang="nl-NL" dirty="0"/>
              <a:t>Web Developer </a:t>
            </a:r>
            <a:r>
              <a:rPr lang="nl-NL" dirty="0" err="1"/>
              <a:t>toolbar</a:t>
            </a:r>
            <a:endParaRPr lang="nl-NL" dirty="0">
              <a:ea typeface="Verdana"/>
            </a:endParaRPr>
          </a:p>
          <a:p>
            <a:pPr marL="229870" indent="-229870">
              <a:lnSpc>
                <a:spcPct val="150000"/>
              </a:lnSpc>
            </a:pPr>
            <a:r>
              <a:rPr lang="nl-NL" dirty="0" err="1"/>
              <a:t>Axe</a:t>
            </a:r>
            <a:r>
              <a:rPr lang="nl-NL" dirty="0"/>
              <a:t> </a:t>
            </a:r>
            <a:r>
              <a:rPr lang="nl-NL" dirty="0" err="1"/>
              <a:t>developer</a:t>
            </a:r>
            <a:r>
              <a:rPr lang="nl-NL" dirty="0"/>
              <a:t> tools </a:t>
            </a:r>
            <a:endParaRPr lang="nl-NL" dirty="0">
              <a:ea typeface="Verdana"/>
            </a:endParaRPr>
          </a:p>
          <a:p>
            <a:pPr>
              <a:lnSpc>
                <a:spcPct val="150000"/>
              </a:lnSpc>
            </a:pPr>
            <a:r>
              <a:rPr lang="nl-NL" dirty="0"/>
              <a:t>WAVE</a:t>
            </a:r>
          </a:p>
        </p:txBody>
      </p:sp>
    </p:spTree>
    <p:extLst>
      <p:ext uri="{BB962C8B-B14F-4D97-AF65-F5344CB8AC3E}">
        <p14:creationId xmlns:p14="http://schemas.microsoft.com/office/powerpoint/2010/main" val="3108207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D617BD-CC29-7C16-85B8-0D023C27631D}"/>
              </a:ext>
            </a:extLst>
          </p:cNvPr>
          <p:cNvSpPr>
            <a:spLocks noGrp="1"/>
          </p:cNvSpPr>
          <p:nvPr>
            <p:ph type="title"/>
          </p:nvPr>
        </p:nvSpPr>
        <p:spPr>
          <a:xfrm>
            <a:off x="983432" y="2933700"/>
            <a:ext cx="4860924" cy="990600"/>
          </a:xfrm>
        </p:spPr>
        <p:txBody>
          <a:bodyPr/>
          <a:lstStyle/>
          <a:p>
            <a:r>
              <a:rPr lang="nl-NL" dirty="0" err="1"/>
              <a:t>JavaScript</a:t>
            </a:r>
            <a:r>
              <a:rPr lang="nl-NL" dirty="0"/>
              <a:t> en WAI-ARIA</a:t>
            </a:r>
            <a:br>
              <a:rPr lang="nl-NL" dirty="0"/>
            </a:br>
            <a:r>
              <a:rPr lang="nl-NL" sz="3600" dirty="0"/>
              <a:t>Op maat gemaakte componenten</a:t>
            </a:r>
            <a:br>
              <a:rPr lang="nl-NL" sz="3600" dirty="0"/>
            </a:br>
            <a:endParaRPr lang="nl-NL" dirty="0"/>
          </a:p>
        </p:txBody>
      </p:sp>
    </p:spTree>
    <p:extLst>
      <p:ext uri="{BB962C8B-B14F-4D97-AF65-F5344CB8AC3E}">
        <p14:creationId xmlns:p14="http://schemas.microsoft.com/office/powerpoint/2010/main" val="2548452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624449-441C-8525-B59D-3990CEE9206D}"/>
              </a:ext>
            </a:extLst>
          </p:cNvPr>
          <p:cNvSpPr>
            <a:spLocks noGrp="1"/>
          </p:cNvSpPr>
          <p:nvPr>
            <p:ph type="title"/>
          </p:nvPr>
        </p:nvSpPr>
        <p:spPr/>
        <p:txBody>
          <a:bodyPr/>
          <a:lstStyle/>
          <a:p>
            <a:r>
              <a:rPr lang="nl-NL"/>
              <a:t>Javascript</a:t>
            </a:r>
          </a:p>
        </p:txBody>
      </p:sp>
      <p:sp>
        <p:nvSpPr>
          <p:cNvPr id="3" name="Tijdelijke aanduiding voor inhoud 2">
            <a:extLst>
              <a:ext uri="{FF2B5EF4-FFF2-40B4-BE49-F238E27FC236}">
                <a16:creationId xmlns:a16="http://schemas.microsoft.com/office/drawing/2014/main" id="{560EAB93-A5A4-FE19-C84A-4706BD5DCA4B}"/>
              </a:ext>
            </a:extLst>
          </p:cNvPr>
          <p:cNvSpPr>
            <a:spLocks noGrp="1"/>
          </p:cNvSpPr>
          <p:nvPr>
            <p:ph sz="half" idx="1"/>
          </p:nvPr>
        </p:nvSpPr>
        <p:spPr>
          <a:xfrm>
            <a:off x="911424" y="1844824"/>
            <a:ext cx="8316044" cy="4103390"/>
          </a:xfrm>
        </p:spPr>
        <p:txBody>
          <a:bodyPr vert="horz" lIns="0" tIns="0" rIns="0" bIns="0" rtlCol="0" anchor="t">
            <a:noAutofit/>
          </a:bodyPr>
          <a:lstStyle/>
          <a:p>
            <a:pPr>
              <a:lnSpc>
                <a:spcPct val="150000"/>
              </a:lnSpc>
            </a:pPr>
            <a:r>
              <a:rPr lang="nl-NL" dirty="0"/>
              <a:t>WCAG 1.0: alles moet werken zonder </a:t>
            </a:r>
            <a:r>
              <a:rPr lang="nl-NL" dirty="0" err="1"/>
              <a:t>JavaScript</a:t>
            </a:r>
            <a:r>
              <a:rPr lang="nl-NL" dirty="0"/>
              <a:t>.</a:t>
            </a:r>
          </a:p>
          <a:p>
            <a:pPr>
              <a:lnSpc>
                <a:spcPct val="150000"/>
              </a:lnSpc>
            </a:pPr>
            <a:r>
              <a:rPr lang="nl-NL" dirty="0"/>
              <a:t>WCAG 2.0: Alles kan werken met </a:t>
            </a:r>
            <a:r>
              <a:rPr lang="nl-NL" dirty="0" err="1"/>
              <a:t>JavaScript</a:t>
            </a:r>
            <a:r>
              <a:rPr lang="nl-NL" dirty="0"/>
              <a:t>. </a:t>
            </a:r>
            <a:r>
              <a:rPr lang="nl-NL" dirty="0" err="1"/>
              <a:t>JavaScript</a:t>
            </a:r>
            <a:r>
              <a:rPr lang="nl-NL" dirty="0"/>
              <a:t> kan de toegankelijkheid vergroten, mits het op een toegankelijke manier wordt geïmplementeerd. </a:t>
            </a:r>
          </a:p>
        </p:txBody>
      </p:sp>
      <p:pic>
        <p:nvPicPr>
          <p:cNvPr id="6" name="Tijdelijke aanduiding voor inhoud 5">
            <a:extLst>
              <a:ext uri="{FF2B5EF4-FFF2-40B4-BE49-F238E27FC236}">
                <a16:creationId xmlns:a16="http://schemas.microsoft.com/office/drawing/2014/main" id="{AA0B966A-4928-56D6-6581-359CFEDD54FB}"/>
              </a:ext>
              <a:ext uri="{C183D7F6-B498-43B3-948B-1728B52AA6E4}">
                <adec:decorative xmlns:adec="http://schemas.microsoft.com/office/drawing/2017/decorative" val="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840416" y="2042021"/>
            <a:ext cx="1272376" cy="1746399"/>
          </a:xfrm>
        </p:spPr>
      </p:pic>
    </p:spTree>
    <p:extLst>
      <p:ext uri="{BB962C8B-B14F-4D97-AF65-F5344CB8AC3E}">
        <p14:creationId xmlns:p14="http://schemas.microsoft.com/office/powerpoint/2010/main" val="3307659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BCB543-F196-260B-959E-747140FA5E8B}"/>
              </a:ext>
            </a:extLst>
          </p:cNvPr>
          <p:cNvSpPr>
            <a:spLocks noGrp="1"/>
          </p:cNvSpPr>
          <p:nvPr>
            <p:ph type="title"/>
          </p:nvPr>
        </p:nvSpPr>
        <p:spPr/>
        <p:txBody>
          <a:bodyPr/>
          <a:lstStyle/>
          <a:p>
            <a:r>
              <a:rPr lang="nl-NL"/>
              <a:t>WAI-ARIA</a:t>
            </a:r>
          </a:p>
        </p:txBody>
      </p:sp>
      <p:sp>
        <p:nvSpPr>
          <p:cNvPr id="3" name="Tijdelijke aanduiding voor inhoud 2">
            <a:extLst>
              <a:ext uri="{FF2B5EF4-FFF2-40B4-BE49-F238E27FC236}">
                <a16:creationId xmlns:a16="http://schemas.microsoft.com/office/drawing/2014/main" id="{0B81F635-EF30-F932-E369-BA72ACCA489D}"/>
              </a:ext>
            </a:extLst>
          </p:cNvPr>
          <p:cNvSpPr>
            <a:spLocks noGrp="1"/>
          </p:cNvSpPr>
          <p:nvPr>
            <p:ph idx="1"/>
          </p:nvPr>
        </p:nvSpPr>
        <p:spPr/>
        <p:txBody>
          <a:bodyPr/>
          <a:lstStyle/>
          <a:p>
            <a:pPr marL="0" indent="0">
              <a:lnSpc>
                <a:spcPct val="150000"/>
              </a:lnSpc>
              <a:buNone/>
            </a:pPr>
            <a:r>
              <a:rPr lang="nl-NL" dirty="0"/>
              <a:t>Web Accessibility </a:t>
            </a:r>
            <a:r>
              <a:rPr lang="nl-NL" dirty="0" err="1"/>
              <a:t>Initiative</a:t>
            </a:r>
            <a:r>
              <a:rPr lang="nl-NL" dirty="0"/>
              <a:t> – </a:t>
            </a:r>
            <a:r>
              <a:rPr lang="nl-NL" dirty="0" err="1"/>
              <a:t>Accessible</a:t>
            </a:r>
            <a:r>
              <a:rPr lang="nl-NL" dirty="0"/>
              <a:t> </a:t>
            </a:r>
            <a:r>
              <a:rPr lang="nl-NL" dirty="0" err="1"/>
              <a:t>Rich</a:t>
            </a:r>
            <a:r>
              <a:rPr lang="nl-NL" dirty="0"/>
              <a:t> Internet Applications  - Toegankelijke rijke internettoepassingen. </a:t>
            </a:r>
          </a:p>
          <a:p>
            <a:pPr>
              <a:lnSpc>
                <a:spcPct val="150000"/>
              </a:lnSpc>
            </a:pPr>
            <a:r>
              <a:rPr lang="nl-NL" dirty="0"/>
              <a:t>Extra attributen voor HTML-elementen. </a:t>
            </a:r>
          </a:p>
          <a:p>
            <a:pPr>
              <a:lnSpc>
                <a:spcPct val="150000"/>
              </a:lnSpc>
            </a:pPr>
            <a:r>
              <a:rPr lang="nl-NL" dirty="0"/>
              <a:t>De rol van een element wijzigen. </a:t>
            </a:r>
          </a:p>
          <a:p>
            <a:pPr>
              <a:lnSpc>
                <a:spcPct val="150000"/>
              </a:lnSpc>
            </a:pPr>
            <a:endParaRPr lang="nl-NL" dirty="0"/>
          </a:p>
          <a:p>
            <a:pPr marL="0" indent="0">
              <a:lnSpc>
                <a:spcPct val="150000"/>
              </a:lnSpc>
              <a:buNone/>
            </a:pPr>
            <a:r>
              <a:rPr lang="nl-NL" dirty="0"/>
              <a:t>Let op: dit biedt alleen </a:t>
            </a:r>
            <a:r>
              <a:rPr lang="nl-NL" b="1" dirty="0"/>
              <a:t>informatie</a:t>
            </a:r>
            <a:r>
              <a:rPr lang="nl-NL" dirty="0"/>
              <a:t>, geen </a:t>
            </a:r>
            <a:r>
              <a:rPr lang="nl-NL" b="1" dirty="0"/>
              <a:t>functionaliteit</a:t>
            </a:r>
            <a:r>
              <a:rPr lang="nl-NL" dirty="0"/>
              <a:t>.  </a:t>
            </a:r>
          </a:p>
        </p:txBody>
      </p:sp>
    </p:spTree>
    <p:extLst>
      <p:ext uri="{BB962C8B-B14F-4D97-AF65-F5344CB8AC3E}">
        <p14:creationId xmlns:p14="http://schemas.microsoft.com/office/powerpoint/2010/main" val="3849105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E7B695-3BB7-D81D-BB9A-153A77320182}"/>
              </a:ext>
            </a:extLst>
          </p:cNvPr>
          <p:cNvSpPr>
            <a:spLocks noGrp="1"/>
          </p:cNvSpPr>
          <p:nvPr>
            <p:ph type="title"/>
          </p:nvPr>
        </p:nvSpPr>
        <p:spPr/>
        <p:txBody>
          <a:bodyPr/>
          <a:lstStyle/>
          <a:p>
            <a:r>
              <a:rPr lang="nl-NL" noProof="0" dirty="0"/>
              <a:t>Eerste regel van WAI-ARIA</a:t>
            </a:r>
          </a:p>
        </p:txBody>
      </p:sp>
      <p:sp>
        <p:nvSpPr>
          <p:cNvPr id="3" name="Tijdelijke aanduiding voor inhoud 2">
            <a:extLst>
              <a:ext uri="{FF2B5EF4-FFF2-40B4-BE49-F238E27FC236}">
                <a16:creationId xmlns:a16="http://schemas.microsoft.com/office/drawing/2014/main" id="{0E83BC27-56D0-4CE8-6D70-316C3C230687}"/>
              </a:ext>
            </a:extLst>
          </p:cNvPr>
          <p:cNvSpPr>
            <a:spLocks noGrp="1"/>
          </p:cNvSpPr>
          <p:nvPr>
            <p:ph idx="1"/>
          </p:nvPr>
        </p:nvSpPr>
        <p:spPr/>
        <p:txBody>
          <a:bodyPr/>
          <a:lstStyle/>
          <a:p>
            <a:pPr marL="0" indent="0">
              <a:lnSpc>
                <a:spcPct val="150000"/>
              </a:lnSpc>
              <a:buNone/>
            </a:pPr>
            <a:r>
              <a:rPr lang="nl-NL" noProof="0" dirty="0"/>
              <a:t>Als je een native HTML-element of –attribuut kunt gebruiken met de semantiek en het gedrag die je nodig hebt al ingebouwd, in plaats van een element te hergebruiken en een ARIA-rol, status of –eigenschap toe te voegen om het toegankelijk te maken, doe dat.</a:t>
            </a:r>
          </a:p>
          <a:p>
            <a:pPr marL="0" indent="0">
              <a:lnSpc>
                <a:spcPct val="150000"/>
              </a:lnSpc>
              <a:buNone/>
            </a:pPr>
            <a:endParaRPr lang="nl-NL" noProof="0" dirty="0"/>
          </a:p>
          <a:p>
            <a:pPr marL="0" indent="0">
              <a:lnSpc>
                <a:spcPct val="150000"/>
              </a:lnSpc>
              <a:buNone/>
            </a:pPr>
            <a:r>
              <a:rPr lang="nl-NL" noProof="0" dirty="0">
                <a:hlinkClick r:id="rId3"/>
              </a:rPr>
              <a:t>www.w3.org/TR/aria-in-hml/#firstrule</a:t>
            </a:r>
            <a:r>
              <a:rPr lang="nl-NL" noProof="0" dirty="0"/>
              <a:t>  </a:t>
            </a:r>
          </a:p>
        </p:txBody>
      </p:sp>
    </p:spTree>
    <p:extLst>
      <p:ext uri="{BB962C8B-B14F-4D97-AF65-F5344CB8AC3E}">
        <p14:creationId xmlns:p14="http://schemas.microsoft.com/office/powerpoint/2010/main" val="611607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7AC2EB-AC44-1817-002D-C4CD0A7D0352}"/>
              </a:ext>
            </a:extLst>
          </p:cNvPr>
          <p:cNvSpPr>
            <a:spLocks noGrp="1"/>
          </p:cNvSpPr>
          <p:nvPr>
            <p:ph type="title"/>
          </p:nvPr>
        </p:nvSpPr>
        <p:spPr>
          <a:xfrm>
            <a:off x="695325" y="368300"/>
            <a:ext cx="10801350" cy="972468"/>
          </a:xfrm>
        </p:spPr>
        <p:txBody>
          <a:bodyPr/>
          <a:lstStyle/>
          <a:p>
            <a:r>
              <a:rPr lang="nl-NL" sz="4800"/>
              <a:t>Laatste vraag: </a:t>
            </a:r>
          </a:p>
        </p:txBody>
      </p:sp>
      <p:sp>
        <p:nvSpPr>
          <p:cNvPr id="3" name="Tijdelijke aanduiding voor inhoud 2">
            <a:extLst>
              <a:ext uri="{FF2B5EF4-FFF2-40B4-BE49-F238E27FC236}">
                <a16:creationId xmlns:a16="http://schemas.microsoft.com/office/drawing/2014/main" id="{C9E83D65-380A-C8AC-4834-CE5FA11516EE}"/>
              </a:ext>
            </a:extLst>
          </p:cNvPr>
          <p:cNvSpPr>
            <a:spLocks noGrp="1"/>
          </p:cNvSpPr>
          <p:nvPr>
            <p:ph idx="1"/>
          </p:nvPr>
        </p:nvSpPr>
        <p:spPr>
          <a:xfrm>
            <a:off x="876300" y="2420888"/>
            <a:ext cx="10439400" cy="3527474"/>
          </a:xfrm>
        </p:spPr>
        <p:txBody>
          <a:bodyPr/>
          <a:lstStyle/>
          <a:p>
            <a:pPr marL="0" indent="0">
              <a:buNone/>
            </a:pPr>
            <a:r>
              <a:rPr lang="nl-NL" sz="3200"/>
              <a:t>Wat is het eerste dat jullie morgen anders gaan doen?</a:t>
            </a:r>
          </a:p>
        </p:txBody>
      </p:sp>
    </p:spTree>
    <p:extLst>
      <p:ext uri="{BB962C8B-B14F-4D97-AF65-F5344CB8AC3E}">
        <p14:creationId xmlns:p14="http://schemas.microsoft.com/office/powerpoint/2010/main" val="2505350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90997F-0435-37A4-BDAB-32FAC28A8BCA}"/>
              </a:ext>
            </a:extLst>
          </p:cNvPr>
          <p:cNvSpPr>
            <a:spLocks noGrp="1"/>
          </p:cNvSpPr>
          <p:nvPr>
            <p:ph type="title"/>
          </p:nvPr>
        </p:nvSpPr>
        <p:spPr>
          <a:xfrm>
            <a:off x="695325" y="368300"/>
            <a:ext cx="10801350" cy="990600"/>
          </a:xfrm>
        </p:spPr>
        <p:txBody>
          <a:bodyPr/>
          <a:lstStyle/>
          <a:p>
            <a:r>
              <a:rPr lang="nl-NL" noProof="0"/>
              <a:t>Vergeet niet …</a:t>
            </a:r>
            <a:endParaRPr lang="nl-NL" noProof="0" dirty="0"/>
          </a:p>
        </p:txBody>
      </p:sp>
      <p:sp>
        <p:nvSpPr>
          <p:cNvPr id="3" name="Tijdelijke aanduiding voor tekst 2">
            <a:extLst>
              <a:ext uri="{FF2B5EF4-FFF2-40B4-BE49-F238E27FC236}">
                <a16:creationId xmlns:a16="http://schemas.microsoft.com/office/drawing/2014/main" id="{04DADC16-FABB-3B4F-7933-6197C11AFCE8}"/>
              </a:ext>
            </a:extLst>
          </p:cNvPr>
          <p:cNvSpPr>
            <a:spLocks noGrp="1"/>
          </p:cNvSpPr>
          <p:nvPr>
            <p:ph type="body" sz="quarter" idx="14"/>
          </p:nvPr>
        </p:nvSpPr>
        <p:spPr>
          <a:xfrm>
            <a:off x="1127447" y="2996952"/>
            <a:ext cx="4428803" cy="3492747"/>
          </a:xfrm>
        </p:spPr>
        <p:txBody>
          <a:bodyPr/>
          <a:lstStyle/>
          <a:p>
            <a:pPr marL="0" indent="0">
              <a:buNone/>
            </a:pPr>
            <a:r>
              <a:rPr lang="nl-NL" dirty="0"/>
              <a:t>Een digitale toegankelijk website is voor </a:t>
            </a:r>
            <a:r>
              <a:rPr lang="nl-NL" b="1" dirty="0"/>
              <a:t>alle gebruikers</a:t>
            </a:r>
            <a:r>
              <a:rPr lang="nl-NL" dirty="0"/>
              <a:t> beter </a:t>
            </a:r>
          </a:p>
        </p:txBody>
      </p:sp>
    </p:spTree>
    <p:extLst>
      <p:ext uri="{BB962C8B-B14F-4D97-AF65-F5344CB8AC3E}">
        <p14:creationId xmlns:p14="http://schemas.microsoft.com/office/powerpoint/2010/main" val="2486788040"/>
      </p:ext>
    </p:extLst>
  </p:cSld>
  <p:clrMapOvr>
    <a:masterClrMapping/>
  </p:clrMapOvr>
</p:sld>
</file>

<file path=ppt/theme/theme1.xml><?xml version="1.0" encoding="utf-8"?>
<a:theme xmlns:a="http://schemas.openxmlformats.org/drawingml/2006/main" name="Accessibility 2025">
  <a:themeElements>
    <a:clrScheme name="Accesssibility PowerPoint 2025">
      <a:dk1>
        <a:srgbClr val="131B56"/>
      </a:dk1>
      <a:lt1>
        <a:srgbClr val="FFFFFF"/>
      </a:lt1>
      <a:dk2>
        <a:srgbClr val="000000"/>
      </a:dk2>
      <a:lt2>
        <a:srgbClr val="FFFFFF"/>
      </a:lt2>
      <a:accent1>
        <a:srgbClr val="4868EE"/>
      </a:accent1>
      <a:accent2>
        <a:srgbClr val="131B56"/>
      </a:accent2>
      <a:accent3>
        <a:srgbClr val="108670"/>
      </a:accent3>
      <a:accent4>
        <a:srgbClr val="766A9E"/>
      </a:accent4>
      <a:accent5>
        <a:srgbClr val="CD4D00"/>
      </a:accent5>
      <a:accent6>
        <a:srgbClr val="111328"/>
      </a:accent6>
      <a:hlink>
        <a:srgbClr val="4868EE"/>
      </a:hlink>
      <a:folHlink>
        <a:srgbClr val="108670"/>
      </a:folHlink>
    </a:clrScheme>
    <a:fontScheme name="Accessbility Verdana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werPoint-sjabloon-2025.pptx  -  Alleen-lezen" id="{DA8F61E7-1ACC-476E-B753-6821A2B2ACBE}" vid="{6A2F2A80-513A-404B-AECC-499F83E230C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lcf76f155ced4ddcb4097134ff3c332f xmlns="1263c341-9713-4178-8275-9acf484fd0e5">
      <Terms xmlns="http://schemas.microsoft.com/office/infopath/2007/PartnerControls"/>
    </lcf76f155ced4ddcb4097134ff3c332f>
    <_Flow_SignoffStatus xmlns="1263c341-9713-4178-8275-9acf484fd0e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5B0822-33D2-46D0-B344-853762DE16BA}">
  <ds:schemaRefs>
    <ds:schemaRef ds:uri="1263c341-9713-4178-8275-9acf484fd0e5"/>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9b6572fc-fa2b-4547-9ddf-896420785c3e"/>
    <ds:schemaRef ds:uri="http://purl.org/dc/terms/"/>
    <ds:schemaRef ds:uri="http://schemas.openxmlformats.org/package/2006/metadata/core-properties"/>
    <ds:schemaRef ds:uri="c943f701-3070-4014-93cc-e1a70bea7440"/>
    <ds:schemaRef ds:uri="http://purl.org/dc/dcmitype/"/>
  </ds:schemaRefs>
</ds:datastoreItem>
</file>

<file path=customXml/itemProps2.xml><?xml version="1.0" encoding="utf-8"?>
<ds:datastoreItem xmlns:ds="http://schemas.openxmlformats.org/officeDocument/2006/customXml" ds:itemID="{65AC5F87-25C9-4D04-A213-9FB792BCA5E8}">
  <ds:schemaRefs>
    <ds:schemaRef ds:uri="1263c341-9713-4178-8275-9acf484fd0e5"/>
    <ds:schemaRef ds:uri="9b6572fc-fa2b-4547-9ddf-896420785c3e"/>
    <ds:schemaRef ds:uri="c943f701-3070-4014-93cc-e1a70bea74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FEBE1E2-3474-42DE-9060-62F03C9DC6F8}">
  <ds:schemaRefs>
    <ds:schemaRef ds:uri="http://schemas.microsoft.com/sharepoint/v3/contenttype/forms"/>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emplate>PowerPoint-sjabloon-2025</Template>
  <TotalTime>2509</TotalTime>
  <Words>5928</Words>
  <Application>Microsoft Office PowerPoint</Application>
  <PresentationFormat>Breedbeeld</PresentationFormat>
  <Paragraphs>873</Paragraphs>
  <Slides>40</Slides>
  <Notes>40</Notes>
  <HiddenSlides>1</HiddenSlides>
  <MMClips>1</MMClips>
  <ScaleCrop>false</ScaleCrop>
  <HeadingPairs>
    <vt:vector size="4" baseType="variant">
      <vt:variant>
        <vt:lpstr>Thema</vt:lpstr>
      </vt:variant>
      <vt:variant>
        <vt:i4>1</vt:i4>
      </vt:variant>
      <vt:variant>
        <vt:lpstr>Diatitels</vt:lpstr>
      </vt:variant>
      <vt:variant>
        <vt:i4>40</vt:i4>
      </vt:variant>
    </vt:vector>
  </HeadingPairs>
  <TitlesOfParts>
    <vt:vector size="41" baseType="lpstr">
      <vt:lpstr>Accessibility 2025</vt:lpstr>
      <vt:lpstr>Uitleg voor docenten </vt:lpstr>
      <vt:lpstr>WCAG</vt:lpstr>
      <vt:lpstr>Programma</vt:lpstr>
      <vt:lpstr>Wat is digitale toegankelijkheid?</vt:lpstr>
      <vt:lpstr>De WCAG richtlijnen</vt:lpstr>
      <vt:lpstr>WCAG - Web Content Accessibility Guidelines</vt:lpstr>
      <vt:lpstr>De WCAG bestaat uit 4 principes</vt:lpstr>
      <vt:lpstr>De gelaagde structuur van de WCAG</vt:lpstr>
      <vt:lpstr>De richtlijnen vertaald naar gebruikers met een visuele beperking</vt:lpstr>
      <vt:lpstr>De richtlijnen vertaald naar gebruikers met een cognitieve/neurologische beperking </vt:lpstr>
      <vt:lpstr>De richtlijnen vertaald naar gebruikers met een fysieke beperking </vt:lpstr>
      <vt:lpstr>Een toegankelijke website betekent…</vt:lpstr>
      <vt:lpstr>En? </vt:lpstr>
      <vt:lpstr>Demo [Naam ervaringsdeskundige]</vt:lpstr>
      <vt:lpstr>Quick wins</vt:lpstr>
      <vt:lpstr>Quick wins (deel 1) </vt:lpstr>
      <vt:lpstr>Quick wins (deel 2) </vt:lpstr>
      <vt:lpstr>Koppen</vt:lpstr>
      <vt:lpstr>Koppen - Uitleg</vt:lpstr>
      <vt:lpstr>Naam, rol en waarde - uitleg</vt:lpstr>
      <vt:lpstr>Naam, rol en waarde - voorbeeld</vt:lpstr>
      <vt:lpstr>Contrast</vt:lpstr>
      <vt:lpstr>Alternatieve tekst</vt:lpstr>
      <vt:lpstr>Formulieren</vt:lpstr>
      <vt:lpstr>Formulieren - foutmeldingen</vt:lpstr>
      <vt:lpstr>Focus</vt:lpstr>
      <vt:lpstr>Taal </vt:lpstr>
      <vt:lpstr>Wat willen ze hiermee zeggen? </vt:lpstr>
      <vt:lpstr>Nu met de tekst…</vt:lpstr>
      <vt:lpstr>Quick wins - samenvatting</vt:lpstr>
      <vt:lpstr>Tools</vt:lpstr>
      <vt:lpstr>Geautomatiseerde toegankelijkheidstesten</vt:lpstr>
      <vt:lpstr>Testwebsite – toetsenbord en NVDA</vt:lpstr>
      <vt:lpstr>Testwebsite - add-ons/plug-ins </vt:lpstr>
      <vt:lpstr>JavaScript en WAI-ARIA Op maat gemaakte componenten </vt:lpstr>
      <vt:lpstr>Javascript</vt:lpstr>
      <vt:lpstr>WAI-ARIA</vt:lpstr>
      <vt:lpstr>Eerste regel van WAI-ARIA</vt:lpstr>
      <vt:lpstr>Laatste vraag: </vt:lpstr>
      <vt:lpstr>Vergeet niet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Digitale Toegankelijkheid</dc:title>
  <dc:creator>Moreno Hidalgo, Ana Julia</dc:creator>
  <cp:lastModifiedBy>Moreno Hidalgo, Ana Julia</cp:lastModifiedBy>
  <cp:revision>14</cp:revision>
  <cp:lastPrinted>2026-05-12T07:59:03Z</cp:lastPrinted>
  <dcterms:created xsi:type="dcterms:W3CDTF">2026-01-13T08:58:55Z</dcterms:created>
  <dcterms:modified xsi:type="dcterms:W3CDTF">2026-06-18T13:51:26Z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